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90" r:id="rId3"/>
    <p:sldId id="279" r:id="rId4"/>
    <p:sldId id="257" r:id="rId5"/>
    <p:sldId id="287" r:id="rId6"/>
    <p:sldId id="258" r:id="rId7"/>
    <p:sldId id="289" r:id="rId8"/>
    <p:sldId id="259" r:id="rId9"/>
    <p:sldId id="278" r:id="rId10"/>
    <p:sldId id="285" r:id="rId11"/>
    <p:sldId id="262" r:id="rId12"/>
    <p:sldId id="280" r:id="rId13"/>
    <p:sldId id="265" r:id="rId14"/>
    <p:sldId id="284" r:id="rId15"/>
    <p:sldId id="268" r:id="rId16"/>
    <p:sldId id="277" r:id="rId17"/>
    <p:sldId id="26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C78E"/>
    <a:srgbClr val="FFAB40"/>
    <a:srgbClr val="4F8CFF"/>
    <a:srgbClr val="212636"/>
    <a:srgbClr val="1C21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72" autoAdjust="0"/>
  </p:normalViewPr>
  <p:slideViewPr>
    <p:cSldViewPr snapToGrid="0" snapToObjects="1">
      <p:cViewPr varScale="1">
        <p:scale>
          <a:sx n="85" d="100"/>
          <a:sy n="85" d="100"/>
        </p:scale>
        <p:origin x="56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95136B-D240-4AC1-860D-A53BD70B9DD0}" type="datetimeFigureOut">
              <a:rPr lang="LID4096" smtClean="0"/>
              <a:t>03/30/2026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1DBEF9-DC59-42C5-8EB6-D4529DDE25A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8735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6C467-44DF-404A-AD8D-BD7FC61F89E0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8CFE6-D184-487A-ACD8-A82DCF433FE4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F5D13-F6BB-4CFE-9D3A-C12C7FF7146A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6912-22D9-4F6C-B8D3-B4D2C75C002C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D3F3C-ACFC-4546-A995-7A6F4D5F2C2F}" type="datetime1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4C59-E9D1-4841-8245-1515E61AFD97}" type="datetime1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E2A83-F9D6-485C-B62C-7D807D9F4EEC}" type="datetime1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65360" y="6356349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34C42-C467-4317-9AB6-F6377EDB2B46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A7F95-4EC6-49DA-B964-0DFF9C20A579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E8645-AF42-4890-A560-4B70522C4AFC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694C5-6E2F-4E41-B8EF-647314903EED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C62E3-A9B5-4551-83D8-3C193A9C17DB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183880" y="1280160"/>
            <a:ext cx="2286000" cy="2286000"/>
          </a:xfrm>
          <a:prstGeom prst="ellipse">
            <a:avLst/>
          </a:prstGeom>
          <a:gradFill flip="none" rotWithShape="1">
            <a:gsLst>
              <a:gs pos="0">
                <a:srgbClr val="28375A">
                  <a:shade val="30000"/>
                  <a:satMod val="115000"/>
                </a:srgbClr>
              </a:gs>
              <a:gs pos="50000">
                <a:srgbClr val="28375A">
                  <a:shade val="67500"/>
                  <a:satMod val="115000"/>
                </a:srgbClr>
              </a:gs>
              <a:gs pos="100000">
                <a:srgbClr val="28375A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42832" y="4549706"/>
            <a:ext cx="1371600" cy="1371600"/>
          </a:xfrm>
          <a:prstGeom prst="ellipse">
            <a:avLst/>
          </a:prstGeom>
          <a:gradFill flip="none" rotWithShape="1">
            <a:gsLst>
              <a:gs pos="0">
                <a:srgbClr val="23304E">
                  <a:shade val="30000"/>
                  <a:satMod val="115000"/>
                </a:srgbClr>
              </a:gs>
              <a:gs pos="50000">
                <a:srgbClr val="23304E">
                  <a:shade val="67500"/>
                  <a:satMod val="115000"/>
                </a:srgbClr>
              </a:gs>
              <a:gs pos="100000">
                <a:srgbClr val="23304E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469880" y="3566160"/>
            <a:ext cx="914400" cy="914400"/>
          </a:xfrm>
          <a:prstGeom prst="ellipse">
            <a:avLst/>
          </a:prstGeom>
          <a:gradFill flip="none" rotWithShape="1">
            <a:gsLst>
              <a:gs pos="0">
                <a:srgbClr val="2D3C5F">
                  <a:shade val="30000"/>
                  <a:satMod val="115000"/>
                </a:srgbClr>
              </a:gs>
              <a:gs pos="50000">
                <a:srgbClr val="2D3C5F">
                  <a:shade val="67500"/>
                  <a:satMod val="115000"/>
                </a:srgbClr>
              </a:gs>
              <a:gs pos="100000">
                <a:srgbClr val="2D3C5F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1" dirty="0">
                <a:solidFill>
                  <a:srgbClr val="F0F0F5"/>
                </a:solidFill>
                <a:latin typeface="Segoe UI"/>
              </a:rPr>
              <a:t>MIMIC-IV</a:t>
            </a:r>
            <a:r>
              <a:rPr sz="4400" b="1" i="0" dirty="0">
                <a:solidFill>
                  <a:srgbClr val="F0F0F5"/>
                </a:solidFill>
                <a:latin typeface="Segoe UI"/>
              </a:rPr>
              <a:t> </a:t>
            </a:r>
            <a:r>
              <a:rPr lang="en-US" sz="4400" b="1" i="0" dirty="0">
                <a:solidFill>
                  <a:srgbClr val="F0F0F5"/>
                </a:solidFill>
                <a:latin typeface="Segoe UI"/>
              </a:rPr>
              <a:t>Dataset </a:t>
            </a:r>
          </a:p>
          <a:p>
            <a:r>
              <a:rPr sz="4400" b="1" i="0" dirty="0">
                <a:solidFill>
                  <a:srgbClr val="F0F0F5"/>
                </a:solidFill>
                <a:latin typeface="Segoe UI"/>
              </a:rPr>
              <a:t>QA Benchmark</a:t>
            </a:r>
            <a:r>
              <a:rPr lang="en-US" sz="4400" b="1" i="0" dirty="0">
                <a:solidFill>
                  <a:srgbClr val="F0F0F5"/>
                </a:solidFill>
                <a:latin typeface="Segoe UI"/>
              </a:rPr>
              <a:t> for Coverage</a:t>
            </a:r>
            <a:endParaRPr sz="4400" b="1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97280" y="3566160"/>
            <a:ext cx="274320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b="0" i="0" dirty="0">
                <a:solidFill>
                  <a:srgbClr val="A0A8BE"/>
                </a:solidFill>
                <a:latin typeface="Segoe UI"/>
              </a:rPr>
              <a:t>Diversity </a:t>
            </a:r>
            <a:r>
              <a:rPr lang="it-IT" sz="2200" b="0" i="0" dirty="0">
                <a:solidFill>
                  <a:srgbClr val="A0A8BE"/>
                </a:solidFill>
                <a:latin typeface="Segoe UI"/>
              </a:rPr>
              <a:t>in RAG Retrieval</a:t>
            </a:r>
            <a:endParaRPr sz="2200" b="0" i="0" dirty="0">
              <a:solidFill>
                <a:srgbClr val="A0A8BE"/>
              </a:solidFill>
              <a:latin typeface="Segoe UI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240976-18A3-DF25-DD75-83DF8BF92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18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28796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F0F0F5"/>
                </a:solidFill>
                <a:latin typeface="Segoe UI"/>
              </a:rPr>
              <a:t>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137160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328500"/>
            <a:ext cx="8948569" cy="4004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Why build a benchmark on medical data?</a:t>
            </a:r>
          </a:p>
          <a:p>
            <a:pPr marL="457200" indent="-457200">
              <a:spcBef>
                <a:spcPts val="1000"/>
              </a:spcBef>
              <a:spcAft>
                <a:spcPts val="400"/>
              </a:spcAft>
              <a:buFont typeface="+mj-lt"/>
              <a:buAutoNum type="arabicPeriod"/>
            </a:pPr>
            <a:r>
              <a:rPr sz="240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Ideal 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d</a:t>
            </a:r>
            <a:r>
              <a:rPr lang="en-US" sz="240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ataset for diversity</a:t>
            </a:r>
          </a:p>
          <a:p>
            <a:pPr marL="457200" indent="-457200">
              <a:spcBef>
                <a:spcPts val="10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it-IT" sz="240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Coverage: Facility-Location objective</a:t>
            </a:r>
            <a:endParaRPr sz="240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  <a:p>
            <a:pPr marL="457200" indent="-457200">
              <a:spcBef>
                <a:spcPts val="1000"/>
              </a:spcBef>
              <a:spcAft>
                <a:spcPts val="400"/>
              </a:spcAft>
              <a:buFont typeface="+mj-lt"/>
              <a:buAutoNum type="arabicPeriod"/>
            </a:pPr>
            <a:r>
              <a:rPr sz="240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MIMIC-IV </a:t>
            </a:r>
            <a:r>
              <a:rPr lang="en-US" sz="240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d</a:t>
            </a:r>
            <a:r>
              <a:rPr sz="240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ataset</a:t>
            </a:r>
            <a:endParaRPr lang="en-US" sz="240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  <a:p>
            <a:pPr marL="914400" lvl="1" indent="-457200"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it-IT" sz="240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Overview</a:t>
            </a:r>
            <a:endParaRPr lang="en-US" sz="240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  <a:p>
            <a:pPr marL="914400" lvl="1" indent="-457200"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it-IT" sz="240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Motivations for coverage suitability</a:t>
            </a:r>
          </a:p>
          <a:p>
            <a:pPr marL="457200" indent="-457200">
              <a:lnSpc>
                <a:spcPct val="150000"/>
              </a:lnSpc>
              <a:spcBef>
                <a:spcPts val="10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sz="240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Experimental pipeline for building QA benchmark</a:t>
            </a:r>
            <a:endParaRPr sz="240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114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rgbClr val="F0F0F5"/>
                </a:solidFill>
                <a:latin typeface="Segoe UI"/>
              </a:rPr>
              <a:t>Why Build a Benchmark on medical data?</a:t>
            </a:r>
            <a:endParaRPr sz="3200" b="1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99307"/>
            <a:ext cx="10105016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it-IT" sz="2000" dirty="0">
                <a:solidFill>
                  <a:srgbClr val="4F8CFF"/>
                </a:solidFill>
                <a:latin typeface="Segoe UI"/>
              </a:rPr>
              <a:t>▸</a:t>
            </a:r>
            <a:r>
              <a:rPr sz="2000" b="0" i="0" dirty="0">
                <a:solidFill>
                  <a:srgbClr val="4F8CFF"/>
                </a:solidFill>
                <a:latin typeface="Segoe UI"/>
              </a:rPr>
              <a:t>  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Need to show coverage wins when </a:t>
            </a:r>
            <a:r>
              <a:rPr lang="en-US" sz="2000" b="0" i="0" dirty="0">
                <a:solidFill>
                  <a:srgbClr val="F0F0F5"/>
                </a:solidFill>
                <a:latin typeface="Segoe UI"/>
              </a:rPr>
              <a:t>candidate 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pools have multi-cluster structure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lang="it-IT" sz="2000" dirty="0">
                <a:solidFill>
                  <a:srgbClr val="4F8CFF"/>
                </a:solidFill>
                <a:latin typeface="Segoe UI"/>
              </a:rPr>
              <a:t>▸  </a:t>
            </a:r>
            <a:r>
              <a:rPr lang="it-IT" sz="2000" dirty="0">
                <a:solidFill>
                  <a:srgbClr val="F0F0F5"/>
                </a:solidFill>
                <a:latin typeface="Segoe UI"/>
              </a:rPr>
              <a:t>Medical data is multi-faceted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it-IT" sz="2000" dirty="0">
                <a:solidFill>
                  <a:schemeClr val="bg1">
                    <a:lumMod val="75000"/>
                  </a:schemeClr>
                </a:solidFill>
                <a:latin typeface="Segoe UI"/>
              </a:rPr>
              <a:t>A</a:t>
            </a:r>
            <a:r>
              <a:rPr lang="it-IT" sz="2000" dirty="0">
                <a:solidFill>
                  <a:srgbClr val="B4B9C8"/>
                </a:solidFill>
                <a:latin typeface="Segoe UI"/>
              </a:rPr>
              <a:t>spects: diagnosis, treatment, demographics, comorbidities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it-IT" sz="2000" dirty="0">
              <a:solidFill>
                <a:srgbClr val="B4B9C8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it-IT" sz="2000" dirty="0">
                <a:solidFill>
                  <a:srgbClr val="48C78E"/>
                </a:solidFill>
                <a:latin typeface="Segoe UI"/>
              </a:rPr>
              <a:t>▸ Example of queries: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i="1" dirty="0">
                <a:solidFill>
                  <a:schemeClr val="bg1">
                    <a:lumMod val="75000"/>
                  </a:schemeClr>
                </a:solidFill>
                <a:latin typeface="Segoe UI"/>
              </a:rPr>
              <a:t>"How is pneumonia managed in elderly patients with CKD (Complex Kidney Disease)?“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i="1" dirty="0">
                <a:solidFill>
                  <a:schemeClr val="bg1">
                    <a:lumMod val="75000"/>
                  </a:schemeClr>
                </a:solidFill>
                <a:latin typeface="Segoe UI"/>
              </a:rPr>
              <a:t>“What are the symptoms of stroke, and how does the treatment differ if the patient has a prior history of myocardial infarction?"</a:t>
            </a:r>
            <a:endParaRPr lang="en-US" sz="2000" dirty="0">
              <a:solidFill>
                <a:srgbClr val="828796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it-IT" sz="2000" dirty="0">
              <a:solidFill>
                <a:srgbClr val="B4B9C8"/>
              </a:solidFill>
              <a:latin typeface="Segoe U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34796A9-812B-7552-8D35-4C8271B3D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 dirty="0">
                <a:solidFill>
                  <a:srgbClr val="F0F0F5"/>
                </a:solidFill>
                <a:latin typeface="Segoe UI"/>
              </a:rPr>
              <a:t>Ideal </a:t>
            </a:r>
            <a:r>
              <a:rPr lang="en-US" sz="3200" b="1" i="0" dirty="0">
                <a:solidFill>
                  <a:srgbClr val="F0F0F5"/>
                </a:solidFill>
                <a:latin typeface="Segoe UI"/>
              </a:rPr>
              <a:t>Dataset</a:t>
            </a:r>
            <a:r>
              <a:rPr sz="3200" b="1" i="0" dirty="0">
                <a:solidFill>
                  <a:srgbClr val="F0F0F5"/>
                </a:solidFill>
                <a:latin typeface="Segoe UI"/>
              </a:rPr>
              <a:t> for </a:t>
            </a:r>
            <a:r>
              <a:rPr lang="en-US" sz="3200" b="1" i="0" dirty="0">
                <a:solidFill>
                  <a:srgbClr val="F0F0F5"/>
                </a:solidFill>
                <a:latin typeface="Segoe UI"/>
              </a:rPr>
              <a:t>Diversity</a:t>
            </a:r>
            <a:endParaRPr sz="3200" b="1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48FE352-D30D-7819-84B2-C2854053C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7813B8-4B50-CC78-30FC-C125A3D37C29}"/>
              </a:ext>
            </a:extLst>
          </p:cNvPr>
          <p:cNvSpPr txBox="1"/>
          <p:nvPr/>
        </p:nvSpPr>
        <p:spPr>
          <a:xfrm>
            <a:off x="822960" y="1646907"/>
            <a:ext cx="1007812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it-IT" sz="200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Given a query, the ideal document pool candidates should have:</a:t>
            </a:r>
          </a:p>
          <a:p>
            <a:pPr lvl="1">
              <a:spcBef>
                <a:spcPts val="1000"/>
              </a:spcBef>
              <a:spcAft>
                <a:spcPts val="400"/>
              </a:spcAft>
            </a:pPr>
            <a:r>
              <a:rPr lang="it-IT" sz="2000" dirty="0">
                <a:solidFill>
                  <a:srgbClr val="4F8CFF"/>
                </a:solidFill>
                <a:latin typeface="Segoe UI"/>
              </a:rPr>
              <a:t>▸</a:t>
            </a:r>
            <a:r>
              <a:rPr sz="2000" b="0" i="0" dirty="0">
                <a:solidFill>
                  <a:srgbClr val="4F8CFF"/>
                </a:solidFill>
                <a:latin typeface="Segoe UI"/>
              </a:rPr>
              <a:t>  </a:t>
            </a:r>
            <a:r>
              <a:rPr lang="it-IT" sz="2000" b="1" dirty="0">
                <a:solidFill>
                  <a:srgbClr val="4F8CFF"/>
                </a:solidFill>
                <a:latin typeface="Segoe UI"/>
              </a:rPr>
              <a:t>Redundant central cluster: </a:t>
            </a:r>
            <a:r>
              <a:rPr lang="it-IT" sz="200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dominant topic, many similar documents</a:t>
            </a:r>
            <a:endParaRPr sz="2000" b="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  <a:p>
            <a:pPr lvl="1">
              <a:spcBef>
                <a:spcPts val="1200"/>
              </a:spcBef>
              <a:spcAft>
                <a:spcPts val="400"/>
              </a:spcAft>
            </a:pPr>
            <a:r>
              <a:rPr lang="it-IT" sz="2000" dirty="0">
                <a:solidFill>
                  <a:srgbClr val="4F8CFF"/>
                </a:solidFill>
                <a:latin typeface="Segoe UI"/>
              </a:rPr>
              <a:t>▸  </a:t>
            </a:r>
            <a:r>
              <a:rPr lang="it-IT" sz="2000" b="1" dirty="0">
                <a:solidFill>
                  <a:srgbClr val="4F8CFF"/>
                </a:solidFill>
                <a:latin typeface="Segoe UI"/>
              </a:rPr>
              <a:t>Complementary cluster(s):  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other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relevant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aspects for the query</a:t>
            </a:r>
            <a:endParaRPr lang="en-US" sz="2000" b="1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  <a:p>
            <a:pPr lvl="1">
              <a:spcBef>
                <a:spcPts val="1200"/>
              </a:spcBef>
              <a:spcAft>
                <a:spcPts val="400"/>
              </a:spcAft>
            </a:pPr>
            <a:r>
              <a:rPr lang="it-IT" sz="2000" dirty="0">
                <a:solidFill>
                  <a:srgbClr val="4F8CFF"/>
                </a:solidFill>
                <a:latin typeface="Segoe UI"/>
              </a:rPr>
              <a:t>▸  </a:t>
            </a:r>
            <a:r>
              <a:rPr lang="it-IT" sz="2000" b="1" dirty="0">
                <a:solidFill>
                  <a:srgbClr val="4F8CFF"/>
                </a:solidFill>
                <a:latin typeface="Segoe UI"/>
              </a:rPr>
              <a:t>Niche cluster: 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smaller set of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relevant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data points</a:t>
            </a:r>
          </a:p>
          <a:p>
            <a:pPr lvl="1">
              <a:spcBef>
                <a:spcPts val="1200"/>
              </a:spcBef>
              <a:spcAft>
                <a:spcPts val="400"/>
              </a:spcAft>
            </a:pPr>
            <a:r>
              <a:rPr lang="it-IT" sz="2000" dirty="0">
                <a:solidFill>
                  <a:srgbClr val="FFAB40"/>
                </a:solidFill>
                <a:latin typeface="Segoe UI"/>
              </a:rPr>
              <a:t>▸ </a:t>
            </a:r>
            <a:r>
              <a:rPr lang="it-IT" sz="2000" dirty="0">
                <a:solidFill>
                  <a:srgbClr val="4F8CFF"/>
                </a:solidFill>
                <a:latin typeface="Segoe UI"/>
              </a:rPr>
              <a:t> </a:t>
            </a:r>
            <a:r>
              <a:rPr lang="it-IT" sz="2000" b="1" dirty="0">
                <a:solidFill>
                  <a:srgbClr val="FFAB40"/>
                </a:solidFill>
                <a:latin typeface="Segoe UI"/>
              </a:rPr>
              <a:t>Outliers: </a:t>
            </a:r>
            <a:r>
              <a:rPr lang="it-IT" sz="200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noise, or genuine isolated points relevant to the query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it-IT" sz="2000" dirty="0">
              <a:solidFill>
                <a:srgbClr val="B4B9C8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it-IT" sz="2000" dirty="0">
              <a:solidFill>
                <a:srgbClr val="B4B9C8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114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 dirty="0">
                <a:solidFill>
                  <a:srgbClr val="F0F0F5"/>
                </a:solidFill>
                <a:latin typeface="Segoe UI"/>
              </a:rPr>
              <a:t>Coverage: Facility-Location</a:t>
            </a:r>
            <a:r>
              <a:rPr lang="it-IT" sz="3200" b="1" i="0" dirty="0">
                <a:solidFill>
                  <a:srgbClr val="F0F0F5"/>
                </a:solidFill>
                <a:latin typeface="Segoe UI"/>
              </a:rPr>
              <a:t> Objective</a:t>
            </a:r>
            <a:endParaRPr sz="3200" b="1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22960" y="1554480"/>
                <a:ext cx="10911840" cy="40354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  <a:spcAft>
                    <a:spcPts val="400"/>
                  </a:spcAft>
                </a:pPr>
                <a:r>
                  <a:rPr lang="en-001" sz="2000" dirty="0">
                    <a:solidFill>
                      <a:srgbClr val="4F8CFF"/>
                    </a:solidFill>
                    <a:latin typeface="Segoe UI"/>
                  </a:rPr>
                  <a:t>▸</a:t>
                </a:r>
                <a:r>
                  <a:rPr lang="it-IT" sz="2000" dirty="0">
                    <a:solidFill>
                      <a:srgbClr val="F0F0F5"/>
                    </a:solidFill>
                    <a:latin typeface="Segoe UI"/>
                  </a:rPr>
                  <a:t> Objective function</a:t>
                </a:r>
              </a:p>
              <a:p>
                <a:pPr>
                  <a:spcBef>
                    <a:spcPts val="1200"/>
                  </a:spcBef>
                  <a:spcAft>
                    <a:spcPts val="4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solidFill>
                            <a:srgbClr val="F0F0F5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dirty="0" smtClean="0">
                              <a:solidFill>
                                <a:srgbClr val="F0F0F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solidFill>
                                <a:srgbClr val="F0F0F5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sz="2000" b="0" i="1" dirty="0" smtClean="0">
                          <a:solidFill>
                            <a:srgbClr val="F0F0F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supHide m:val="on"/>
                          <m:ctrlPr>
                            <a:rPr lang="ar-AE" sz="2000" i="1" dirty="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ar-AE" sz="2000" i="1" dirty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2000" i="1" dirty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∈</m:t>
                          </m:r>
                          <m:r>
                            <a:rPr lang="en-US" sz="2000" b="0" i="1" dirty="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dirty="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r>
                            <a:rPr lang="en-US" sz="2000" b="0" i="1" dirty="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𝑢𝑡𝑖𝑙𝑖𝑡𝑦</m:t>
                          </m:r>
                          <m:r>
                            <a:rPr lang="en-US" sz="2000" b="0" i="1" dirty="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dirty="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dirty="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d>
                        <m:dPr>
                          <m:ctrlPr>
                            <a:rPr lang="en-US" sz="20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</m:d>
                      <m:nary>
                        <m:naryPr>
                          <m:chr m:val="∑"/>
                          <m:supHide m:val="on"/>
                          <m:ctrlPr>
                            <a:rPr lang="ar-AE" sz="20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ar-AE" sz="20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ar-AE" sz="20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∈ </m:t>
                          </m:r>
                          <m:r>
                            <a:rPr lang="ar-AE" sz="20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𝑫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ar-AE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ar-AE" sz="2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a:rPr lang="it-IT" sz="2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𝒎𝒂𝒙</m:t>
                                  </m:r>
                                </m:e>
                                <m:lim>
                                  <m:r>
                                    <a:rPr lang="ar-AE" sz="2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ar-AE" sz="2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∈ </m:t>
                                  </m:r>
                                  <m:r>
                                    <a:rPr lang="ar-AE" sz="2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𝑺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ar-AE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𝒔𝒊𝒎</m:t>
                              </m:r>
                              <m:r>
                                <a:rPr lang="ar-AE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ar-AE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ar-AE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ar-AE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ar-AE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ar-AE" sz="2000" b="1" i="0" dirty="0">
                  <a:solidFill>
                    <a:srgbClr val="F0F0F5"/>
                  </a:solidFill>
                  <a:latin typeface="Segoe UI"/>
                </a:endParaRP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1600" b="0" i="0" dirty="0">
                  <a:solidFill>
                    <a:srgbClr val="828796"/>
                  </a:solidFill>
                  <a:latin typeface="Segoe UI"/>
                </a:endParaRPr>
              </a:p>
              <a:p>
                <a:pPr marL="742950" lvl="1" indent="-28575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it-IT" b="0" i="0" dirty="0">
                    <a:solidFill>
                      <a:srgbClr val="B4B9C8"/>
                    </a:solidFill>
                    <a:latin typeface="Segoe UI"/>
                  </a:rPr>
                  <a:t>Every item in the candidate pool D has a representative in </a:t>
                </a:r>
                <a:r>
                  <a:rPr lang="it-IT" i="0" dirty="0">
                    <a:solidFill>
                      <a:srgbClr val="B4B9C8"/>
                    </a:solidFill>
                    <a:latin typeface="Segoe UI"/>
                  </a:rPr>
                  <a:t>S</a:t>
                </a:r>
              </a:p>
              <a:p>
                <a:pPr marL="742950" lvl="1" indent="-28575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it-IT" dirty="0">
                    <a:solidFill>
                      <a:srgbClr val="B4B9C8"/>
                    </a:solidFill>
                    <a:latin typeface="Segoe UI"/>
                  </a:rPr>
                  <a:t>Respects data distribution rather than maximizing spread between items</a:t>
                </a:r>
                <a:r>
                  <a:rPr lang="it-IT" sz="1600" b="0" i="0" dirty="0">
                    <a:solidFill>
                      <a:srgbClr val="828796"/>
                    </a:solidFill>
                    <a:latin typeface="Segoe UI"/>
                  </a:rPr>
                  <a:t>       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2000" b="0" i="0" dirty="0">
                  <a:solidFill>
                    <a:srgbClr val="4F8CFF"/>
                  </a:solidFill>
                  <a:latin typeface="Segoe UI"/>
                </a:endParaRPr>
              </a:p>
              <a:p>
                <a:pPr>
                  <a:spcBef>
                    <a:spcPts val="1200"/>
                  </a:spcBef>
                  <a:spcAft>
                    <a:spcPts val="400"/>
                  </a:spcAft>
                </a:pPr>
                <a:r>
                  <a:rPr lang="en-001" sz="2000" dirty="0">
                    <a:solidFill>
                      <a:srgbClr val="4F8CFF"/>
                    </a:solidFill>
                    <a:latin typeface="Segoe UI"/>
                  </a:rPr>
                  <a:t>▸</a:t>
                </a:r>
                <a:r>
                  <a:rPr lang="it-IT" sz="2000" i="0" dirty="0">
                    <a:solidFill>
                      <a:srgbClr val="48C78E"/>
                    </a:solidFill>
                    <a:latin typeface="Segoe UI"/>
                  </a:rPr>
                  <a:t>  </a:t>
                </a:r>
                <a:r>
                  <a:rPr lang="it-IT" sz="2000" i="0" dirty="0">
                    <a:solidFill>
                      <a:srgbClr val="F0F0F5"/>
                    </a:solidFill>
                    <a:latin typeface="Segoe UI"/>
                  </a:rPr>
                  <a:t>Theoretical guarantees</a:t>
                </a:r>
              </a:p>
              <a:p>
                <a:pPr marL="742950" lvl="1" indent="-28575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it-IT" b="0" i="0" dirty="0">
                    <a:solidFill>
                      <a:srgbClr val="B4B9C8"/>
                    </a:solidFill>
                    <a:latin typeface="Segoe UI"/>
                  </a:rPr>
                  <a:t>g(S) is monotone submodular</a:t>
                </a:r>
              </a:p>
              <a:p>
                <a:pPr marL="742950" lvl="1" indent="-28575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it-IT" b="0" i="0" dirty="0">
                    <a:solidFill>
                      <a:srgbClr val="B4B9C8"/>
                    </a:solidFill>
                    <a:latin typeface="Segoe UI"/>
                  </a:rPr>
                  <a:t>Greedy selection gives (1 − 1/e) ≈ 0.632 approximation w.r.t. optimal solution</a:t>
                </a:r>
              </a:p>
              <a:p>
                <a:pPr marL="742950" lvl="1" indent="-28575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it-IT" b="0" i="0" dirty="0">
                    <a:solidFill>
                      <a:srgbClr val="B4B9C8"/>
                    </a:solidFill>
                    <a:latin typeface="Segoe UI"/>
                  </a:rPr>
                  <a:t>No such guarantee exists for </a:t>
                </a:r>
                <a:r>
                  <a:rPr lang="it-IT" b="0" i="1" dirty="0">
                    <a:solidFill>
                      <a:srgbClr val="B4B9C8"/>
                    </a:solidFill>
                    <a:latin typeface="Segoe UI"/>
                  </a:rPr>
                  <a:t>dispersion</a:t>
                </a:r>
                <a:r>
                  <a:rPr lang="it-IT" b="0" i="0" dirty="0">
                    <a:solidFill>
                      <a:srgbClr val="B4B9C8"/>
                    </a:solidFill>
                    <a:latin typeface="Segoe UI"/>
                  </a:rPr>
                  <a:t> (NP-hard)</a:t>
                </a:r>
                <a:endParaRPr b="0" i="0" dirty="0">
                  <a:solidFill>
                    <a:srgbClr val="B4B9C8"/>
                  </a:solidFill>
                  <a:latin typeface="Segoe UI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554480"/>
                <a:ext cx="10911840" cy="4035400"/>
              </a:xfrm>
              <a:prstGeom prst="rect">
                <a:avLst/>
              </a:prstGeom>
              <a:blipFill>
                <a:blip r:embed="rId2"/>
                <a:stretch>
                  <a:fillRect l="-559" t="-755" b="-151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05C435B-AD19-162C-3762-FA373658D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1" dirty="0">
                <a:solidFill>
                  <a:srgbClr val="F0F0F5"/>
                </a:solidFill>
                <a:latin typeface="Segoe UI"/>
              </a:rPr>
              <a:t>MIMIC-IV</a:t>
            </a:r>
            <a:r>
              <a:rPr sz="3200" b="1" i="0" dirty="0">
                <a:solidFill>
                  <a:srgbClr val="F0F0F5"/>
                </a:solidFill>
                <a:latin typeface="Segoe UI"/>
              </a:rPr>
              <a:t> </a:t>
            </a:r>
            <a:r>
              <a:rPr lang="it-IT" sz="3200" b="1" i="0" dirty="0">
                <a:solidFill>
                  <a:srgbClr val="F0F0F5"/>
                </a:solidFill>
                <a:latin typeface="Segoe UI"/>
              </a:rPr>
              <a:t>Dataset</a:t>
            </a:r>
            <a:r>
              <a:rPr sz="3200" b="1" i="0" dirty="0">
                <a:solidFill>
                  <a:srgbClr val="F0F0F5"/>
                </a:solidFill>
                <a:latin typeface="Segoe UI"/>
              </a:rPr>
              <a:t>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22153"/>
            <a:ext cx="10544048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001" sz="2000" dirty="0">
                <a:solidFill>
                  <a:srgbClr val="4F8CFF"/>
                </a:solidFill>
                <a:latin typeface="Segoe UI"/>
              </a:rPr>
              <a:t>▸</a:t>
            </a:r>
            <a:r>
              <a:rPr lang="en-US" sz="2000" dirty="0">
                <a:solidFill>
                  <a:srgbClr val="4F8CFF"/>
                </a:solidFill>
                <a:latin typeface="Segoe UI"/>
              </a:rPr>
              <a:t>  </a:t>
            </a:r>
            <a:r>
              <a:rPr sz="2000" i="1" dirty="0">
                <a:solidFill>
                  <a:srgbClr val="F0F0F5"/>
                </a:solidFill>
                <a:latin typeface="Segoe UI"/>
              </a:rPr>
              <a:t>MIMIC-IV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: tabular clinical data (diagnoses, procedures, meds, labs</a:t>
            </a:r>
            <a:r>
              <a:rPr lang="en-US" sz="2000" dirty="0">
                <a:solidFill>
                  <a:srgbClr val="F0F0F5"/>
                </a:solidFill>
                <a:latin typeface="Segoe UI"/>
              </a:rPr>
              <a:t>, measurements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001" sz="2000" dirty="0">
                <a:solidFill>
                  <a:srgbClr val="4F8CFF"/>
                </a:solidFill>
                <a:latin typeface="Segoe UI"/>
              </a:rPr>
              <a:t>▸</a:t>
            </a:r>
            <a:r>
              <a:rPr lang="en-US" sz="2000" dirty="0">
                <a:solidFill>
                  <a:srgbClr val="4F8CFF"/>
                </a:solidFill>
                <a:latin typeface="Segoe UI"/>
              </a:rPr>
              <a:t>  </a:t>
            </a:r>
            <a:r>
              <a:rPr sz="2000" i="1" dirty="0">
                <a:solidFill>
                  <a:srgbClr val="FFAB40"/>
                </a:solidFill>
                <a:latin typeface="Segoe UI"/>
              </a:rPr>
              <a:t>MIMIC-IV-Note</a:t>
            </a:r>
            <a:r>
              <a:rPr sz="2000" b="0" i="0" dirty="0">
                <a:solidFill>
                  <a:schemeClr val="bg1"/>
                </a:solidFill>
                <a:latin typeface="Segoe UI"/>
              </a:rPr>
              <a:t>: free-text</a:t>
            </a:r>
            <a:r>
              <a:rPr lang="en-US" sz="2000" dirty="0">
                <a:solidFill>
                  <a:schemeClr val="bg1"/>
                </a:solidFill>
                <a:latin typeface="Segoe UI"/>
              </a:rPr>
              <a:t> data</a:t>
            </a:r>
          </a:p>
          <a:p>
            <a:pPr marL="742950" lvl="1" indent="-285750">
              <a:spcBef>
                <a:spcPts val="800"/>
              </a:spcBef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2000" b="1" i="1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Discharge Summaries </a:t>
            </a:r>
            <a:r>
              <a:rPr lang="en-US" sz="2000" i="1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(~330K)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: in-depth notes which overview a patient’s history and course throughout a hospitalization</a:t>
            </a:r>
          </a:p>
          <a:p>
            <a:pPr marL="742950" lvl="1" indent="-285750">
              <a:spcBef>
                <a:spcPts val="800"/>
              </a:spcBef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2000" i="1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Radiology Reports (~2.3M): reports spanning x-ray, CT, MRI, and ultrasound 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endParaRPr lang="en-US" sz="2000" b="0" i="0" dirty="0">
              <a:solidFill>
                <a:srgbClr val="F0F0F5"/>
              </a:solidFill>
              <a:latin typeface="Segoe UI"/>
            </a:endParaRP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001" sz="2000" dirty="0">
                <a:solidFill>
                  <a:srgbClr val="4F8CFF"/>
                </a:solidFill>
                <a:latin typeface="Segoe UI"/>
              </a:rPr>
              <a:t>▸</a:t>
            </a:r>
            <a:r>
              <a:rPr lang="en-US" sz="2000" dirty="0">
                <a:solidFill>
                  <a:srgbClr val="4F8CFF"/>
                </a:solidFill>
                <a:latin typeface="Segoe UI"/>
              </a:rPr>
              <a:t>  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Discharge summaries allow for design of multi-aspect queries requiring synthesis across patients 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001" sz="2000" dirty="0">
                <a:solidFill>
                  <a:srgbClr val="4F8CFF"/>
                </a:solidFill>
                <a:latin typeface="Segoe UI"/>
              </a:rPr>
              <a:t>▸</a:t>
            </a:r>
            <a:r>
              <a:rPr lang="en-US" sz="2000" dirty="0">
                <a:solidFill>
                  <a:srgbClr val="4F8CFF"/>
                </a:solidFill>
                <a:latin typeface="Segoe UI"/>
              </a:rPr>
              <a:t>  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Structured info in MIMIC-IV used for document pool construction and patient usable data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endParaRPr lang="en-US" sz="200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2000" b="0" i="0" dirty="0">
                <a:solidFill>
                  <a:srgbClr val="4F8CFF"/>
                </a:solidFill>
                <a:latin typeface="Segoe UI"/>
              </a:rPr>
              <a:t>▸ </a:t>
            </a:r>
            <a:r>
              <a:rPr lang="en-US" sz="20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De-identification: a</a:t>
            </a:r>
            <a:r>
              <a:rPr sz="20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ll PHI removed/replaced with ___ placeholders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endParaRPr sz="2000" b="0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D442247-4172-EBA3-1A1B-6D5B0A6C9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6BA40-3166-C17A-1719-03BDF23ED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EF1CC52-4F31-0F01-7176-A70E083EDE4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379BB4-3B06-2960-B566-55FC8EC73F18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B0D9D6-1A13-8C37-43E9-331309D16503}"/>
              </a:ext>
            </a:extLst>
          </p:cNvPr>
          <p:cNvSpPr txBox="1"/>
          <p:nvPr/>
        </p:nvSpPr>
        <p:spPr>
          <a:xfrm>
            <a:off x="822960" y="4114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 dirty="0">
                <a:solidFill>
                  <a:srgbClr val="F0F0F5"/>
                </a:solidFill>
                <a:latin typeface="Segoe UI"/>
              </a:rPr>
              <a:t>Ideal </a:t>
            </a:r>
            <a:r>
              <a:rPr lang="en-US" sz="3200" b="1" i="0" dirty="0">
                <a:solidFill>
                  <a:srgbClr val="F0F0F5"/>
                </a:solidFill>
                <a:latin typeface="Segoe UI"/>
              </a:rPr>
              <a:t>Dataset</a:t>
            </a:r>
            <a:r>
              <a:rPr sz="3200" b="1" i="0" dirty="0">
                <a:solidFill>
                  <a:srgbClr val="F0F0F5"/>
                </a:solidFill>
                <a:latin typeface="Segoe UI"/>
              </a:rPr>
              <a:t> for Coverage</a:t>
            </a:r>
            <a:r>
              <a:rPr lang="en-US" sz="3200" b="1" dirty="0">
                <a:solidFill>
                  <a:srgbClr val="F0F0F5"/>
                </a:solidFill>
                <a:latin typeface="Segoe UI"/>
              </a:rPr>
              <a:t>: MIMIC-IV?</a:t>
            </a:r>
            <a:endParaRPr sz="3200" b="1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6DB0C9-AC5D-C8E6-A307-CA232EFB6831}"/>
              </a:ext>
            </a:extLst>
          </p:cNvPr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1B25720-9E1A-E889-F27F-B0ABA8E878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013"/>
              </p:ext>
            </p:extLst>
          </p:nvPr>
        </p:nvGraphicFramePr>
        <p:xfrm>
          <a:off x="1587903" y="1706351"/>
          <a:ext cx="8985714" cy="4486472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3267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8048">
                  <a:extLst>
                    <a:ext uri="{9D8B030D-6E8A-4147-A177-3AD203B41FA5}">
                      <a16:colId xmlns:a16="http://schemas.microsoft.com/office/drawing/2014/main" val="1574346174"/>
                    </a:ext>
                  </a:extLst>
                </a:gridCol>
              </a:tblGrid>
              <a:tr h="660640">
                <a:tc>
                  <a:txBody>
                    <a:bodyPr/>
                    <a:lstStyle/>
                    <a:p>
                      <a:pPr algn="ctr"/>
                      <a:r>
                        <a:rPr sz="1600" b="1" i="0" dirty="0">
                          <a:solidFill>
                            <a:schemeClr val="bg1"/>
                          </a:solidFill>
                          <a:latin typeface="Segoe UI"/>
                        </a:rPr>
                        <a:t>Cluster Type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Segoe UI"/>
                        </a:rPr>
                        <a:t>Possible </a:t>
                      </a:r>
                      <a:r>
                        <a:rPr sz="1600" b="1" i="0" dirty="0">
                          <a:solidFill>
                            <a:schemeClr val="bg1"/>
                          </a:solidFill>
                          <a:latin typeface="Segoe UI"/>
                        </a:rPr>
                        <a:t>MIMIC-IV</a:t>
                      </a:r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Segoe UI"/>
                        </a:rPr>
                        <a:t> candidates</a:t>
                      </a:r>
                      <a:endParaRPr sz="1600" b="1" i="0" dirty="0">
                        <a:solidFill>
                          <a:schemeClr val="bg1"/>
                        </a:solidFill>
                        <a:latin typeface="Segoe UI"/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6458"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4F8CFF"/>
                          </a:solidFill>
                          <a:latin typeface="Segoe UI"/>
                        </a:rPr>
                        <a:t>Redundant</a:t>
                      </a:r>
                      <a:r>
                        <a:rPr lang="en-US" sz="1800" b="1" i="0" dirty="0">
                          <a:solidFill>
                            <a:srgbClr val="4F8CFF"/>
                          </a:solidFill>
                          <a:latin typeface="Segoe UI"/>
                        </a:rPr>
                        <a:t> </a:t>
                      </a:r>
                      <a:r>
                        <a:rPr sz="1800" b="1" i="0" dirty="0">
                          <a:solidFill>
                            <a:srgbClr val="4F8CFF"/>
                          </a:solidFill>
                          <a:latin typeface="Segoe UI"/>
                        </a:rPr>
                        <a:t>central cluster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Common conditions → hundreds of similar notes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6458"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4F8CFF"/>
                          </a:solidFill>
                          <a:latin typeface="Segoe UI"/>
                        </a:rPr>
                        <a:t>Complementary cluster(s)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Comorbidity combos (pneumonia</a:t>
                      </a:r>
                      <a:r>
                        <a:rPr lang="en-US" sz="18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 </a:t>
                      </a:r>
                      <a:r>
                        <a:rPr sz="18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+</a:t>
                      </a:r>
                      <a:r>
                        <a:rPr lang="en-US" sz="18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 </a:t>
                      </a:r>
                      <a:r>
                        <a:rPr sz="18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CKD +</a:t>
                      </a:r>
                      <a:r>
                        <a:rPr lang="en-US" sz="18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 </a:t>
                      </a:r>
                      <a:r>
                        <a:rPr sz="18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diabetes) → distinct management sub-groups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6458"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4F8CFF"/>
                          </a:solidFill>
                          <a:latin typeface="Segoe UI"/>
                        </a:rPr>
                        <a:t>Niche cluster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Rare complications (e.g., hemorrhagic stroke transformation) → few notes, unique reasoning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6458"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FFAB40"/>
                          </a:solidFill>
                          <a:latin typeface="Segoe UI"/>
                        </a:rPr>
                        <a:t>Outliers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ICD mismatches, boilerplate copies, de-id artifacts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845D41-FEDC-FBB6-C4CE-9A10341B8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534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i="1" dirty="0">
                <a:solidFill>
                  <a:srgbClr val="F0F0F5"/>
                </a:solidFill>
                <a:latin typeface="Segoe UI"/>
              </a:rPr>
              <a:t>MIMIC-IV-Note</a:t>
            </a:r>
            <a:r>
              <a:rPr lang="it-IT" sz="3200" b="1" dirty="0">
                <a:solidFill>
                  <a:srgbClr val="F0F0F5"/>
                </a:solidFill>
                <a:latin typeface="Segoe UI"/>
              </a:rPr>
              <a:t> </a:t>
            </a:r>
            <a:r>
              <a:rPr sz="3200" b="1" i="0" dirty="0">
                <a:solidFill>
                  <a:srgbClr val="F0F0F5"/>
                </a:solidFill>
                <a:latin typeface="Segoe UI"/>
              </a:rPr>
              <a:t>Discharge Summaries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115449"/>
              </p:ext>
            </p:extLst>
          </p:nvPr>
        </p:nvGraphicFramePr>
        <p:xfrm>
          <a:off x="1252294" y="1615370"/>
          <a:ext cx="9687411" cy="4684711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3253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7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6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094">
                <a:tc>
                  <a:txBody>
                    <a:bodyPr/>
                    <a:lstStyle/>
                    <a:p>
                      <a:pPr algn="ctr"/>
                      <a:r>
                        <a:rPr sz="1600" b="1" i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Segoe UI"/>
                        </a:rPr>
                        <a:t>Section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Segoe UI"/>
                        </a:rPr>
                        <a:t>Content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Segoe UI"/>
                        </a:rPr>
                        <a:t>QA Value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600" b="1" i="0" dirty="0">
                          <a:solidFill>
                            <a:schemeClr val="bg1"/>
                          </a:solidFill>
                          <a:latin typeface="Segoe UI"/>
                        </a:rPr>
                        <a:t>Brief Hospital Course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dirty="0">
                          <a:solidFill>
                            <a:schemeClr val="bg1"/>
                          </a:solidFill>
                          <a:latin typeface="Segoe UI"/>
                        </a:rPr>
                        <a:t>Clinical reasoning per problem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dirty="0">
                          <a:solidFill>
                            <a:srgbClr val="48C78E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History of Present Illness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F0F0F5"/>
                          </a:solidFill>
                          <a:latin typeface="Segoe UI"/>
                        </a:rPr>
                        <a:t>Symptom narrative, temporal progression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48C78E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F0F0F5"/>
                          </a:solidFill>
                          <a:latin typeface="Segoe UI"/>
                        </a:rPr>
                        <a:t>Pertinent Results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Labs, imaging, micro interpretations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48C78E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Discharge Diagnosis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F0F0F5"/>
                          </a:solidFill>
                          <a:latin typeface="Segoe UI"/>
                        </a:rPr>
                        <a:t>Diagnostic labels (linkable to ICD)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48C78E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Chief Complaint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F0F0F5"/>
                          </a:solidFill>
                          <a:latin typeface="Segoe UI"/>
                        </a:rPr>
                        <a:t>1–2 lines, reason for admission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48C78E"/>
                          </a:solidFill>
                          <a:latin typeface="Segoe UI"/>
                        </a:rPr>
                        <a:t>High (as embedding metadata)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F0F0F5"/>
                          </a:solidFill>
                          <a:latin typeface="Segoe UI"/>
                        </a:rPr>
                        <a:t>Past Medical History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Comorbidities list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FFAB40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61497"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Surgical</a:t>
                      </a:r>
                      <a:r>
                        <a:rPr lang="en-US"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 / </a:t>
                      </a:r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Invasive Procedure</a:t>
                      </a:r>
                      <a:endParaRPr lang="en-US" sz="1600" b="0" i="0" dirty="0">
                        <a:solidFill>
                          <a:srgbClr val="F0F0F5"/>
                        </a:solidFill>
                        <a:latin typeface="Segoe UI"/>
                      </a:endParaRP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it-IT"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Social / Family History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it-IT"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Discharge Medications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it-IT"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Physical Exams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Other minor pieces of information</a:t>
                      </a:r>
                      <a:endParaRPr sz="1600" b="0" i="0" dirty="0">
                        <a:solidFill>
                          <a:srgbClr val="F0F0F5"/>
                        </a:solidFill>
                        <a:latin typeface="Segoe UI"/>
                      </a:endParaRP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828796"/>
                          </a:solidFill>
                          <a:latin typeface="Segoe UI"/>
                        </a:rPr>
                        <a:t>Low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C710B-B2D8-DE00-06DD-1269AC954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114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1" dirty="0">
                <a:solidFill>
                  <a:srgbClr val="F0F0F5"/>
                </a:solidFill>
                <a:latin typeface="Segoe UI"/>
              </a:rPr>
              <a:t>MIMIC-IV</a:t>
            </a:r>
            <a:r>
              <a:rPr sz="3200" b="1" i="0" dirty="0">
                <a:solidFill>
                  <a:srgbClr val="F0F0F5"/>
                </a:solidFill>
                <a:latin typeface="Segoe UI"/>
              </a:rPr>
              <a:t> Structured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AB40"/>
                </a:solidFill>
                <a:latin typeface="Segoe UI"/>
              </a:defRPr>
            </a:pPr>
            <a:r>
              <a:rPr dirty="0" err="1"/>
              <a:t>hosp</a:t>
            </a:r>
            <a:r>
              <a:rPr dirty="0"/>
              <a:t> module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823769"/>
              </p:ext>
            </p:extLst>
          </p:nvPr>
        </p:nvGraphicFramePr>
        <p:xfrm>
          <a:off x="1167720" y="2391787"/>
          <a:ext cx="9826080" cy="2906356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960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32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6589">
                <a:tc>
                  <a:txBody>
                    <a:bodyPr/>
                    <a:lstStyle/>
                    <a:p>
                      <a:pPr algn="ctr"/>
                      <a:r>
                        <a:rPr sz="1600" b="1" i="0" dirty="0">
                          <a:solidFill>
                            <a:schemeClr val="bg1"/>
                          </a:solidFill>
                          <a:latin typeface="Segoe UI"/>
                        </a:rPr>
                        <a:t>Table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 dirty="0">
                          <a:solidFill>
                            <a:schemeClr val="bg1"/>
                          </a:solidFill>
                          <a:latin typeface="Segoe UI"/>
                        </a:rPr>
                        <a:t>Content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 dirty="0">
                          <a:solidFill>
                            <a:schemeClr val="bg1"/>
                          </a:solidFill>
                          <a:latin typeface="Segoe UI"/>
                        </a:rPr>
                        <a:t>Our use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589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4F8CFF"/>
                          </a:solidFill>
                          <a:latin typeface="Segoe UI"/>
                        </a:rPr>
                        <a:t>diagnoses_icd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ICD-9/10 codes </a:t>
                      </a:r>
                      <a:r>
                        <a:rPr sz="1600" b="1" i="0" dirty="0">
                          <a:solidFill>
                            <a:srgbClr val="F0F0F5"/>
                          </a:solidFill>
                          <a:latin typeface="Segoe UI"/>
                        </a:rPr>
                        <a:t>per admission</a:t>
                      </a:r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, with </a:t>
                      </a:r>
                      <a:r>
                        <a:rPr sz="1400" b="0" i="0" dirty="0">
                          <a:solidFill>
                            <a:srgbClr val="F0F0F5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seq_num</a:t>
                      </a:r>
                      <a:r>
                        <a:rPr lang="en-US"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 priority</a:t>
                      </a:r>
                      <a:endParaRPr sz="1600" b="0" i="0" dirty="0">
                        <a:solidFill>
                          <a:srgbClr val="F0F0F5"/>
                        </a:solidFill>
                        <a:latin typeface="Segoe UI"/>
                      </a:endParaRP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48C78E"/>
                          </a:solidFill>
                          <a:latin typeface="Segoe UI"/>
                        </a:rPr>
                        <a:t>ICD </a:t>
                      </a:r>
                      <a:r>
                        <a:rPr sz="1600" b="0" i="0" dirty="0">
                          <a:solidFill>
                            <a:srgbClr val="48C78E"/>
                          </a:solidFill>
                          <a:latin typeface="Segoe UI"/>
                        </a:rPr>
                        <a:t>labels + query scaffolding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6589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4F8CFF"/>
                          </a:solidFill>
                          <a:latin typeface="Segoe UI"/>
                        </a:rPr>
                        <a:t>d_icd_diagnoses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ICD code definitions (text descriptions)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48C78E"/>
                          </a:solidFill>
                          <a:latin typeface="Segoe UI"/>
                        </a:rPr>
                        <a:t>Condition names for query templates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6589">
                <a:tc>
                  <a:txBody>
                    <a:bodyPr/>
                    <a:lstStyle/>
                    <a:p>
                      <a:pPr algn="l"/>
                      <a:r>
                        <a:rPr lang="it-IT" sz="1600" b="1" i="0" dirty="0">
                          <a:solidFill>
                            <a:srgbClr val="4F8CFF"/>
                          </a:solidFill>
                          <a:latin typeface="Segoe UI"/>
                        </a:rPr>
                        <a:t>p</a:t>
                      </a:r>
                      <a:r>
                        <a:rPr sz="1600" b="1" i="0" dirty="0" err="1">
                          <a:solidFill>
                            <a:srgbClr val="4F8CFF"/>
                          </a:solidFill>
                          <a:latin typeface="Segoe UI"/>
                        </a:rPr>
                        <a:t>atients</a:t>
                      </a:r>
                      <a:r>
                        <a:rPr lang="en-US" sz="1600" b="1" i="0" dirty="0">
                          <a:solidFill>
                            <a:srgbClr val="4F8CFF"/>
                          </a:solidFill>
                          <a:latin typeface="Segoe UI"/>
                        </a:rPr>
                        <a:t> + </a:t>
                      </a:r>
                      <a:r>
                        <a:rPr lang="it-IT" sz="1600" b="1" i="0" dirty="0">
                          <a:solidFill>
                            <a:srgbClr val="4F8CFF"/>
                          </a:solidFill>
                          <a:latin typeface="Segoe UI"/>
                        </a:rPr>
                        <a:t>admissions</a:t>
                      </a:r>
                      <a:endParaRPr sz="1600" b="1" i="0" dirty="0">
                        <a:solidFill>
                          <a:srgbClr val="4F8CFF"/>
                        </a:solidFill>
                        <a:latin typeface="Segoe UI"/>
                      </a:endParaRP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Gender, age, date of death</a:t>
                      </a:r>
                      <a:r>
                        <a:rPr lang="en-US"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, a</a:t>
                      </a:r>
                      <a:r>
                        <a:rPr lang="it-IT"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dmission type, insurance, race, discharge location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48C78E"/>
                          </a:solidFill>
                          <a:latin typeface="Segoe UI"/>
                        </a:rPr>
                        <a:t>Patient data for additional context</a:t>
                      </a:r>
                      <a:endParaRPr sz="1600" b="0" i="0" dirty="0">
                        <a:solidFill>
                          <a:srgbClr val="48C78E"/>
                        </a:solidFill>
                        <a:latin typeface="Segoe UI"/>
                      </a:endParaRP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EE1A17EE-6EEC-DC62-7536-D506F49EAD36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CB3E9D-5DEF-67B5-9269-ECACE0D0AE53}"/>
              </a:ext>
            </a:extLst>
          </p:cNvPr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CD1D3-41DD-82F3-9E39-A9B6A7C0E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114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0F0F5"/>
                </a:solidFill>
                <a:latin typeface="Segoe UI"/>
              </a:rPr>
              <a:t>Discharge summaries: w</a:t>
            </a:r>
            <a:r>
              <a:rPr lang="en-US" sz="3200" b="1" i="0" dirty="0">
                <a:solidFill>
                  <a:srgbClr val="F0F0F5"/>
                </a:solidFill>
                <a:latin typeface="Segoe UI"/>
              </a:rPr>
              <a:t>hat data to retain?</a:t>
            </a:r>
            <a:endParaRPr sz="3200" b="1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 dirty="0">
                <a:solidFill>
                  <a:srgbClr val="4F8CFF"/>
                </a:solidFill>
                <a:latin typeface="Segoe UI"/>
              </a:rPr>
              <a:t>▸  </a:t>
            </a:r>
            <a:r>
              <a:rPr lang="en-US" sz="2000" b="1" i="0" dirty="0">
                <a:solidFill>
                  <a:srgbClr val="4F8CFF"/>
                </a:solidFill>
                <a:latin typeface="Segoe UI"/>
              </a:rPr>
              <a:t>Brief Hospital Course </a:t>
            </a:r>
            <a:r>
              <a:rPr lang="en-US" sz="2000" b="0" i="0" dirty="0">
                <a:solidFill>
                  <a:srgbClr val="F0F0F5"/>
                </a:solidFill>
                <a:latin typeface="Segoe UI"/>
              </a:rPr>
              <a:t>has h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ighest QA value, but only for complex medicine admissions with # </a:t>
            </a:r>
            <a:r>
              <a:rPr lang="en-US" sz="2000" b="0" i="0" dirty="0">
                <a:solidFill>
                  <a:srgbClr val="F0F0F5"/>
                </a:solidFill>
                <a:latin typeface="Segoe UI"/>
              </a:rPr>
              <a:t>sub-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problem lists</a:t>
            </a:r>
            <a:endParaRPr lang="en-US" sz="2000" b="0" i="0" dirty="0">
              <a:solidFill>
                <a:srgbClr val="F0F0F5"/>
              </a:solidFill>
              <a:latin typeface="Segoe UI"/>
            </a:endParaRP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B4B9C8"/>
                </a:solidFill>
                <a:latin typeface="Segoe UI"/>
              </a:rPr>
              <a:t>Complex cases: management reasoning, drug choices with justifications, differentials</a:t>
            </a:r>
            <a:endParaRPr sz="2000" dirty="0">
              <a:solidFill>
                <a:srgbClr val="B4B9C8"/>
              </a:solidFill>
              <a:latin typeface="Segoe UI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 dirty="0">
                <a:solidFill>
                  <a:srgbClr val="4F8CFF"/>
                </a:solidFill>
                <a:latin typeface="Segoe UI"/>
              </a:rPr>
              <a:t>▸  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Surgical/simple cases: formulaic procedural timelines</a:t>
            </a:r>
            <a:r>
              <a:rPr lang="en-US" sz="2000" b="0" i="0" dirty="0">
                <a:solidFill>
                  <a:srgbClr val="F0F0F5"/>
                </a:solidFill>
                <a:latin typeface="Segoe UI"/>
              </a:rPr>
              <a:t>,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 nearly content-free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sz="2000" b="0" i="0" dirty="0">
                <a:solidFill>
                  <a:srgbClr val="B4B9C8"/>
                </a:solidFill>
                <a:latin typeface="Segoe UI"/>
              </a:rPr>
              <a:t>These are noise in any candidate pool</a:t>
            </a:r>
            <a:r>
              <a:rPr lang="en-US" sz="2000" b="0" i="0" dirty="0">
                <a:solidFill>
                  <a:srgbClr val="B4B9C8"/>
                </a:solidFill>
                <a:latin typeface="Segoe UI"/>
              </a:rPr>
              <a:t>: </a:t>
            </a:r>
            <a:r>
              <a:rPr sz="2000" b="0" i="0" dirty="0">
                <a:solidFill>
                  <a:srgbClr val="B4B9C8"/>
                </a:solidFill>
                <a:latin typeface="Segoe UI"/>
              </a:rPr>
              <a:t>no clinical reasoning</a:t>
            </a:r>
            <a:endParaRPr lang="en-US" sz="2000" b="0" i="0" dirty="0">
              <a:solidFill>
                <a:srgbClr val="B4B9C8"/>
              </a:solidFill>
              <a:latin typeface="Segoe UI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sz="2000" b="0" i="0" dirty="0">
              <a:solidFill>
                <a:srgbClr val="B4B9C8"/>
              </a:solidFill>
              <a:latin typeface="Segoe UI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 dirty="0">
                <a:solidFill>
                  <a:srgbClr val="4F8CFF"/>
                </a:solidFill>
                <a:latin typeface="Segoe UI"/>
              </a:rPr>
              <a:t>▸ </a:t>
            </a:r>
            <a:r>
              <a:rPr lang="en-US" sz="2000" b="1" i="0" dirty="0">
                <a:solidFill>
                  <a:srgbClr val="4F8CFF"/>
                </a:solidFill>
                <a:latin typeface="Segoe UI"/>
              </a:rPr>
              <a:t>History of Present Illnesses 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complements BHC: presentation context, symptom timeline, risk factors that BHC presupposes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 dirty="0">
                <a:solidFill>
                  <a:srgbClr val="4F8CFF"/>
                </a:solidFill>
                <a:latin typeface="Segoe UI"/>
              </a:rPr>
              <a:t>▸  </a:t>
            </a:r>
            <a:r>
              <a:rPr sz="2000" b="1" dirty="0">
                <a:solidFill>
                  <a:srgbClr val="4F8CFF"/>
                </a:solidFill>
                <a:latin typeface="Segoe UI"/>
              </a:rPr>
              <a:t>Pertinent Results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: mostly raw lab noise, but imaging interpretations can be high-value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E569A9-5938-8E5E-CA25-F1B86C2AD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i="0" dirty="0">
                <a:solidFill>
                  <a:srgbClr val="F0F0F5"/>
                </a:solidFill>
                <a:latin typeface="Segoe UI"/>
              </a:rPr>
              <a:t>Experimental </a:t>
            </a:r>
            <a:r>
              <a:rPr sz="4000" b="1" i="0" dirty="0">
                <a:solidFill>
                  <a:srgbClr val="F0F0F5"/>
                </a:solidFill>
                <a:latin typeface="Segoe UI"/>
              </a:rPr>
              <a:t>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474720"/>
            <a:ext cx="542880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A0A8B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</a:t>
            </a:r>
            <a:r>
              <a:rPr sz="2000" b="0" i="0" dirty="0">
                <a:solidFill>
                  <a:srgbClr val="A0A8B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orpus</a:t>
            </a:r>
            <a:r>
              <a:rPr lang="en-US" sz="2000" b="0" i="0" dirty="0">
                <a:solidFill>
                  <a:srgbClr val="A0A8B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construction </a:t>
            </a:r>
            <a:r>
              <a:rPr sz="2000" b="0" i="0" dirty="0">
                <a:solidFill>
                  <a:srgbClr val="A0A8B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→ embeddings → quer</a:t>
            </a:r>
            <a:r>
              <a:rPr lang="en-US" sz="2000" b="0" i="0" dirty="0">
                <a:solidFill>
                  <a:srgbClr val="A0A8B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 generation</a:t>
            </a:r>
            <a:r>
              <a:rPr sz="2000" b="0" i="0" dirty="0">
                <a:solidFill>
                  <a:srgbClr val="A0A8B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→ evaluation</a:t>
            </a:r>
            <a:endParaRPr sz="2400" b="0" i="0" dirty="0">
              <a:solidFill>
                <a:srgbClr val="A0A8BE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CF65C-F89C-AE30-F8B5-5DD0664B9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" y="0"/>
            <a:ext cx="12191695" cy="6858000"/>
          </a:xfrm>
          <a:prstGeom prst="rect">
            <a:avLst/>
          </a:prstGeom>
          <a:solidFill>
            <a:srgbClr val="18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 dirty="0">
                <a:solidFill>
                  <a:srgbClr val="F0F0F5"/>
                </a:solidFill>
                <a:latin typeface="Segoe UI"/>
              </a:rPr>
              <a:t>Phase 1: Corpus </a:t>
            </a:r>
            <a:r>
              <a:rPr lang="it-IT" sz="3200" b="1" i="0" dirty="0">
                <a:solidFill>
                  <a:srgbClr val="F0F0F5"/>
                </a:solidFill>
                <a:latin typeface="Segoe UI"/>
              </a:rPr>
              <a:t>Construction</a:t>
            </a:r>
            <a:endParaRPr sz="3200" b="1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821062" y="2477096"/>
            <a:ext cx="2517498" cy="2044551"/>
          </a:xfrm>
          <a:prstGeom prst="roundRect">
            <a:avLst>
              <a:gd name="adj" fmla="val 5000"/>
            </a:avLst>
          </a:prstGeom>
          <a:solidFill>
            <a:srgbClr val="20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spcAft>
                <a:spcPts val="1000"/>
              </a:spcAft>
            </a:pPr>
            <a:r>
              <a:rPr sz="2800" b="1" i="0" dirty="0">
                <a:solidFill>
                  <a:srgbClr val="48C78E"/>
                </a:solidFill>
                <a:latin typeface="Segoe UI"/>
              </a:rPr>
              <a:t>Output</a:t>
            </a:r>
          </a:p>
          <a:p>
            <a:pPr algn="ctr">
              <a:spcBef>
                <a:spcPts val="500"/>
              </a:spcBef>
              <a:spcAft>
                <a:spcPts val="300"/>
              </a:spcAft>
            </a:pPr>
            <a:r>
              <a:rPr b="1" i="0" dirty="0">
                <a:solidFill>
                  <a:srgbClr val="B4B9C8"/>
                </a:solidFill>
                <a:latin typeface="Segoe UI"/>
              </a:rPr>
              <a:t>Per-condition candidate pool D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8B7D3E5-095F-FFB6-C0DA-D67BDAB4BE2D}"/>
              </a:ext>
            </a:extLst>
          </p:cNvPr>
          <p:cNvSpPr/>
          <p:nvPr/>
        </p:nvSpPr>
        <p:spPr>
          <a:xfrm>
            <a:off x="7172094" y="3225949"/>
            <a:ext cx="1178410" cy="546847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312BE4-05A6-DA09-C57D-031A3171CF7F}"/>
              </a:ext>
            </a:extLst>
          </p:cNvPr>
          <p:cNvSpPr txBox="1"/>
          <p:nvPr/>
        </p:nvSpPr>
        <p:spPr>
          <a:xfrm>
            <a:off x="822960" y="1797049"/>
            <a:ext cx="6012688" cy="5132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FFAB40"/>
                </a:solidFill>
                <a:latin typeface="Segoe UI"/>
              </a:rPr>
              <a:t>Select conditions</a:t>
            </a:r>
            <a:br>
              <a:rPr lang="en-US" sz="2000" b="1" dirty="0">
                <a:solidFill>
                  <a:srgbClr val="FFAB40"/>
                </a:solidFill>
                <a:latin typeface="Segoe UI"/>
              </a:rPr>
            </a:br>
            <a:r>
              <a:rPr lang="en-US" sz="2000" dirty="0">
                <a:solidFill>
                  <a:srgbClr val="B4B9C8"/>
                </a:solidFill>
                <a:latin typeface="Segoe UI"/>
              </a:rPr>
              <a:t>Query </a:t>
            </a:r>
            <a:r>
              <a:rPr lang="en-US" dirty="0">
                <a:solidFill>
                  <a:srgbClr val="B4B9C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diagnoses_icd</a:t>
            </a:r>
            <a:r>
              <a:rPr lang="en-US" sz="2000" dirty="0">
                <a:solidFill>
                  <a:srgbClr val="B4B9C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2000" dirty="0">
                <a:solidFill>
                  <a:srgbClr val="B4B9C8"/>
                </a:solidFill>
                <a:latin typeface="Segoe UI"/>
              </a:rPr>
              <a:t>for ICD groups with ≥ N admissions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FFAB40"/>
                </a:solidFill>
                <a:latin typeface="Segoe UI"/>
              </a:rPr>
              <a:t>Parse and chunk documents</a:t>
            </a:r>
            <a:br>
              <a:rPr lang="en-US" sz="2000" b="1" dirty="0">
                <a:solidFill>
                  <a:srgbClr val="FFAB40"/>
                </a:solidFill>
                <a:latin typeface="Segoe UI"/>
              </a:rPr>
            </a:br>
            <a:r>
              <a:rPr lang="en-US" sz="2000" dirty="0">
                <a:solidFill>
                  <a:srgbClr val="B4B9C8"/>
                </a:solidFill>
                <a:latin typeface="Segoe UI"/>
              </a:rPr>
              <a:t>Split Discharge Summaries by section header</a:t>
            </a:r>
          </a:p>
          <a:p>
            <a:pPr marL="342900" indent="-342900">
              <a:spcBef>
                <a:spcPts val="300"/>
              </a:spcBef>
              <a:buFont typeface="+mj-lt"/>
              <a:buAutoNum type="arabicPeriod"/>
            </a:pPr>
            <a:endParaRPr lang="en-US" sz="2000" dirty="0">
              <a:solidFill>
                <a:srgbClr val="B4B9C8"/>
              </a:solidFill>
              <a:latin typeface="Segoe UI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FFAB40"/>
                </a:solidFill>
                <a:latin typeface="Segoe UI"/>
              </a:rPr>
              <a:t>Attach metadata</a:t>
            </a:r>
            <a:br>
              <a:rPr lang="en-US" sz="2000" b="1" dirty="0">
                <a:solidFill>
                  <a:srgbClr val="FFAB40"/>
                </a:solidFill>
                <a:latin typeface="Segoe UI"/>
              </a:rPr>
            </a:br>
            <a:r>
              <a:rPr lang="en-US" sz="2000" dirty="0">
                <a:solidFill>
                  <a:srgbClr val="B4B9C8"/>
                </a:solidFill>
                <a:latin typeface="Segoe UI"/>
              </a:rPr>
              <a:t>Per chunk: section name, all ICD codes, demographics, admission type and details</a:t>
            </a:r>
          </a:p>
          <a:p>
            <a:pPr marL="457200" indent="-457200">
              <a:buFont typeface="+mj-lt"/>
              <a:buAutoNum type="arabicPeriod"/>
            </a:pPr>
            <a:endParaRPr lang="en-US" sz="2000" b="1" dirty="0">
              <a:solidFill>
                <a:srgbClr val="B4B9C8"/>
              </a:solidFill>
              <a:latin typeface="Segoe UI"/>
            </a:endParaRPr>
          </a:p>
          <a:p>
            <a:pPr marL="457200" indent="-457200">
              <a:buFont typeface="+mj-lt"/>
              <a:buAutoNum type="arabicPeriod"/>
            </a:pPr>
            <a:r>
              <a:rPr lang="it-IT" sz="2000" b="1" dirty="0">
                <a:solidFill>
                  <a:srgbClr val="FFAB40"/>
                </a:solidFill>
                <a:latin typeface="Segoe UI"/>
              </a:rPr>
              <a:t>Deduplicate</a:t>
            </a:r>
          </a:p>
          <a:p>
            <a:pPr>
              <a:spcBef>
                <a:spcPts val="300"/>
              </a:spcBef>
            </a:pPr>
            <a:endParaRPr lang="en-US" sz="2000" dirty="0">
              <a:solidFill>
                <a:srgbClr val="B4B9C8"/>
              </a:solidFill>
              <a:latin typeface="Segoe UI"/>
            </a:endParaRPr>
          </a:p>
          <a:p>
            <a:pPr>
              <a:spcBef>
                <a:spcPts val="300"/>
              </a:spcBef>
            </a:pPr>
            <a:endParaRPr lang="en-US" sz="2000" dirty="0">
              <a:solidFill>
                <a:srgbClr val="B4B9C8"/>
              </a:solidFill>
              <a:latin typeface="Segoe UI"/>
            </a:endParaRPr>
          </a:p>
          <a:p>
            <a:endParaRPr lang="en-US" sz="2000" dirty="0"/>
          </a:p>
          <a:p>
            <a:endParaRPr lang="LID4096" sz="2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D18B32-49A2-BAB5-B570-78E1E725A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 dirty="0">
                <a:solidFill>
                  <a:srgbClr val="F0F0F5"/>
                </a:solidFill>
                <a:latin typeface="Segoe UI"/>
              </a:rPr>
              <a:t>Phase 2: Embeddings</a:t>
            </a:r>
            <a:r>
              <a:rPr lang="en-US" sz="3200" b="1" i="0" dirty="0">
                <a:solidFill>
                  <a:srgbClr val="F0F0F5"/>
                </a:solidFill>
                <a:latin typeface="Segoe UI"/>
              </a:rPr>
              <a:t> Generation</a:t>
            </a:r>
            <a:endParaRPr sz="3200" b="1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181600" cy="229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 dirty="0">
                <a:solidFill>
                  <a:srgbClr val="4F8CFF"/>
                </a:solidFill>
                <a:latin typeface="Segoe UI"/>
              </a:rPr>
              <a:t>▸  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Raw chunks</a:t>
            </a:r>
            <a:r>
              <a:rPr lang="en-US" sz="2000" b="0" i="0" dirty="0">
                <a:solidFill>
                  <a:srgbClr val="F0F0F5"/>
                </a:solidFill>
                <a:latin typeface="Segoe UI"/>
              </a:rPr>
              <a:t> are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 too patient-specific for condition-level queries</a:t>
            </a:r>
            <a:endParaRPr lang="en-US" sz="2000" b="0" i="0" dirty="0">
              <a:solidFill>
                <a:srgbClr val="F0F0F5"/>
              </a:solidFill>
              <a:latin typeface="Segoe UI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en-US" sz="2000" dirty="0">
                <a:solidFill>
                  <a:srgbClr val="4F8CFF"/>
                </a:solidFill>
                <a:latin typeface="Segoe UI"/>
              </a:rPr>
              <a:t>▸ </a:t>
            </a:r>
            <a:r>
              <a:rPr lang="en-US" sz="2000" b="1" dirty="0">
                <a:solidFill>
                  <a:schemeClr val="bg1"/>
                </a:solidFill>
                <a:latin typeface="Segoe UI"/>
              </a:rPr>
              <a:t>Add context before chunks to capture full semantics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 dirty="0">
                <a:solidFill>
                  <a:srgbClr val="4F8CFF"/>
                </a:solidFill>
                <a:latin typeface="Segoe UI"/>
              </a:rPr>
              <a:t>▸  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MIMIC metadata is structured → deterministic template</a:t>
            </a:r>
            <a:r>
              <a:rPr lang="en-US" sz="2000" dirty="0">
                <a:solidFill>
                  <a:srgbClr val="F0F0F5"/>
                </a:solidFill>
                <a:latin typeface="Segoe UI"/>
              </a:rPr>
              <a:t> to build context</a:t>
            </a:r>
            <a:endParaRPr sz="2000" b="0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87442" y="1514014"/>
            <a:ext cx="5364480" cy="2389331"/>
          </a:xfrm>
          <a:prstGeom prst="roundRect">
            <a:avLst>
              <a:gd name="adj" fmla="val 5000"/>
            </a:avLst>
          </a:prstGeom>
          <a:solidFill>
            <a:srgbClr val="20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>
              <a:spcAft>
                <a:spcPts val="1000"/>
              </a:spcAft>
              <a:defRPr sz="1600" b="1">
                <a:solidFill>
                  <a:srgbClr val="FFAB40"/>
                </a:solidFill>
                <a:latin typeface="Segoe UI"/>
              </a:defRPr>
            </a:pPr>
            <a:r>
              <a:rPr lang="en-US" dirty="0">
                <a:solidFill>
                  <a:srgbClr val="FFAB40"/>
                </a:solidFill>
                <a:latin typeface="Segoe UI"/>
              </a:rPr>
              <a:t>Chunk example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lang="en-US" sz="1400" i="0" dirty="0">
                <a:solidFill>
                  <a:srgbClr val="B4B9C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Elderly male, White, admitted for Sepsis (SOFA 14).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400" b="0" i="0" dirty="0">
                <a:solidFill>
                  <a:srgbClr val="B4B9C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Chief complaint: fever, hypotension.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400" b="0" i="0" dirty="0">
                <a:solidFill>
                  <a:srgbClr val="B4B9C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Comorbidities: CHF, CKD, COPD.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400" b="0" i="0" dirty="0">
                <a:solidFill>
                  <a:srgbClr val="B4B9C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Section: Brief Hospital Course</a:t>
            </a:r>
            <a:endParaRPr lang="en-US" sz="1600" b="0" i="0" dirty="0">
              <a:solidFill>
                <a:srgbClr val="B4B9C8"/>
              </a:solidFill>
              <a:latin typeface="Segoe UI"/>
            </a:endParaRP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lang="it-IT" sz="1400" dirty="0">
                <a:solidFill>
                  <a:srgbClr val="48C78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&lt;section_content&gt;</a:t>
            </a:r>
            <a:endParaRPr sz="1400" dirty="0">
              <a:solidFill>
                <a:srgbClr val="48C78E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790909-FA82-7256-3A87-F37C338AD234}"/>
              </a:ext>
            </a:extLst>
          </p:cNvPr>
          <p:cNvSpPr txBox="1"/>
          <p:nvPr/>
        </p:nvSpPr>
        <p:spPr>
          <a:xfrm>
            <a:off x="822960" y="4687064"/>
            <a:ext cx="996696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0" i="0" dirty="0">
                <a:solidFill>
                  <a:srgbClr val="4F8CFF"/>
                </a:solidFill>
                <a:latin typeface="Segoe UI"/>
              </a:rPr>
              <a:t>▸  </a:t>
            </a:r>
            <a:r>
              <a:rPr lang="en-US" sz="2000" b="0" i="0" dirty="0">
                <a:solidFill>
                  <a:srgbClr val="F0F0F5"/>
                </a:solidFill>
                <a:latin typeface="Segoe UI"/>
              </a:rPr>
              <a:t>Alternative: </a:t>
            </a:r>
            <a:r>
              <a:rPr lang="en-US" sz="2000" b="1" i="0" dirty="0">
                <a:solidFill>
                  <a:srgbClr val="F0F0F5"/>
                </a:solidFill>
                <a:latin typeface="Segoe UI"/>
              </a:rPr>
              <a:t>whole-document embeddings</a:t>
            </a:r>
            <a:r>
              <a:rPr lang="en-US" sz="2000" b="0" i="0" dirty="0">
                <a:solidFill>
                  <a:srgbClr val="F0F0F5"/>
                </a:solidFill>
                <a:latin typeface="Segoe UI"/>
              </a:rPr>
              <a:t> via long-context embedding models</a:t>
            </a:r>
            <a:r>
              <a:rPr lang="en-US" sz="2000" dirty="0">
                <a:solidFill>
                  <a:srgbClr val="F0F0F5"/>
                </a:solidFill>
                <a:latin typeface="Segoe UI"/>
              </a:rPr>
              <a:t>, d</a:t>
            </a:r>
            <a:r>
              <a:rPr lang="it-IT" sz="2000" dirty="0">
                <a:solidFill>
                  <a:schemeClr val="bg1"/>
                </a:solidFill>
                <a:latin typeface="Segoe UI"/>
              </a:rPr>
              <a:t>epending on which kind of queries we want to construct</a:t>
            </a:r>
          </a:p>
          <a:p>
            <a:pPr marL="742950" lvl="1" indent="-285750"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Segoe UI"/>
              </a:rPr>
              <a:t>“</a:t>
            </a:r>
            <a:r>
              <a:rPr lang="en-US" sz="2000" i="1" dirty="0">
                <a:solidFill>
                  <a:schemeClr val="bg1">
                    <a:lumMod val="75000"/>
                  </a:schemeClr>
                </a:solidFill>
                <a:latin typeface="Segoe UI"/>
              </a:rPr>
              <a:t>find patients similar to this case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Segoe UI"/>
              </a:rPr>
              <a:t>” rather than “</a:t>
            </a:r>
            <a:r>
              <a:rPr lang="en-US" sz="2000" i="1" dirty="0">
                <a:solidFill>
                  <a:schemeClr val="bg1">
                    <a:lumMod val="75000"/>
                  </a:schemeClr>
                </a:solidFill>
                <a:latin typeface="Segoe UI"/>
              </a:rPr>
              <a:t>what are the symptoms of X and how 	do they differ with Y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Segoe UI"/>
              </a:rPr>
              <a:t>”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endParaRPr lang="it-IT" sz="2000" dirty="0">
              <a:solidFill>
                <a:schemeClr val="bg1">
                  <a:lumMod val="75000"/>
                </a:schemeClr>
              </a:solidFill>
              <a:latin typeface="Segoe UI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808166-BDB1-C16C-86A1-44DEBA136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114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 dirty="0">
                <a:solidFill>
                  <a:srgbClr val="F0F0F5"/>
                </a:solidFill>
                <a:latin typeface="Segoe UI"/>
              </a:rPr>
              <a:t>Phase 3: Query Generation</a:t>
            </a:r>
            <a:r>
              <a:rPr lang="en-US" sz="3200" b="1" i="0" dirty="0">
                <a:solidFill>
                  <a:srgbClr val="F0F0F5"/>
                </a:solidFill>
                <a:latin typeface="Segoe UI"/>
              </a:rPr>
              <a:t> via LLM</a:t>
            </a:r>
            <a:endParaRPr sz="3200" b="1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22960" y="1504249"/>
                <a:ext cx="10515600" cy="51995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000"/>
                  </a:spcBef>
                  <a:spcAft>
                    <a:spcPts val="400"/>
                  </a:spcAft>
                </a:pPr>
                <a:r>
                  <a:rPr lang="it-IT" b="0" i="0" dirty="0">
                    <a:solidFill>
                      <a:srgbClr val="4F8CFF"/>
                    </a:solidFill>
                    <a:latin typeface="Segoe UI"/>
                  </a:rPr>
                  <a:t>▸  </a:t>
                </a:r>
                <a:r>
                  <a:rPr lang="it-IT" sz="2000" b="0" i="0" dirty="0">
                    <a:solidFill>
                      <a:srgbClr val="F0F0F5"/>
                    </a:solidFill>
                    <a:latin typeface="Segoe UI"/>
                  </a:rPr>
                  <a:t>Pick primary condition + 1–2 </a:t>
                </a:r>
                <a:r>
                  <a:rPr lang="it-IT" sz="2000" b="1" i="0" dirty="0">
                    <a:solidFill>
                      <a:srgbClr val="F0F0F5"/>
                    </a:solidFill>
                    <a:latin typeface="Segoe UI"/>
                  </a:rPr>
                  <a:t>modifier axes </a:t>
                </a:r>
                <a:r>
                  <a:rPr lang="it-IT" sz="2000" i="0" dirty="0">
                    <a:solidFill>
                      <a:srgbClr val="F0F0F5"/>
                    </a:solidFill>
                    <a:latin typeface="Segoe UI"/>
                  </a:rPr>
                  <a:t>to ensure multi-aspect</a:t>
                </a:r>
                <a:endParaRPr lang="it-IT" sz="2000" b="1" i="0" dirty="0">
                  <a:solidFill>
                    <a:srgbClr val="F0F0F5"/>
                  </a:solidFill>
                  <a:latin typeface="Segoe UI"/>
                </a:endParaRPr>
              </a:p>
              <a:p>
                <a:pPr marL="742950" lvl="1" indent="-28575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it-IT" i="0" dirty="0">
                    <a:solidFill>
                      <a:srgbClr val="B4B9C8"/>
                    </a:solidFill>
                    <a:latin typeface="Segoe UI"/>
                  </a:rPr>
                  <a:t>Comorbidity</a:t>
                </a:r>
                <a:r>
                  <a:rPr lang="it-IT" b="0" i="0" dirty="0">
                    <a:solidFill>
                      <a:srgbClr val="B4B9C8"/>
                    </a:solidFill>
                    <a:latin typeface="Segoe UI"/>
                  </a:rPr>
                  <a:t>: co-occurring ICD codes (e.g. stroke + diabetes)</a:t>
                </a:r>
              </a:p>
              <a:p>
                <a:pPr marL="742950" lvl="1" indent="-28575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it-IT" i="0" dirty="0">
                    <a:solidFill>
                      <a:srgbClr val="B4B9C8"/>
                    </a:solidFill>
                    <a:latin typeface="Segoe UI"/>
                  </a:rPr>
                  <a:t>Demographic</a:t>
                </a:r>
                <a:r>
                  <a:rPr lang="it-IT" b="0" i="0" dirty="0">
                    <a:solidFill>
                      <a:srgbClr val="B4B9C8"/>
                    </a:solidFill>
                    <a:latin typeface="Segoe UI"/>
                  </a:rPr>
                  <a:t>: age group, gender, race, etc.</a:t>
                </a:r>
              </a:p>
              <a:p>
                <a:pPr marL="742950" lvl="1" indent="-28575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it-IT" i="0" dirty="0">
                    <a:solidFill>
                      <a:srgbClr val="B4B9C8"/>
                    </a:solidFill>
                    <a:latin typeface="Segoe UI"/>
                  </a:rPr>
                  <a:t>Complication</a:t>
                </a:r>
                <a:r>
                  <a:rPr lang="it-IT" b="0" i="0" dirty="0">
                    <a:solidFill>
                      <a:srgbClr val="B4B9C8"/>
                    </a:solidFill>
                    <a:latin typeface="Segoe UI"/>
                  </a:rPr>
                  <a:t>: post-surgical, recurrent, or secondary diagnoses</a:t>
                </a:r>
              </a:p>
              <a:p>
                <a:pPr>
                  <a:spcBef>
                    <a:spcPts val="1000"/>
                  </a:spcBef>
                  <a:spcAft>
                    <a:spcPts val="400"/>
                  </a:spcAft>
                </a:pPr>
                <a:r>
                  <a:rPr lang="it-IT" b="0" i="0" dirty="0">
                    <a:solidFill>
                      <a:srgbClr val="4F8CFF"/>
                    </a:solidFill>
                    <a:latin typeface="Segoe UI"/>
                  </a:rPr>
                  <a:t>▸ </a:t>
                </a:r>
                <a:r>
                  <a:rPr lang="it-IT" i="0" dirty="0">
                    <a:solidFill>
                      <a:srgbClr val="4F8CFF"/>
                    </a:solidFill>
                    <a:latin typeface="Segoe UI"/>
                  </a:rPr>
                  <a:t> </a:t>
                </a:r>
                <a:r>
                  <a:rPr lang="it-IT" sz="2000" i="0" dirty="0">
                    <a:solidFill>
                      <a:srgbClr val="F0F0F5"/>
                    </a:solidFill>
                    <a:latin typeface="Segoe UI"/>
                  </a:rPr>
                  <a:t>LLM prompt</a:t>
                </a:r>
                <a:r>
                  <a:rPr lang="it-IT" sz="2000" b="0" i="0" dirty="0">
                    <a:solidFill>
                      <a:srgbClr val="F0F0F5"/>
                    </a:solidFill>
                    <a:latin typeface="Segoe UI"/>
                  </a:rPr>
                  <a:t>: generate clinical management question requiring modifier knowledge</a:t>
                </a:r>
              </a:p>
              <a:p>
                <a:pPr>
                  <a:spcBef>
                    <a:spcPts val="1000"/>
                  </a:spcBef>
                  <a:spcAft>
                    <a:spcPts val="400"/>
                  </a:spcAft>
                </a:pPr>
                <a:endParaRPr lang="it-IT" sz="2000" b="0" i="0" dirty="0">
                  <a:solidFill>
                    <a:srgbClr val="F0F0F5"/>
                  </a:solidFill>
                  <a:latin typeface="Segoe UI"/>
                </a:endParaRPr>
              </a:p>
              <a:p>
                <a:pPr>
                  <a:spcBef>
                    <a:spcPts val="1000"/>
                  </a:spcBef>
                  <a:spcAft>
                    <a:spcPts val="400"/>
                  </a:spcAft>
                </a:pPr>
                <a:r>
                  <a:rPr lang="it-IT" b="0" i="0" dirty="0">
                    <a:solidFill>
                      <a:srgbClr val="4F8CFF"/>
                    </a:solidFill>
                    <a:latin typeface="Segoe UI"/>
                  </a:rPr>
                  <a:t>▸  </a:t>
                </a:r>
                <a:r>
                  <a:rPr lang="it-IT" sz="2000" b="1" i="0" dirty="0">
                    <a:solidFill>
                      <a:srgbClr val="F0F0F5"/>
                    </a:solidFill>
                    <a:latin typeface="Segoe UI"/>
                  </a:rPr>
                  <a:t>Pre-filter</a:t>
                </a:r>
                <a:r>
                  <a:rPr lang="it-IT" sz="2000" b="0" i="0" dirty="0">
                    <a:solidFill>
                      <a:srgbClr val="F0F0F5"/>
                    </a:solidFill>
                    <a:latin typeface="Segoe UI"/>
                  </a:rPr>
                  <a:t>: only keep queries where </a:t>
                </a:r>
                <a:r>
                  <a:rPr lang="it-IT" sz="2000" b="0" i="1" dirty="0">
                    <a:solidFill>
                      <a:srgbClr val="F0F0F5"/>
                    </a:solidFill>
                    <a:latin typeface="Segoe UI"/>
                  </a:rPr>
                  <a:t>coverage ≠ top-k</a:t>
                </a:r>
              </a:p>
              <a:p>
                <a:pPr marL="742950" lvl="1" indent="-28575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it-IT" dirty="0">
                    <a:solidFill>
                      <a:srgbClr val="B4B9C8"/>
                    </a:solidFill>
                    <a:latin typeface="Segoe UI"/>
                  </a:rPr>
                  <a:t>assess overall suitability of coverage approaches for this dataset with this embedding strategy</a:t>
                </a:r>
                <a:endParaRPr lang="it-IT" dirty="0">
                  <a:solidFill>
                    <a:schemeClr val="bg1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742950" lvl="1" indent="-28575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it-IT" sz="2000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𝐽𝑎𝑐𝑐𝑎𝑟𝑑</m:t>
                    </m:r>
                    <m:r>
                      <a:rPr lang="it-IT" sz="2000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sz="2000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sz="2000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𝑐𝑜𝑣</m:t>
                        </m:r>
                      </m:sub>
                    </m:sSub>
                    <m:r>
                      <a:rPr lang="ar-AE" sz="2000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,</m:t>
                    </m:r>
                    <m:sSub>
                      <m:sSubPr>
                        <m:ctrlPr>
                          <a:rPr lang="ar-AE" sz="2000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sz="2000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sz="2000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𝑡𝑜𝑝</m:t>
                        </m:r>
                        <m:r>
                          <a:rPr lang="ar-AE" sz="2000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000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 sz="2000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 ≈ </m:t>
                    </m:r>
                    <m:r>
                      <a:rPr lang="ar-AE" sz="2000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sz="2000" dirty="0">
                    <a:solidFill>
                      <a:schemeClr val="bg1">
                        <a:lumMod val="75000"/>
                      </a:schemeClr>
                    </a:solidFill>
                    <a:latin typeface="Segoe UI"/>
                  </a:rPr>
                  <a:t> </a:t>
                </a:r>
                <a:r>
                  <a:rPr lang="ar-AE" b="0" i="0" dirty="0">
                    <a:solidFill>
                      <a:srgbClr val="B4B9C8"/>
                    </a:solidFill>
                    <a:latin typeface="Segoe UI"/>
                  </a:rPr>
                  <a:t>→ </a:t>
                </a:r>
                <a:r>
                  <a:rPr lang="en-US" b="0" i="0" dirty="0">
                    <a:solidFill>
                      <a:srgbClr val="B4B9C8"/>
                    </a:solidFill>
                    <a:latin typeface="Segoe UI"/>
                  </a:rPr>
                  <a:t> </a:t>
                </a:r>
                <a:r>
                  <a:rPr lang="it-IT" b="0" i="0" dirty="0">
                    <a:solidFill>
                      <a:srgbClr val="B4B9C8"/>
                    </a:solidFill>
                    <a:latin typeface="Segoe UI"/>
                  </a:rPr>
                  <a:t>skip</a:t>
                </a:r>
                <a:endParaRPr lang="it-IT" dirty="0">
                  <a:solidFill>
                    <a:srgbClr val="B4B9C8"/>
                  </a:solidFill>
                  <a:latin typeface="Segoe UI"/>
                </a:endParaRPr>
              </a:p>
              <a:p>
                <a:pPr marL="742950" lvl="1" indent="-28575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it-IT" b="0" i="1" dirty="0" smtClean="0">
                        <a:solidFill>
                          <a:srgbClr val="B4B9C8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ar-AE" b="0" i="1" dirty="0" smtClean="0">
                            <a:solidFill>
                              <a:srgbClr val="B4B9C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 dirty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dirty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 dirty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𝑐𝑜𝑣</m:t>
                            </m:r>
                          </m:sub>
                        </m:sSub>
                      </m:e>
                    </m:d>
                    <m:r>
                      <a:rPr lang="ar-AE" b="0" i="1" dirty="0">
                        <a:solidFill>
                          <a:srgbClr val="B4B9C8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r>
                      <a:rPr lang="ar-AE" b="0" i="1" dirty="0">
                        <a:solidFill>
                          <a:srgbClr val="B4B9C8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ar-AE" b="0" i="1" dirty="0">
                            <a:solidFill>
                              <a:srgbClr val="B4B9C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 dirty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 dirty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𝑡𝑜𝑝</m:t>
                            </m:r>
                            <m:r>
                              <a:rPr lang="ar-AE" dirty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dirty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dirty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dirty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dirty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𝑟𝑒𝑠</m:t>
                    </m:r>
                    <m:r>
                      <a:rPr lang="en-US" b="0" i="1" dirty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dirty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𝑜𝑙𝑑</m:t>
                    </m:r>
                    <m:r>
                      <a:rPr lang="en-US" b="0" i="1" dirty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>
                    <a:solidFill>
                      <a:srgbClr val="B4B9C8"/>
                    </a:solidFill>
                    <a:latin typeface="Segoe UI"/>
                  </a:rPr>
                  <a:t> </a:t>
                </a:r>
                <a:r>
                  <a:rPr lang="ar-AE" dirty="0">
                    <a:solidFill>
                      <a:srgbClr val="B4B9C8"/>
                    </a:solidFill>
                    <a:latin typeface="Segoe UI"/>
                  </a:rPr>
                  <a:t>→ </a:t>
                </a:r>
                <a:r>
                  <a:rPr lang="it-IT" dirty="0">
                    <a:solidFill>
                      <a:srgbClr val="B4B9C8"/>
                    </a:solidFill>
                    <a:latin typeface="Segoe UI"/>
                  </a:rPr>
                  <a:t>skip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1600" b="0" i="0" dirty="0">
                  <a:solidFill>
                    <a:srgbClr val="B4B9C8"/>
                  </a:solidFill>
                  <a:latin typeface="Segoe UI"/>
                </a:endParaRPr>
              </a:p>
              <a:p>
                <a:pPr>
                  <a:spcBef>
                    <a:spcPts val="1000"/>
                  </a:spcBef>
                  <a:spcAft>
                    <a:spcPts val="400"/>
                  </a:spcAft>
                </a:pPr>
                <a:r>
                  <a:rPr lang="it-IT" b="0" i="0" dirty="0">
                    <a:solidFill>
                      <a:srgbClr val="4F8CFF"/>
                    </a:solidFill>
                    <a:latin typeface="Segoe UI"/>
                  </a:rPr>
                  <a:t>▸  </a:t>
                </a:r>
                <a:r>
                  <a:rPr lang="it-IT" sz="2000" b="1" dirty="0">
                    <a:solidFill>
                      <a:srgbClr val="F0F0F5"/>
                    </a:solidFill>
                    <a:latin typeface="Segoe UI"/>
                  </a:rPr>
                  <a:t>Gold answer generation</a:t>
                </a:r>
                <a:r>
                  <a:rPr lang="it-IT" sz="2000" dirty="0">
                    <a:solidFill>
                      <a:srgbClr val="F0F0F5"/>
                    </a:solidFill>
                    <a:latin typeface="Segoe UI"/>
                  </a:rPr>
                  <a:t>: LLM cites source chunks, each tagged with facet label</a:t>
                </a:r>
                <a:endParaRPr lang="it-IT" sz="2000" b="0" i="0" dirty="0">
                  <a:solidFill>
                    <a:srgbClr val="F0F0F5"/>
                  </a:solidFill>
                  <a:latin typeface="Segoe UI"/>
                </a:endParaRPr>
              </a:p>
              <a:p>
                <a:pPr>
                  <a:spcBef>
                    <a:spcPts val="1000"/>
                  </a:spcBef>
                  <a:spcAft>
                    <a:spcPts val="400"/>
                  </a:spcAft>
                </a:pPr>
                <a:endParaRPr sz="2000" b="0" i="0" dirty="0">
                  <a:solidFill>
                    <a:srgbClr val="F0F0F5"/>
                  </a:solidFill>
                  <a:latin typeface="Segoe UI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504249"/>
                <a:ext cx="10515600" cy="5199565"/>
              </a:xfrm>
              <a:prstGeom prst="rect">
                <a:avLst/>
              </a:prstGeom>
              <a:blipFill>
                <a:blip r:embed="rId2"/>
                <a:stretch>
                  <a:fillRect l="-464" t="-58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0D9183-5DC2-D50C-A7E3-5E2818DF3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 dirty="0">
                <a:solidFill>
                  <a:srgbClr val="F0F0F5"/>
                </a:solidFill>
                <a:latin typeface="Segoe UI"/>
              </a:rPr>
              <a:t>Phase 4: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2014704"/>
                  </p:ext>
                </p:extLst>
              </p:nvPr>
            </p:nvGraphicFramePr>
            <p:xfrm>
              <a:off x="1046480" y="1645919"/>
              <a:ext cx="10099040" cy="3777585"/>
            </p:xfrm>
            <a:graphic>
              <a:graphicData uri="http://schemas.openxmlformats.org/drawingml/2006/table">
                <a:tbl>
                  <a:tblPr>
                    <a:tableStyleId>{00000000-0000-0000-0000-000000000000}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42139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84884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837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b="1" i="0" dirty="0">
                              <a:solidFill>
                                <a:schemeClr val="bg1"/>
                              </a:solidFill>
                              <a:latin typeface="Segoe UI"/>
                            </a:rPr>
                            <a:t>Metric</a:t>
                          </a:r>
                        </a:p>
                      </a:txBody>
                      <a:tcPr anchor="ctr">
                        <a:solidFill>
                          <a:schemeClr val="tx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b="1" i="0" dirty="0">
                              <a:solidFill>
                                <a:schemeClr val="bg1"/>
                              </a:solidFill>
                              <a:latin typeface="Segoe UI"/>
                            </a:rPr>
                            <a:t>Definition</a:t>
                          </a:r>
                        </a:p>
                      </a:txBody>
                      <a:tcPr anchor="ctr">
                        <a:solidFill>
                          <a:schemeClr val="tx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b="1" i="0" dirty="0">
                              <a:solidFill>
                                <a:schemeClr val="bg1"/>
                              </a:solidFill>
                              <a:latin typeface="Segoe UI"/>
                            </a:rPr>
                            <a:t>Measures</a:t>
                          </a:r>
                        </a:p>
                      </a:txBody>
                      <a:tcPr anchor="ctr">
                        <a:solidFill>
                          <a:schemeClr val="tx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75294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1" i="0">
                              <a:solidFill>
                                <a:srgbClr val="4F8CFF"/>
                              </a:solidFill>
                              <a:latin typeface="Segoe UI"/>
                            </a:rPr>
                            <a:t>Aspect Recall</a:t>
                          </a:r>
                        </a:p>
                      </a:txBody>
                      <a:tcPr anchor="ctr">
                        <a:solidFill>
                          <a:srgbClr val="1C212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001" sz="1600" b="0" i="1" dirty="0" smtClean="0">
                                    <a:solidFill>
                                      <a:srgbClr val="F0F0F5"/>
                                    </a:solidFill>
                                    <a:latin typeface="Cambria Math" panose="02040503050406030204" pitchFamily="18" charset="0"/>
                                  </a:rPr>
                                  <m:t>𝐴𝑅</m:t>
                                </m:r>
                                <m:r>
                                  <a:rPr lang="en-001" sz="1600" b="0" i="1" dirty="0" smtClean="0">
                                    <a:solidFill>
                                      <a:srgbClr val="F0F0F5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001" sz="1600" b="0" i="1" dirty="0" smtClean="0">
                                    <a:solidFill>
                                      <a:srgbClr val="F0F0F5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001" sz="1600" b="0" i="1" dirty="0" smtClean="0">
                                    <a:solidFill>
                                      <a:srgbClr val="F0F0F5"/>
                                    </a:solidFill>
                                    <a:latin typeface="Cambria Math" panose="02040503050406030204" pitchFamily="18" charset="0"/>
                                  </a:rPr>
                                  <m:t>) = </m:t>
                                </m:r>
                                <m:f>
                                  <m:fPr>
                                    <m:ctrlP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|{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: ∃ </m:t>
                                    </m:r>
                                    <m:r>
                                      <a:rPr lang="en-US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𝑑𝑜𝑐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𝑤𝑖𝑡h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𝑓𝑎𝑐𝑒𝑡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}|</m:t>
                                    </m:r>
                                  </m:num>
                                  <m:den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r>
                                      <a:rPr lang="en-001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>
                        <a:solidFill>
                          <a:srgbClr val="1C212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 b="0" i="0" dirty="0">
                              <a:solidFill>
                                <a:srgbClr val="F0F0F5"/>
                              </a:solidFill>
                              <a:latin typeface="Segoe UI"/>
                            </a:rPr>
                            <a:t>Fraction of annotated facets covered by selected k chunks</a:t>
                          </a:r>
                        </a:p>
                      </a:txBody>
                      <a:tcPr anchor="ctr">
                        <a:solidFill>
                          <a:srgbClr val="1C212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29226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1" i="0" dirty="0">
                              <a:solidFill>
                                <a:srgbClr val="4F8CFF"/>
                              </a:solidFill>
                              <a:latin typeface="Segoe UI"/>
                            </a:rPr>
                            <a:t>Fac</a:t>
                          </a:r>
                          <a:r>
                            <a:rPr lang="en-US" sz="1400" b="1" i="0" dirty="0">
                              <a:solidFill>
                                <a:srgbClr val="4F8CFF"/>
                              </a:solidFill>
                              <a:latin typeface="Segoe UI"/>
                            </a:rPr>
                            <a:t>-Loc</a:t>
                          </a:r>
                          <a:r>
                            <a:rPr sz="1400" b="1" i="0" dirty="0">
                              <a:solidFill>
                                <a:srgbClr val="4F8CFF"/>
                              </a:solidFill>
                              <a:latin typeface="Segoe UI"/>
                            </a:rPr>
                            <a:t> Score</a:t>
                          </a:r>
                        </a:p>
                      </a:txBody>
                      <a:tcPr anchor="ctr">
                        <a:solidFill>
                          <a:srgbClr val="21263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l-GR" sz="1600" b="0" i="1" dirty="0" smtClean="0">
                                    <a:solidFill>
                                      <a:srgbClr val="F0F0F5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l-GR" sz="1600" b="0" i="1" dirty="0" smtClean="0">
                                    <a:solidFill>
                                      <a:srgbClr val="F0F0F5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l-GR" sz="1600" b="0" i="1" dirty="0" smtClean="0">
                                    <a:solidFill>
                                      <a:srgbClr val="F0F0F5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l-GR" sz="1600" b="0" i="1" dirty="0" smtClean="0">
                                    <a:solidFill>
                                      <a:srgbClr val="F0F0F5"/>
                                    </a:solidFill>
                                    <a:latin typeface="Cambria Math" panose="02040503050406030204" pitchFamily="18" charset="0"/>
                                  </a:rPr>
                                  <m:t>) = 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l-GR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∈ </m:t>
                                    </m:r>
                                    <m:r>
                                      <a:rPr lang="en-US" sz="16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  <m:sup/>
                                  <m:e>
                                    <m:func>
                                      <m:funcPr>
                                        <m:ctrlPr>
                                          <a:rPr lang="it-IT" sz="1600" b="0" i="1" dirty="0" smtClean="0">
                                            <a:solidFill>
                                              <a:srgbClr val="F0F0F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it-IT" sz="1600" b="0" i="1" dirty="0" smtClean="0">
                                                <a:solidFill>
                                                  <a:srgbClr val="F0F0F5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it-IT" sz="1600" b="0" i="0" dirty="0" smtClean="0">
                                                <a:solidFill>
                                                  <a:srgbClr val="F0F0F5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max</m:t>
                                            </m:r>
                                          </m:e>
                                          <m:lim>
                                            <m:r>
                                              <a:rPr lang="en-US" sz="1600" b="0" i="1" dirty="0" smtClean="0">
                                                <a:solidFill>
                                                  <a:srgbClr val="F0F0F5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sz="1600" b="0" i="1" dirty="0" smtClean="0">
                                                <a:solidFill>
                                                  <a:srgbClr val="F0F0F5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 ∈ </m:t>
                                            </m:r>
                                            <m:r>
                                              <a:rPr lang="en-US" sz="1600" b="0" i="1" dirty="0" smtClean="0">
                                                <a:solidFill>
                                                  <a:srgbClr val="F0F0F5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lim>
                                        </m:limLow>
                                      </m:fName>
                                      <m:e>
                                        <m:r>
                                          <a:rPr lang="en-US" sz="1600" b="0" i="1" dirty="0" smtClean="0">
                                            <a:solidFill>
                                              <a:srgbClr val="F0F0F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𝑠𝑖𝑚</m:t>
                                        </m:r>
                                        <m:r>
                                          <a:rPr lang="en-US" sz="1600" b="0" i="1" dirty="0" smtClean="0">
                                            <a:solidFill>
                                              <a:srgbClr val="F0F0F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1600" b="0" i="1" dirty="0" smtClean="0">
                                            <a:solidFill>
                                              <a:srgbClr val="F0F0F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1600" b="0" i="1" dirty="0" smtClean="0">
                                            <a:solidFill>
                                              <a:srgbClr val="F0F0F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lang="en-US" sz="1600" b="0" i="1" dirty="0" smtClean="0">
                                            <a:solidFill>
                                              <a:srgbClr val="F0F0F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1600" b="0" i="1" dirty="0" smtClean="0">
                                            <a:solidFill>
                                              <a:srgbClr val="F0F0F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func>
                                  </m:e>
                                </m:nary>
                              </m:oMath>
                            </m:oMathPara>
                          </a14:m>
                          <a:endParaRPr sz="2000" dirty="0"/>
                        </a:p>
                      </a:txBody>
                      <a:tcPr anchor="ctr">
                        <a:solidFill>
                          <a:srgbClr val="21263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 b="0" i="0">
                              <a:solidFill>
                                <a:srgbClr val="F0F0F5"/>
                              </a:solidFill>
                              <a:latin typeface="Segoe UI"/>
                            </a:rPr>
                            <a:t>Representativeness of S over candidate pool D</a:t>
                          </a:r>
                        </a:p>
                      </a:txBody>
                      <a:tcPr anchor="ctr">
                        <a:solidFill>
                          <a:srgbClr val="21263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63777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1" i="0">
                              <a:solidFill>
                                <a:srgbClr val="4F8CFF"/>
                              </a:solidFill>
                              <a:latin typeface="Segoe UI"/>
                            </a:rPr>
                            <a:t>Jaccard</a:t>
                          </a:r>
                        </a:p>
                      </a:txBody>
                      <a:tcPr anchor="ctr">
                        <a:solidFill>
                          <a:srgbClr val="1C212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001" sz="1800" b="0" i="1" dirty="0" smtClean="0">
                                    <a:solidFill>
                                      <a:srgbClr val="F0F0F5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  <m:r>
                                  <a:rPr lang="en-001" sz="1800" b="0" i="1" dirty="0" smtClean="0">
                                    <a:solidFill>
                                      <a:srgbClr val="F0F0F5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001" sz="18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8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</m:sub>
                                </m:sSub>
                                <m:r>
                                  <a:rPr lang="en-US" sz="1800" b="0" i="1" dirty="0" smtClean="0">
                                    <a:solidFill>
                                      <a:srgbClr val="F0F0F5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001" sz="1800" b="0" i="1" dirty="0" smtClean="0">
                                    <a:solidFill>
                                      <a:srgbClr val="F0F0F5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001" sz="18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18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8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𝑡𝑜𝑝</m:t>
                                    </m:r>
                                    <m:r>
                                      <a:rPr lang="en-US" sz="18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800" b="0" i="1" dirty="0" smtClean="0">
                                        <a:solidFill>
                                          <a:srgbClr val="F0F0F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001" sz="1800" b="0" i="1" dirty="0" smtClean="0">
                                    <a:solidFill>
                                      <a:srgbClr val="F0F0F5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2400" dirty="0"/>
                        </a:p>
                      </a:txBody>
                      <a:tcPr anchor="ctr">
                        <a:solidFill>
                          <a:srgbClr val="1C212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 b="0" i="0" dirty="0">
                              <a:solidFill>
                                <a:srgbClr val="F0F0F5"/>
                              </a:solidFill>
                              <a:latin typeface="Segoe UI"/>
                            </a:rPr>
                            <a:t>Overlap with baseline</a:t>
                          </a:r>
                          <a:r>
                            <a:rPr lang="en-US" sz="1600" b="0" i="0" dirty="0">
                              <a:solidFill>
                                <a:srgbClr val="F0F0F5"/>
                              </a:solidFill>
                              <a:latin typeface="Segoe UI"/>
                            </a:rPr>
                            <a:t>. </a:t>
                          </a:r>
                          <a:r>
                            <a:rPr sz="1600" b="0" i="0" dirty="0">
                              <a:solidFill>
                                <a:srgbClr val="F0F0F5"/>
                              </a:solidFill>
                              <a:latin typeface="Segoe UI"/>
                            </a:rPr>
                            <a:t>J≈1: no change</a:t>
                          </a:r>
                        </a:p>
                      </a:txBody>
                      <a:tcPr anchor="ctr">
                        <a:solidFill>
                          <a:srgbClr val="1C212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25573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1" i="0">
                              <a:solidFill>
                                <a:srgbClr val="4F8CFF"/>
                              </a:solidFill>
                              <a:latin typeface="Segoe UI"/>
                            </a:rPr>
                            <a:t>DocRec / FactRec</a:t>
                          </a:r>
                        </a:p>
                      </a:txBody>
                      <a:tcPr anchor="ctr">
                        <a:solidFill>
                          <a:srgbClr val="21263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 b="0" i="0" dirty="0">
                              <a:solidFill>
                                <a:srgbClr val="F0F0F5"/>
                              </a:solidFill>
                              <a:latin typeface="Segoe UI"/>
                            </a:rPr>
                            <a:t>Gold doc/fact fraction recovered</a:t>
                          </a:r>
                        </a:p>
                      </a:txBody>
                      <a:tcPr anchor="ctr">
                        <a:solidFill>
                          <a:srgbClr val="21263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 b="0" i="0" dirty="0">
                              <a:solidFill>
                                <a:srgbClr val="F0F0F5"/>
                              </a:solidFill>
                              <a:latin typeface="Segoe UI"/>
                            </a:rPr>
                            <a:t>How many gold documents/facts are in the selection</a:t>
                          </a:r>
                        </a:p>
                      </a:txBody>
                      <a:tcPr anchor="ctr">
                        <a:solidFill>
                          <a:srgbClr val="21263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2014704"/>
                  </p:ext>
                </p:extLst>
              </p:nvPr>
            </p:nvGraphicFramePr>
            <p:xfrm>
              <a:off x="1046480" y="1645919"/>
              <a:ext cx="10099040" cy="3777585"/>
            </p:xfrm>
            <a:graphic>
              <a:graphicData uri="http://schemas.openxmlformats.org/drawingml/2006/table">
                <a:tbl>
                  <a:tblPr>
                    <a:tableStyleId>{00000000-0000-0000-0000-000000000000}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42139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84884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837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b="1" i="0" dirty="0">
                              <a:solidFill>
                                <a:schemeClr val="bg1"/>
                              </a:solidFill>
                              <a:latin typeface="Segoe UI"/>
                            </a:rPr>
                            <a:t>Metric</a:t>
                          </a:r>
                        </a:p>
                      </a:txBody>
                      <a:tcPr anchor="ctr">
                        <a:solidFill>
                          <a:schemeClr val="tx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b="1" i="0" dirty="0">
                              <a:solidFill>
                                <a:schemeClr val="bg1"/>
                              </a:solidFill>
                              <a:latin typeface="Segoe UI"/>
                            </a:rPr>
                            <a:t>Definition</a:t>
                          </a:r>
                        </a:p>
                      </a:txBody>
                      <a:tcPr anchor="ctr">
                        <a:solidFill>
                          <a:schemeClr val="tx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500" b="1" i="0" dirty="0">
                              <a:solidFill>
                                <a:schemeClr val="bg1"/>
                              </a:solidFill>
                              <a:latin typeface="Segoe UI"/>
                            </a:rPr>
                            <a:t>Measures</a:t>
                          </a:r>
                        </a:p>
                      </a:txBody>
                      <a:tcPr anchor="ctr">
                        <a:solidFill>
                          <a:schemeClr val="tx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75294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1" i="0">
                              <a:solidFill>
                                <a:srgbClr val="4F8CFF"/>
                              </a:solidFill>
                              <a:latin typeface="Segoe UI"/>
                            </a:rPr>
                            <a:t>Aspect Recall</a:t>
                          </a:r>
                        </a:p>
                      </a:txBody>
                      <a:tcPr anchor="ctr">
                        <a:solidFill>
                          <a:srgbClr val="1C212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1460" t="-56643" r="-87328" b="-2797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 b="0" i="0" dirty="0">
                              <a:solidFill>
                                <a:srgbClr val="F0F0F5"/>
                              </a:solidFill>
                              <a:latin typeface="Segoe UI"/>
                            </a:rPr>
                            <a:t>Fraction of annotated facets covered by selected k chunks</a:t>
                          </a:r>
                        </a:p>
                      </a:txBody>
                      <a:tcPr anchor="ctr">
                        <a:solidFill>
                          <a:srgbClr val="1C212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29226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1" i="0" dirty="0">
                              <a:solidFill>
                                <a:srgbClr val="4F8CFF"/>
                              </a:solidFill>
                              <a:latin typeface="Segoe UI"/>
                            </a:rPr>
                            <a:t>Fac</a:t>
                          </a:r>
                          <a:r>
                            <a:rPr lang="en-US" sz="1400" b="1" i="0" dirty="0">
                              <a:solidFill>
                                <a:srgbClr val="4F8CFF"/>
                              </a:solidFill>
                              <a:latin typeface="Segoe UI"/>
                            </a:rPr>
                            <a:t>-Loc</a:t>
                          </a:r>
                          <a:r>
                            <a:rPr sz="1400" b="1" i="0" dirty="0">
                              <a:solidFill>
                                <a:srgbClr val="4F8CFF"/>
                              </a:solidFill>
                              <a:latin typeface="Segoe UI"/>
                            </a:rPr>
                            <a:t> Score</a:t>
                          </a:r>
                        </a:p>
                      </a:txBody>
                      <a:tcPr anchor="ctr">
                        <a:solidFill>
                          <a:srgbClr val="21263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1460" t="-163504" r="-87328" b="-1919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 b="0" i="0">
                              <a:solidFill>
                                <a:srgbClr val="F0F0F5"/>
                              </a:solidFill>
                              <a:latin typeface="Segoe UI"/>
                            </a:rPr>
                            <a:t>Representativeness of S over candidate pool D</a:t>
                          </a:r>
                        </a:p>
                      </a:txBody>
                      <a:tcPr anchor="ctr">
                        <a:solidFill>
                          <a:srgbClr val="21263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63777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1" i="0">
                              <a:solidFill>
                                <a:srgbClr val="4F8CFF"/>
                              </a:solidFill>
                              <a:latin typeface="Segoe UI"/>
                            </a:rPr>
                            <a:t>Jaccard</a:t>
                          </a:r>
                        </a:p>
                      </a:txBody>
                      <a:tcPr anchor="ctr">
                        <a:solidFill>
                          <a:srgbClr val="1C212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1460" t="-254225" r="-87328" b="-85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 b="0" i="0" dirty="0">
                              <a:solidFill>
                                <a:srgbClr val="F0F0F5"/>
                              </a:solidFill>
                              <a:latin typeface="Segoe UI"/>
                            </a:rPr>
                            <a:t>Overlap with baseline</a:t>
                          </a:r>
                          <a:r>
                            <a:rPr lang="en-US" sz="1600" b="0" i="0" dirty="0">
                              <a:solidFill>
                                <a:srgbClr val="F0F0F5"/>
                              </a:solidFill>
                              <a:latin typeface="Segoe UI"/>
                            </a:rPr>
                            <a:t>. </a:t>
                          </a:r>
                          <a:r>
                            <a:rPr sz="1600" b="0" i="0" dirty="0">
                              <a:solidFill>
                                <a:srgbClr val="F0F0F5"/>
                              </a:solidFill>
                              <a:latin typeface="Segoe UI"/>
                            </a:rPr>
                            <a:t>J≈1: no change</a:t>
                          </a:r>
                        </a:p>
                      </a:txBody>
                      <a:tcPr anchor="ctr">
                        <a:solidFill>
                          <a:srgbClr val="1C212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25573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400" b="1" i="0">
                              <a:solidFill>
                                <a:srgbClr val="4F8CFF"/>
                              </a:solidFill>
                              <a:latin typeface="Segoe UI"/>
                            </a:rPr>
                            <a:t>DocRec / FactRec</a:t>
                          </a:r>
                        </a:p>
                      </a:txBody>
                      <a:tcPr anchor="ctr">
                        <a:solidFill>
                          <a:srgbClr val="21263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 b="0" i="0" dirty="0">
                              <a:solidFill>
                                <a:srgbClr val="F0F0F5"/>
                              </a:solidFill>
                              <a:latin typeface="Segoe UI"/>
                            </a:rPr>
                            <a:t>Gold doc/fact fraction recovered</a:t>
                          </a:r>
                        </a:p>
                      </a:txBody>
                      <a:tcPr anchor="ctr">
                        <a:solidFill>
                          <a:srgbClr val="21263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 b="0" i="0" dirty="0">
                              <a:solidFill>
                                <a:srgbClr val="F0F0F5"/>
                              </a:solidFill>
                              <a:latin typeface="Segoe UI"/>
                            </a:rPr>
                            <a:t>How many gold documents/facts are in the selection</a:t>
                          </a:r>
                        </a:p>
                      </a:txBody>
                      <a:tcPr anchor="ctr">
                        <a:solidFill>
                          <a:srgbClr val="21263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/>
          <p:cNvSpPr txBox="1"/>
          <p:nvPr/>
        </p:nvSpPr>
        <p:spPr>
          <a:xfrm>
            <a:off x="822960" y="5803233"/>
            <a:ext cx="679647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dirty="0">
                <a:solidFill>
                  <a:schemeClr val="bg1"/>
                </a:solidFill>
                <a:latin typeface="Segoe UI"/>
              </a:rPr>
              <a:t>Methods: </a:t>
            </a:r>
            <a:r>
              <a:rPr sz="2000" b="0" i="0" dirty="0">
                <a:solidFill>
                  <a:schemeClr val="bg1"/>
                </a:solidFill>
                <a:latin typeface="Segoe UI"/>
              </a:rPr>
              <a:t>top-k (baseline)</a:t>
            </a:r>
            <a:r>
              <a:rPr lang="en-US" sz="2000" b="0" i="0" dirty="0">
                <a:solidFill>
                  <a:schemeClr val="bg1"/>
                </a:solidFill>
                <a:latin typeface="Segoe UI"/>
              </a:rPr>
              <a:t>, </a:t>
            </a:r>
            <a:r>
              <a:rPr sz="2000" b="0" i="0" dirty="0">
                <a:solidFill>
                  <a:srgbClr val="FFAB40"/>
                </a:solidFill>
                <a:latin typeface="Segoe UI"/>
              </a:rPr>
              <a:t>MMR</a:t>
            </a:r>
            <a:r>
              <a:rPr lang="en-US" sz="2000" dirty="0">
                <a:solidFill>
                  <a:srgbClr val="FFAB40"/>
                </a:solidFill>
                <a:latin typeface="Segoe UI"/>
              </a:rPr>
              <a:t>, </a:t>
            </a:r>
            <a:r>
              <a:rPr sz="2000" b="0" i="0" dirty="0" err="1">
                <a:solidFill>
                  <a:srgbClr val="FFAB40"/>
                </a:solidFill>
                <a:latin typeface="Segoe UI"/>
              </a:rPr>
              <a:t>gMMR</a:t>
            </a:r>
            <a:r>
              <a:rPr lang="en-US" sz="2000" dirty="0">
                <a:solidFill>
                  <a:srgbClr val="FFAB40"/>
                </a:solidFill>
                <a:latin typeface="Segoe UI"/>
              </a:rPr>
              <a:t>, </a:t>
            </a:r>
            <a:r>
              <a:rPr sz="2000" b="0" i="0" dirty="0">
                <a:solidFill>
                  <a:srgbClr val="48C78E"/>
                </a:solidFill>
                <a:latin typeface="Segoe UI"/>
              </a:rPr>
              <a:t>facility-location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173B3C-97BE-4147-7F6C-D9BCF4C9B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rgbClr val="F0F0F5"/>
                </a:solidFill>
                <a:latin typeface="Segoe UI"/>
              </a:rPr>
              <a:t>Pros &amp; Cons</a:t>
            </a:r>
            <a:endParaRPr sz="3200" b="1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27554"/>
            <a:ext cx="5212080" cy="2709284"/>
          </a:xfrm>
          <a:prstGeom prst="roundRect">
            <a:avLst>
              <a:gd name="adj" fmla="val 5000"/>
            </a:avLst>
          </a:prstGeom>
          <a:solidFill>
            <a:srgbClr val="20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spcAft>
                <a:spcPts val="1000"/>
              </a:spcAft>
            </a:pPr>
            <a:r>
              <a:rPr lang="it-IT" sz="2400" i="0" dirty="0">
                <a:solidFill>
                  <a:srgbClr val="48C78E"/>
                </a:solidFill>
                <a:latin typeface="Segoe UI"/>
              </a:rPr>
              <a:t>Pros</a:t>
            </a:r>
            <a:endParaRPr lang="en-001" sz="2800" i="0" dirty="0">
              <a:solidFill>
                <a:srgbClr val="48C78E"/>
              </a:solidFill>
              <a:latin typeface="Segoe UI"/>
            </a:endParaRPr>
          </a:p>
          <a:p>
            <a:pPr marL="285750" indent="-285750"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Multi-aspect queries tailored to coverage hypothesis</a:t>
            </a:r>
            <a:endParaRPr lang="en-US" b="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  <a:p>
            <a:pPr marL="285750" indent="-285750"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it-IT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Dataset seems suitable for coverage</a:t>
            </a:r>
            <a:endParaRPr b="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  <a:p>
            <a:pPr marL="285750" indent="-285750"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Gold sets with facet labels enable </a:t>
            </a:r>
            <a:r>
              <a:rPr lang="en-US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granular evaluation metrics</a:t>
            </a:r>
            <a:endParaRPr b="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56962" y="1427554"/>
            <a:ext cx="5212080" cy="5156126"/>
          </a:xfrm>
          <a:prstGeom prst="roundRect">
            <a:avLst>
              <a:gd name="adj" fmla="val 5000"/>
            </a:avLst>
          </a:prstGeom>
          <a:solidFill>
            <a:srgbClr val="20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spcAft>
                <a:spcPts val="1000"/>
              </a:spcAft>
            </a:pPr>
            <a:r>
              <a:rPr lang="en-US" sz="2400" i="0" dirty="0">
                <a:solidFill>
                  <a:srgbClr val="EB5757"/>
                </a:solidFill>
                <a:latin typeface="Segoe UI"/>
              </a:rPr>
              <a:t>Cons</a:t>
            </a:r>
            <a:endParaRPr sz="1700" i="0" dirty="0">
              <a:solidFill>
                <a:srgbClr val="EB5757"/>
              </a:solidFill>
              <a:latin typeface="Segoe UI"/>
            </a:endParaRPr>
          </a:p>
          <a:p>
            <a:pPr marL="285750" indent="-285750"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it-IT"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Discharge notes may be complex to parse and interpret</a:t>
            </a:r>
          </a:p>
          <a:p>
            <a:pPr marL="285750" indent="-285750"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it-IT" sz="170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De-identification detrimental for semantics</a:t>
            </a:r>
            <a:endParaRPr lang="it-IT" sz="1700" b="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  <a:p>
            <a:pPr marL="285750" indent="-285750"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it-IT"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No guarantee about embedding distribution with the contextual prefix</a:t>
            </a:r>
          </a:p>
          <a:p>
            <a:pPr marL="285750" indent="-285750"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it-IT" sz="170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Query is still LLM-generated</a:t>
            </a:r>
            <a:endParaRPr lang="en-US" sz="1700" b="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  <a:p>
            <a:pPr marL="285750" indent="-285750"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it-IT"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LLM g</a:t>
            </a:r>
            <a:r>
              <a:rPr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old annotation is expensive and noisy</a:t>
            </a:r>
            <a:endParaRPr lang="en-US" sz="1700" b="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  <a:p>
            <a:pPr marL="285750" indent="-285750"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it-IT" sz="170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Facet labels depend on LLM judgment</a:t>
            </a:r>
            <a:endParaRPr lang="en-US" sz="1700" b="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  <a:p>
            <a:pPr marL="285750" indent="-285750"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Local inference (DUA)</a:t>
            </a:r>
            <a:r>
              <a:rPr lang="en-US"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. S</a:t>
            </a:r>
            <a:r>
              <a:rPr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lower, smaller models</a:t>
            </a:r>
          </a:p>
          <a:p>
            <a:pPr marL="285750" indent="-285750"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Many moving parts before first result</a:t>
            </a:r>
          </a:p>
          <a:p>
            <a:pPr marL="285750" indent="-285750"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No existing benchmark to compare against</a:t>
            </a:r>
            <a:endParaRPr lang="en-US" sz="1700" b="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  <a:p>
            <a:pPr marL="285750" indent="-285750"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it-IT" sz="170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human validation?</a:t>
            </a:r>
            <a:endParaRPr sz="170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87F070C-A8AA-4873-B4E4-9823FCA0F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i="0" dirty="0">
                <a:solidFill>
                  <a:srgbClr val="F0F0F5"/>
                </a:solidFill>
                <a:latin typeface="Segoe UI"/>
              </a:rPr>
              <a:t>End</a:t>
            </a:r>
            <a:endParaRPr sz="4000" b="1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3474720"/>
            <a:ext cx="182880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B3AB3-DCF1-540C-C288-5BCA0E557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</TotalTime>
  <Words>1182</Words>
  <Application>Microsoft Office PowerPoint</Application>
  <PresentationFormat>Widescreen</PresentationFormat>
  <Paragraphs>197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Arial</vt:lpstr>
      <vt:lpstr>Calibri</vt:lpstr>
      <vt:lpstr>Cambria Math</vt:lpstr>
      <vt:lpstr>JetBrains Mono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Fabrizio Pagnozzi</cp:lastModifiedBy>
  <cp:revision>101</cp:revision>
  <dcterms:created xsi:type="dcterms:W3CDTF">2013-01-27T09:14:16Z</dcterms:created>
  <dcterms:modified xsi:type="dcterms:W3CDTF">2026-03-30T10:34:44Z</dcterms:modified>
  <cp:category/>
</cp:coreProperties>
</file>