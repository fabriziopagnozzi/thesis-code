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0" r:id="rId3"/>
    <p:sldId id="279" r:id="rId4"/>
    <p:sldId id="257" r:id="rId5"/>
    <p:sldId id="287" r:id="rId6"/>
    <p:sldId id="258" r:id="rId7"/>
    <p:sldId id="289" r:id="rId8"/>
    <p:sldId id="259" r:id="rId9"/>
    <p:sldId id="278" r:id="rId10"/>
    <p:sldId id="285" r:id="rId11"/>
    <p:sldId id="262" r:id="rId12"/>
    <p:sldId id="280" r:id="rId13"/>
    <p:sldId id="265" r:id="rId14"/>
    <p:sldId id="284" r:id="rId15"/>
    <p:sldId id="268" r:id="rId16"/>
    <p:sldId id="277" r:id="rId17"/>
    <p:sldId id="264" r:id="rId18"/>
    <p:sldId id="286" r:id="rId19"/>
    <p:sldId id="281" r:id="rId20"/>
    <p:sldId id="270" r:id="rId21"/>
    <p:sldId id="283" r:id="rId22"/>
    <p:sldId id="271" r:id="rId23"/>
    <p:sldId id="269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C78E"/>
    <a:srgbClr val="FFAB40"/>
    <a:srgbClr val="4F8CFF"/>
    <a:srgbClr val="212636"/>
    <a:srgbClr val="1C2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72" autoAdjust="0"/>
  </p:normalViewPr>
  <p:slideViewPr>
    <p:cSldViewPr snapToGrid="0" snapToObjects="1">
      <p:cViewPr>
        <p:scale>
          <a:sx n="75" d="100"/>
          <a:sy n="75" d="100"/>
        </p:scale>
        <p:origin x="946" y="269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5136B-D240-4AC1-860D-A53BD70B9DD0}" type="datetimeFigureOut">
              <a:rPr lang="LID4096" smtClean="0"/>
              <a:t>03/29/2026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BEF9-DC59-42C5-8EB6-D4529DDE25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73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6C467-44DF-404A-AD8D-BD7FC61F89E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CFE6-D184-487A-ACD8-A82DCF433FE4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5D13-F6BB-4CFE-9D3A-C12C7FF7146A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6912-22D9-4F6C-B8D3-B4D2C75C002C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3F3C-ACFC-4546-A995-7A6F4D5F2C2F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4C59-E9D1-4841-8245-1515E61AFD97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E2A83-F9D6-485C-B62C-7D807D9F4EEC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65360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34C42-C467-4317-9AB6-F6377EDB2B46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A7F95-4EC6-49DA-B964-0DFF9C20A579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8645-AF42-4890-A560-4B70522C4AFC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94C5-6E2F-4E41-B8EF-647314903EE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C62E3-A9B5-4551-83D8-3C193A9C17D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183880" y="1280160"/>
            <a:ext cx="2286000" cy="2286000"/>
          </a:xfrm>
          <a:prstGeom prst="ellipse">
            <a:avLst/>
          </a:prstGeom>
          <a:gradFill flip="none" rotWithShape="1">
            <a:gsLst>
              <a:gs pos="0">
                <a:srgbClr val="28375A">
                  <a:shade val="30000"/>
                  <a:satMod val="115000"/>
                </a:srgbClr>
              </a:gs>
              <a:gs pos="50000">
                <a:srgbClr val="28375A">
                  <a:shade val="67500"/>
                  <a:satMod val="115000"/>
                </a:srgbClr>
              </a:gs>
              <a:gs pos="100000">
                <a:srgbClr val="28375A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42832" y="4549706"/>
            <a:ext cx="1371600" cy="1371600"/>
          </a:xfrm>
          <a:prstGeom prst="ellipse">
            <a:avLst/>
          </a:prstGeom>
          <a:gradFill flip="none" rotWithShape="1">
            <a:gsLst>
              <a:gs pos="0">
                <a:srgbClr val="23304E">
                  <a:shade val="30000"/>
                  <a:satMod val="115000"/>
                </a:srgbClr>
              </a:gs>
              <a:gs pos="50000">
                <a:srgbClr val="23304E">
                  <a:shade val="67500"/>
                  <a:satMod val="115000"/>
                </a:srgbClr>
              </a:gs>
              <a:gs pos="100000">
                <a:srgbClr val="23304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69880" y="356616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2D3C5F">
                  <a:shade val="30000"/>
                  <a:satMod val="115000"/>
                </a:srgbClr>
              </a:gs>
              <a:gs pos="50000">
                <a:srgbClr val="2D3C5F">
                  <a:shade val="67500"/>
                  <a:satMod val="115000"/>
                </a:srgbClr>
              </a:gs>
              <a:gs pos="100000">
                <a:srgbClr val="2D3C5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4400" b="1" i="0" dirty="0">
                <a:solidFill>
                  <a:srgbClr val="F0F0F5"/>
                </a:solidFill>
                <a:latin typeface="Segoe UI"/>
              </a:rPr>
              <a:t> </a:t>
            </a:r>
            <a:r>
              <a:rPr lang="en-US" sz="4400" b="1" i="0" dirty="0">
                <a:solidFill>
                  <a:srgbClr val="F0F0F5"/>
                </a:solidFill>
                <a:latin typeface="Segoe UI"/>
              </a:rPr>
              <a:t>Dataset </a:t>
            </a:r>
          </a:p>
          <a:p>
            <a:r>
              <a:rPr sz="4400" b="1" i="0" dirty="0">
                <a:solidFill>
                  <a:srgbClr val="F0F0F5"/>
                </a:solidFill>
                <a:latin typeface="Segoe UI"/>
              </a:rPr>
              <a:t>QA Benchmark</a:t>
            </a:r>
            <a:r>
              <a:rPr lang="en-US" sz="4400" b="1" i="0" dirty="0">
                <a:solidFill>
                  <a:srgbClr val="F0F0F5"/>
                </a:solidFill>
                <a:latin typeface="Segoe UI"/>
              </a:rPr>
              <a:t> for Coverage</a:t>
            </a:r>
            <a:endParaRPr sz="44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3566160"/>
            <a:ext cx="274320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0" i="0" dirty="0">
                <a:solidFill>
                  <a:srgbClr val="A0A8BE"/>
                </a:solidFill>
                <a:latin typeface="Segoe UI"/>
              </a:rPr>
              <a:t>Diversity </a:t>
            </a:r>
            <a:r>
              <a:rPr lang="it-IT" sz="2200" b="0" i="0" dirty="0">
                <a:solidFill>
                  <a:srgbClr val="A0A8BE"/>
                </a:solidFill>
                <a:latin typeface="Segoe UI"/>
              </a:rPr>
              <a:t>in RAG Retrieval</a:t>
            </a:r>
            <a:endParaRPr sz="2200" b="0" i="0" dirty="0">
              <a:solidFill>
                <a:srgbClr val="A0A8BE"/>
              </a:solidFill>
              <a:latin typeface="Segoe U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40976-18A3-DF25-DD75-83DF8BF9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28796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8500"/>
            <a:ext cx="8948569" cy="400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1. 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Why build a benchmark on medical data?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2.  Coverage: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Fa</a:t>
            </a: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cility-Location 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</a:t>
            </a: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bjective</a:t>
            </a:r>
            <a:endParaRPr lang="en-US"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it-IT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3.  </a:t>
            </a: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Ideal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ataset for diversity</a:t>
            </a:r>
            <a:endParaRPr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4.  MIMIC-IV 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</a:t>
            </a: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ataset</a:t>
            </a:r>
            <a:endParaRPr lang="en-US"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800100" lvl="1" indent="-34290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Overview</a:t>
            </a:r>
            <a:endParaRPr lang="en-US"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800100" lvl="1" indent="-34290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Motivations for coverage suitability</a:t>
            </a:r>
          </a:p>
          <a:p>
            <a:pPr>
              <a:lnSpc>
                <a:spcPct val="150000"/>
              </a:lnSpc>
              <a:spcBef>
                <a:spcPts val="1000"/>
              </a:spcBef>
              <a:spcAft>
                <a:spcPts val="400"/>
              </a:spcAft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5.  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Experimental pipeline for building QA benchmark</a:t>
            </a:r>
            <a:endParaRPr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Why Build a Benchmark on medical data?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99307"/>
            <a:ext cx="10105016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sz="2000" b="0" i="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Need to show coverage wins when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candidate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pools have multi-cluster structure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dirty="0">
                <a:solidFill>
                  <a:srgbClr val="F0F0F5"/>
                </a:solidFill>
                <a:latin typeface="Segoe UI"/>
              </a:rPr>
              <a:t>Medical data is multi-faceted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A</a:t>
            </a:r>
            <a:r>
              <a:rPr lang="it-IT" sz="2000" dirty="0">
                <a:solidFill>
                  <a:srgbClr val="B4B9C8"/>
                </a:solidFill>
                <a:latin typeface="Segoe UI"/>
              </a:rPr>
              <a:t>spects: diagnosis, treatment, complications, comorbidities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it-IT" sz="2000" dirty="0">
                <a:solidFill>
                  <a:srgbClr val="48C78E"/>
                </a:solidFill>
                <a:latin typeface="Segoe UI"/>
              </a:rPr>
              <a:t>▸ Example of queries: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"How is pneumonia managed in elderly patients with CKD (Complex Kidney Disease)?“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“What are the symptoms of stroke, and how does the treatment differ if the patient has a prior history of myocardial infarction?"</a:t>
            </a:r>
            <a:endParaRPr lang="en-US" sz="2000" dirty="0">
              <a:solidFill>
                <a:srgbClr val="828796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4796A9-812B-7552-8D35-4C8271B3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Ideal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for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Diversity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8FE352-D30D-7819-84B2-C2854053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813B8-4B50-CC78-30FC-C125A3D37C29}"/>
              </a:ext>
            </a:extLst>
          </p:cNvPr>
          <p:cNvSpPr txBox="1"/>
          <p:nvPr/>
        </p:nvSpPr>
        <p:spPr>
          <a:xfrm>
            <a:off x="822960" y="1646907"/>
            <a:ext cx="1007812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chemeClr val="bg1"/>
                </a:solidFill>
                <a:latin typeface="Segoe UI"/>
              </a:rPr>
              <a:t>Given a query, the ideal document pool candidates should have:</a:t>
            </a:r>
          </a:p>
          <a:p>
            <a:pPr lvl="1"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sz="2000" b="0" i="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Redundant central cluster: </a:t>
            </a:r>
            <a:r>
              <a:rPr lang="it-IT" sz="2000" dirty="0">
                <a:solidFill>
                  <a:srgbClr val="F0F0F5"/>
                </a:solidFill>
                <a:latin typeface="Segoe UI"/>
              </a:rPr>
              <a:t>dominant topic, many similar documents</a:t>
            </a:r>
            <a:endParaRPr sz="2000" b="0" i="0" dirty="0">
              <a:solidFill>
                <a:srgbClr val="F0F0F5"/>
              </a:solidFill>
              <a:latin typeface="Segoe UI"/>
            </a:endParaRP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Complementary cluster(s):  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other </a:t>
            </a:r>
            <a:r>
              <a:rPr lang="en-US" sz="2000" b="1" dirty="0">
                <a:solidFill>
                  <a:srgbClr val="F0F0F5"/>
                </a:solidFill>
                <a:latin typeface="Segoe UI"/>
              </a:rPr>
              <a:t>relevant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 aspects for the query</a:t>
            </a:r>
            <a:endParaRPr lang="en-US" sz="2000" b="1" dirty="0">
              <a:solidFill>
                <a:srgbClr val="4F8CFF"/>
              </a:solidFill>
              <a:latin typeface="Segoe UI"/>
            </a:endParaRP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Niche cluster: 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smaller set of </a:t>
            </a:r>
            <a:r>
              <a:rPr lang="en-US" sz="2000" b="1" dirty="0">
                <a:solidFill>
                  <a:srgbClr val="F0F0F5"/>
                </a:solidFill>
                <a:latin typeface="Segoe UI"/>
              </a:rPr>
              <a:t>relevant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 data points</a:t>
            </a: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FFAB40"/>
                </a:solidFill>
                <a:latin typeface="Segoe UI"/>
              </a:rPr>
              <a:t>▸ </a:t>
            </a:r>
            <a:r>
              <a:rPr lang="it-IT" sz="2000" dirty="0">
                <a:solidFill>
                  <a:srgbClr val="4F8CFF"/>
                </a:solidFill>
                <a:latin typeface="Segoe UI"/>
              </a:rPr>
              <a:t> </a:t>
            </a:r>
            <a:r>
              <a:rPr lang="it-IT" sz="2000" b="1" dirty="0">
                <a:solidFill>
                  <a:srgbClr val="FFAB40"/>
                </a:solidFill>
                <a:latin typeface="Segoe UI"/>
              </a:rPr>
              <a:t>Outliers: </a:t>
            </a:r>
            <a:r>
              <a:rPr lang="it-IT" sz="2000" dirty="0">
                <a:solidFill>
                  <a:srgbClr val="F0F0F5"/>
                </a:solidFill>
                <a:latin typeface="Segoe UI"/>
              </a:rPr>
              <a:t>noise, or genuine isolated points relevant to the query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Coverage: Facility-Location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 Objective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22960" y="1554480"/>
                <a:ext cx="10911840" cy="4035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:r>
                  <a:rPr lang="en-001" sz="2000" dirty="0">
                    <a:solidFill>
                      <a:srgbClr val="4F8CFF"/>
                    </a:solidFill>
                    <a:latin typeface="Segoe UI"/>
                  </a:rPr>
                  <a:t>▸</a:t>
                </a:r>
                <a:r>
                  <a:rPr lang="it-IT" sz="2000" dirty="0">
                    <a:solidFill>
                      <a:srgbClr val="F0F0F5"/>
                    </a:solidFill>
                    <a:latin typeface="Segoe UI"/>
                  </a:rPr>
                  <a:t> Objective function</a:t>
                </a:r>
              </a:p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F0F0F5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F0F0F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F0F0F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F0F0F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ar-AE" sz="200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ar-AE" sz="2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𝑢𝑡𝑖𝑙𝑖𝑡𝑦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∈ </m:t>
                          </m:r>
                          <m: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it-IT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e>
                                <m:lim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∈ </m:t>
                                  </m:r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𝒔𝒊𝒎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ar-AE" sz="2000" b="1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1600" b="0" i="0" dirty="0">
                  <a:solidFill>
                    <a:srgbClr val="828796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Every item in the candidate pool D has a representative in </a:t>
                </a: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S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Respects data distribution rather than maximizing spread between items</a:t>
                </a:r>
                <a:r>
                  <a:rPr lang="it-IT" sz="1600" b="0" i="0" dirty="0">
                    <a:solidFill>
                      <a:srgbClr val="828796"/>
                    </a:solidFill>
                    <a:latin typeface="Segoe UI"/>
                  </a:rPr>
                  <a:t>       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2000" b="0" i="0" dirty="0">
                  <a:solidFill>
                    <a:srgbClr val="4F8CFF"/>
                  </a:solidFill>
                  <a:latin typeface="Segoe UI"/>
                </a:endParaRPr>
              </a:p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:r>
                  <a:rPr lang="en-001" sz="2000" dirty="0">
                    <a:solidFill>
                      <a:srgbClr val="4F8CFF"/>
                    </a:solidFill>
                    <a:latin typeface="Segoe UI"/>
                  </a:rPr>
                  <a:t>▸</a:t>
                </a:r>
                <a:r>
                  <a:rPr lang="it-IT" sz="2000" i="0" dirty="0">
                    <a:solidFill>
                      <a:srgbClr val="48C78E"/>
                    </a:solidFill>
                    <a:latin typeface="Segoe UI"/>
                  </a:rPr>
                  <a:t> 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Theoretical guarantees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g(S) is monotone submodular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Greedy selection gives (1 − 1/e) ≈ 0.632 approximation w.r.t. optimal solution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No such guarantee exists for </a:t>
                </a:r>
                <a:r>
                  <a:rPr lang="it-IT" b="0" i="1" dirty="0">
                    <a:solidFill>
                      <a:srgbClr val="B4B9C8"/>
                    </a:solidFill>
                    <a:latin typeface="Segoe UI"/>
                  </a:rPr>
                  <a:t>dispersion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 (NP-hard)</a:t>
                </a:r>
                <a:endParaRPr b="0" i="0" dirty="0">
                  <a:solidFill>
                    <a:srgbClr val="B4B9C8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54480"/>
                <a:ext cx="10911840" cy="4035400"/>
              </a:xfrm>
              <a:prstGeom prst="rect">
                <a:avLst/>
              </a:prstGeom>
              <a:blipFill>
                <a:blip r:embed="rId2"/>
                <a:stretch>
                  <a:fillRect l="-559" t="-755" b="-15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5C435B-AD19-162C-3762-FA37365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22153"/>
            <a:ext cx="105440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: tabular clinical data (diagnoses, procedures, meds, labs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, measurements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i="1" dirty="0">
                <a:solidFill>
                  <a:srgbClr val="FFAB40"/>
                </a:solidFill>
                <a:latin typeface="Segoe UI"/>
              </a:rPr>
              <a:t>MIMIC-IV-Note</a:t>
            </a:r>
            <a:r>
              <a:rPr sz="2000" b="0" i="0" dirty="0">
                <a:solidFill>
                  <a:schemeClr val="bg1"/>
                </a:solidFill>
                <a:latin typeface="Segoe UI"/>
              </a:rPr>
              <a:t>: free-text</a:t>
            </a:r>
            <a:r>
              <a:rPr lang="en-US" sz="2000" dirty="0">
                <a:solidFill>
                  <a:schemeClr val="bg1"/>
                </a:solidFill>
                <a:latin typeface="Segoe UI"/>
              </a:rPr>
              <a:t> data</a:t>
            </a:r>
          </a:p>
          <a:p>
            <a:pPr marL="742950" lvl="1" indent="-285750"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chemeClr val="bg1"/>
                </a:solidFill>
                <a:latin typeface="Segoe UI"/>
              </a:rPr>
              <a:t>Discharge Summaries </a:t>
            </a:r>
            <a:r>
              <a:rPr lang="en-US" sz="2000" i="1" dirty="0">
                <a:solidFill>
                  <a:schemeClr val="bg1"/>
                </a:solidFill>
                <a:latin typeface="Segoe UI"/>
              </a:rPr>
              <a:t>(~330K)</a:t>
            </a:r>
            <a:r>
              <a:rPr lang="en-US" sz="2000" dirty="0">
                <a:solidFill>
                  <a:schemeClr val="bg1"/>
                </a:solidFill>
                <a:latin typeface="Segoe UI"/>
              </a:rPr>
              <a:t>: in-depth notes which overview a patient’s history and course throughout a hospitalization</a:t>
            </a:r>
          </a:p>
          <a:p>
            <a:pPr marL="742950" lvl="1" indent="-285750"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/>
                </a:solidFill>
                <a:latin typeface="Segoe UI"/>
              </a:rPr>
              <a:t>Radiology Reports (~2.3M): reports spanning x-ray, CT, MRI, and ultrasound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en-US" sz="2000" dirty="0">
                <a:solidFill>
                  <a:schemeClr val="bg1"/>
                </a:solidFill>
                <a:latin typeface="Segoe UI"/>
              </a:rPr>
              <a:t>Discharge summaries allow for design of multi-aspect queries requiring synthesis across patients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en-US" sz="2000" dirty="0">
                <a:solidFill>
                  <a:schemeClr val="bg1"/>
                </a:solidFill>
                <a:latin typeface="Segoe UI"/>
              </a:rPr>
              <a:t>Structured info in MIMIC-IV used for document pool construction and patient usable data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0" i="0" dirty="0">
                <a:solidFill>
                  <a:srgbClr val="4F8CFF"/>
                </a:solidFill>
                <a:latin typeface="Segoe UI"/>
              </a:rPr>
              <a:t>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All PHI removed/replaced with ___ placeholders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sz="2000" b="0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442247-4172-EBA3-1A1B-6D5B0A6C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6BA40-3166-C17A-1719-03BDF23E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F1CC52-4F31-0F01-7176-A70E083EDE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79BB4-3B06-2960-B566-55FC8EC73F1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0D9D6-1A13-8C37-43E9-331309D16503}"/>
              </a:ext>
            </a:extLst>
          </p:cNvPr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Ideal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for Coverage</a:t>
            </a:r>
            <a:r>
              <a:rPr lang="en-US" sz="3200" b="1" dirty="0">
                <a:solidFill>
                  <a:srgbClr val="F0F0F5"/>
                </a:solidFill>
                <a:latin typeface="Segoe UI"/>
              </a:rPr>
              <a:t>: MIMIC-IV?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DB0C9-AC5D-C8E6-A307-CA232EFB6831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B25720-9E1A-E889-F27F-B0ABA8E87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13"/>
              </p:ext>
            </p:extLst>
          </p:nvPr>
        </p:nvGraphicFramePr>
        <p:xfrm>
          <a:off x="1587903" y="1706351"/>
          <a:ext cx="8985714" cy="448647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267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8048">
                  <a:extLst>
                    <a:ext uri="{9D8B030D-6E8A-4147-A177-3AD203B41FA5}">
                      <a16:colId xmlns:a16="http://schemas.microsoft.com/office/drawing/2014/main" val="1574346174"/>
                    </a:ext>
                  </a:extLst>
                </a:gridCol>
              </a:tblGrid>
              <a:tr h="66064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Cluster Type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Possible </a:t>
                      </a:r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MIMIC-IV</a:t>
                      </a: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 candidates</a:t>
                      </a:r>
                      <a:endParaRPr sz="1600" b="1" i="0" dirty="0">
                        <a:solidFill>
                          <a:schemeClr val="bg1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Redundant</a:t>
                      </a:r>
                      <a:r>
                        <a:rPr lang="en-US"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 </a:t>
                      </a:r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central cluster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Common conditions → hundreds of similar notes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Complementary cluster(s)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Comorbidity combos (pneumonia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+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CKD +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diabetes) → distinct management sub-groups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Niche cluster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Rare complications (e.g., hemorrhagic stroke transformation) → few notes, unique reasoning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FAB40"/>
                          </a:solidFill>
                          <a:latin typeface="Segoe UI"/>
                        </a:rPr>
                        <a:t>Outliers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 mismatches, boilerplate copies, de-id artifacts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45D41-FEDC-FBB6-C4CE-9A10341B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3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1" dirty="0">
                <a:solidFill>
                  <a:srgbClr val="F0F0F5"/>
                </a:solidFill>
                <a:latin typeface="Segoe UI"/>
              </a:rPr>
              <a:t>MIMIC-IV-Note</a:t>
            </a:r>
            <a:r>
              <a:rPr lang="it-IT" sz="3200" b="1" dirty="0">
                <a:solidFill>
                  <a:srgbClr val="F0F0F5"/>
                </a:solidFill>
                <a:latin typeface="Segoe UI"/>
              </a:rPr>
              <a:t> 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Discharge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15449"/>
              </p:ext>
            </p:extLst>
          </p:nvPr>
        </p:nvGraphicFramePr>
        <p:xfrm>
          <a:off x="1252294" y="1615370"/>
          <a:ext cx="9687411" cy="468471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25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094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Section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QA Value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Brief Hospital Course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Clinical reasoning per problem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History of Present Illness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Symptom narrative, temporal progression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Pertinent Results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Labs, imaging, micro interpretations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Discharge Diagnosis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Diagnostic labels (linkable to ICD)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Chief Complaint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1–2 lines, reason for admission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 (as embedding metadata)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Past Medical History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Comorbidities list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FAB40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1497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Surgical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/ 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Invasive Procedure</a:t>
                      </a:r>
                      <a:endParaRPr lang="en-US"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Social / Family History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Discharge Medications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Physical Exams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Other minor pieces of information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828796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C710B-B2D8-DE00-06DD-1269AC95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Structured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Segoe UI"/>
              </a:defRPr>
            </a:pPr>
            <a:r>
              <a:rPr dirty="0" err="1"/>
              <a:t>hosp</a:t>
            </a:r>
            <a:r>
              <a:rPr dirty="0"/>
              <a:t> module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226874"/>
              </p:ext>
            </p:extLst>
          </p:nvPr>
        </p:nvGraphicFramePr>
        <p:xfrm>
          <a:off x="1167720" y="2391787"/>
          <a:ext cx="9826080" cy="30371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96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Our use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diagnoses_icd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ICD-9/10 codes </a:t>
                      </a:r>
                      <a:r>
                        <a:rPr sz="1600" b="1" i="0" dirty="0">
                          <a:solidFill>
                            <a:srgbClr val="F0F0F5"/>
                          </a:solidFill>
                          <a:latin typeface="Segoe UI"/>
                        </a:rPr>
                        <a:t>per admission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, with </a:t>
                      </a:r>
                      <a:r>
                        <a:rPr sz="1400" b="0" i="0" dirty="0">
                          <a:solidFill>
                            <a:srgbClr val="F0F0F5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seq_num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priority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Ground truth labels + query scaffolding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d_icd_diagnoses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 code definitions (text descriptions)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Condition names for query templates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patients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Gender, age, date of death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Demographic prefix for embeddings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admissions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Admission type, insurance, race, discharge location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Demographic prefix for embeddings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E1A17EE-6EEC-DC62-7536-D506F49EAD36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CB3E9D-5DEF-67B5-9269-ECACE0D0AE53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CD1D3-41DD-82F3-9E39-A9B6A7C0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0F0F5"/>
                </a:solidFill>
                <a:latin typeface="Segoe UI"/>
              </a:rPr>
              <a:t>Discharge summaries: w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hat data to retain?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en-US" sz="2000" b="1" i="0" dirty="0">
                <a:solidFill>
                  <a:srgbClr val="4F8CFF"/>
                </a:solidFill>
                <a:latin typeface="Segoe UI"/>
              </a:rPr>
              <a:t>Brief Hospital Course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has h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ighest QA value, but only for complex medicine admissions with #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sub-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problem lists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B4B9C8"/>
                </a:solidFill>
                <a:latin typeface="Segoe UI"/>
              </a:rPr>
              <a:t>Complex cases: management reasoning, drug choices with justifications, differentials</a:t>
            </a:r>
            <a:endParaRPr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Surgical/simple cases: formulaic procedural timelines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,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 nearly content-free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sz="2000" b="0" i="0" dirty="0">
                <a:solidFill>
                  <a:srgbClr val="B4B9C8"/>
                </a:solidFill>
                <a:latin typeface="Segoe UI"/>
              </a:rPr>
              <a:t>These are noise in any candidate pool</a:t>
            </a:r>
            <a:r>
              <a:rPr lang="en-US" sz="2000" b="0" i="0" dirty="0">
                <a:solidFill>
                  <a:srgbClr val="B4B9C8"/>
                </a:solidFill>
                <a:latin typeface="Segoe UI"/>
              </a:rPr>
              <a:t>: </a:t>
            </a:r>
            <a:r>
              <a:rPr sz="2000" b="0" i="0" dirty="0">
                <a:solidFill>
                  <a:srgbClr val="B4B9C8"/>
                </a:solidFill>
                <a:latin typeface="Segoe UI"/>
              </a:rPr>
              <a:t>no clinical reasoning</a:t>
            </a:r>
            <a:endParaRPr lang="en-US" sz="20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sz="20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1" i="0" dirty="0">
                <a:solidFill>
                  <a:srgbClr val="4F8CFF"/>
                </a:solidFill>
                <a:latin typeface="Segoe UI"/>
              </a:rPr>
              <a:t>History of Present Illnesses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complements BHC: presentation context, symptom timeline, risk factors that BHC presupposes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1" dirty="0">
                <a:solidFill>
                  <a:srgbClr val="4F8CFF"/>
                </a:solidFill>
                <a:latin typeface="Segoe UI"/>
              </a:rPr>
              <a:t>Pertinent Results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: mostly raw lab noise, but imaging interpretations can be high-value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E569A9-5938-8E5E-CA25-F1B86C2A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F0F0F5"/>
                </a:solidFill>
                <a:latin typeface="Segoe UI"/>
              </a:rPr>
              <a:t>Experimental </a:t>
            </a:r>
            <a:r>
              <a:rPr sz="4000" b="1" i="0" dirty="0">
                <a:solidFill>
                  <a:srgbClr val="F0F0F5"/>
                </a:solidFill>
                <a:latin typeface="Segoe UI"/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54288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orpus</a:t>
            </a:r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construction 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→ embeddings → quer</a:t>
            </a:r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generation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→ evaluation</a:t>
            </a:r>
            <a:endParaRPr sz="2400" b="0" i="0" dirty="0">
              <a:solidFill>
                <a:srgbClr val="A0A8B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F65C-F89C-AE30-F8B5-5DD0664B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1: Corpus 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Construction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21062" y="2477096"/>
            <a:ext cx="2517498" cy="2044551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800" b="1" i="0" dirty="0">
                <a:solidFill>
                  <a:srgbClr val="48C78E"/>
                </a:solidFill>
                <a:latin typeface="Segoe UI"/>
              </a:rPr>
              <a:t>Output</a:t>
            </a:r>
          </a:p>
          <a:p>
            <a:pPr algn="ctr">
              <a:spcBef>
                <a:spcPts val="500"/>
              </a:spcBef>
              <a:spcAft>
                <a:spcPts val="300"/>
              </a:spcAft>
            </a:pPr>
            <a:r>
              <a:rPr b="1" i="0" dirty="0">
                <a:solidFill>
                  <a:srgbClr val="B4B9C8"/>
                </a:solidFill>
                <a:latin typeface="Segoe UI"/>
              </a:rPr>
              <a:t>Per-condition candidate pool 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8B7D3E5-095F-FFB6-C0DA-D67BDAB4BE2D}"/>
              </a:ext>
            </a:extLst>
          </p:cNvPr>
          <p:cNvSpPr/>
          <p:nvPr/>
        </p:nvSpPr>
        <p:spPr>
          <a:xfrm>
            <a:off x="7172094" y="3225949"/>
            <a:ext cx="1178410" cy="546847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12BE4-05A6-DA09-C57D-031A3171CF7F}"/>
              </a:ext>
            </a:extLst>
          </p:cNvPr>
          <p:cNvSpPr txBox="1"/>
          <p:nvPr/>
        </p:nvSpPr>
        <p:spPr>
          <a:xfrm>
            <a:off x="822960" y="1797049"/>
            <a:ext cx="6012688" cy="513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Select conditions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Query </a:t>
            </a:r>
            <a:r>
              <a:rPr lang="en-US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diagnoses_icd</a:t>
            </a:r>
            <a:r>
              <a:rPr lang="en-US" sz="200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>
                <a:solidFill>
                  <a:srgbClr val="B4B9C8"/>
                </a:solidFill>
                <a:latin typeface="Segoe UI"/>
              </a:rPr>
              <a:t>for ICD groups with ≥ N admissions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Parse and chunk documents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Split Discharge Summaries by section header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Attach metadata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Per chunk: section name, all ICD codes, demographics, admission type and details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>
              <a:solidFill>
                <a:srgbClr val="B4B9C8"/>
              </a:solidFill>
              <a:latin typeface="Segoe UI"/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b="1" dirty="0">
                <a:solidFill>
                  <a:srgbClr val="FFAB40"/>
                </a:solidFill>
                <a:latin typeface="Segoe UI"/>
              </a:rPr>
              <a:t>Deduplicate</a:t>
            </a:r>
          </a:p>
          <a:p>
            <a:pPr>
              <a:spcBef>
                <a:spcPts val="300"/>
              </a:spcBef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300"/>
              </a:spcBef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endParaRPr lang="en-US" sz="2000" dirty="0"/>
          </a:p>
          <a:p>
            <a:endParaRPr lang="LID4096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18B32-49A2-BAB5-B570-78E1E725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2: Embeddings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Generation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181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Raw chunks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are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 too patient-specific for condition-level queries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US" sz="200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1" dirty="0">
                <a:solidFill>
                  <a:schemeClr val="bg1"/>
                </a:solidFill>
                <a:latin typeface="Segoe UI"/>
              </a:rPr>
              <a:t>Add context before chunks to capture full semantics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MIMIC metadata is structured → deterministic template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 to build context</a:t>
            </a:r>
            <a:endParaRPr sz="2000" b="0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87442" y="1514014"/>
            <a:ext cx="5364480" cy="2389331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>
              <a:spcAft>
                <a:spcPts val="1000"/>
              </a:spcAft>
              <a:defRPr sz="1600" b="1">
                <a:solidFill>
                  <a:srgbClr val="FFAB40"/>
                </a:solidFill>
                <a:latin typeface="Segoe UI"/>
              </a:defRPr>
            </a:pPr>
            <a:r>
              <a:rPr lang="en-US" b="1" dirty="0">
                <a:solidFill>
                  <a:srgbClr val="FFAB40"/>
                </a:solidFill>
                <a:latin typeface="Segoe UI"/>
              </a:rPr>
              <a:t>Chunk example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Elderly male, White, admitted for Sepsis (SOFA 14).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Chief complaint: fever, hypotension.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Comorbidities: CHF, CKD, COPD.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Section: Brief Hospital Course</a:t>
            </a:r>
            <a:endParaRPr lang="en-US" sz="16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it-IT" sz="1400" dirty="0">
                <a:solidFill>
                  <a:srgbClr val="48C78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&lt;section_content&gt;</a:t>
            </a:r>
            <a:endParaRPr sz="1400" dirty="0">
              <a:solidFill>
                <a:srgbClr val="48C78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90909-FA82-7256-3A87-F37C338AD234}"/>
              </a:ext>
            </a:extLst>
          </p:cNvPr>
          <p:cNvSpPr txBox="1"/>
          <p:nvPr/>
        </p:nvSpPr>
        <p:spPr>
          <a:xfrm>
            <a:off x="822960" y="4687064"/>
            <a:ext cx="99669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Alternative: </a:t>
            </a:r>
            <a:r>
              <a:rPr lang="en-US" sz="2000" b="1" i="0" dirty="0">
                <a:solidFill>
                  <a:srgbClr val="F0F0F5"/>
                </a:solidFill>
                <a:latin typeface="Segoe UI"/>
              </a:rPr>
              <a:t>whole-document embeddings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via long-context embedding models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, d</a:t>
            </a:r>
            <a:r>
              <a:rPr lang="it-IT" sz="2000" dirty="0">
                <a:solidFill>
                  <a:schemeClr val="bg1"/>
                </a:solidFill>
                <a:latin typeface="Segoe UI"/>
              </a:rPr>
              <a:t>epending on which kind of queries we want to construct</a:t>
            </a:r>
          </a:p>
          <a:p>
            <a:pPr marL="742950" lvl="1" indent="-28575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“</a:t>
            </a: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find patients similar to this case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” rather than “</a:t>
            </a: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what are the symptoms of X and how 	do they differ with Y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it-IT" sz="2000" dirty="0">
              <a:solidFill>
                <a:schemeClr val="bg1">
                  <a:lumMod val="75000"/>
                </a:schemeClr>
              </a:solidFill>
              <a:latin typeface="Segoe U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08166-BDB1-C16C-86A1-44DEBA13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3: Query Generation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via LLM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22960" y="1504249"/>
                <a:ext cx="10515600" cy="519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Pick primary condition + 1–2 </a:t>
                </a:r>
                <a:r>
                  <a:rPr lang="it-IT" sz="2000" b="1" i="0" dirty="0">
                    <a:solidFill>
                      <a:srgbClr val="F0F0F5"/>
                    </a:solidFill>
                    <a:latin typeface="Segoe UI"/>
                  </a:rPr>
                  <a:t>modifier axes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to ensure multi-aspect</a:t>
                </a:r>
                <a:endParaRPr lang="it-IT" sz="2000" b="1" i="0" dirty="0">
                  <a:solidFill>
                    <a:srgbClr val="F0F0F5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Comorbidity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co-occurring ICD codes (e.g. stroke + diabetes)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Demographic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age group, gender, race, etc.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Complication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post-surgical, recurrent, or secondary diagnoses</a:t>
                </a: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</a:t>
                </a:r>
                <a:r>
                  <a:rPr lang="it-IT" i="0" dirty="0">
                    <a:solidFill>
                      <a:srgbClr val="4F8CFF"/>
                    </a:solidFill>
                    <a:latin typeface="Segoe UI"/>
                  </a:rPr>
                  <a:t>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LLM prompt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: generate clinical management question requiring modifier knowledge</a:t>
                </a: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endParaRPr lang="it-IT" sz="2000" b="0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1" i="0" dirty="0">
                    <a:solidFill>
                      <a:srgbClr val="F0F0F5"/>
                    </a:solidFill>
                    <a:latin typeface="Segoe UI"/>
                  </a:rPr>
                  <a:t>Pre-filter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: only keep queries where </a:t>
                </a:r>
                <a:r>
                  <a:rPr lang="it-IT" sz="2000" b="0" i="1" dirty="0">
                    <a:solidFill>
                      <a:srgbClr val="F0F0F5"/>
                    </a:solidFill>
                    <a:latin typeface="Segoe UI"/>
                  </a:rPr>
                  <a:t>coverage ≠ top-k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assess overall suitability of coverage approaches for this dataset with this embedding strategy</a:t>
                </a:r>
                <a:endParaRPr lang="it-IT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it-IT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𝐽𝑎𝑐𝑐𝑎𝑟𝑑</m:t>
                    </m:r>
                    <m:r>
                      <a:rPr lang="it-IT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𝑐𝑜𝑣</m:t>
                        </m:r>
                      </m:sub>
                    </m:sSub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ar-AE" sz="20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≈ </m:t>
                    </m:r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00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</a:rPr>
                  <a:t> </a:t>
                </a:r>
                <a:r>
                  <a:rPr lang="ar-AE" b="0" i="0" dirty="0">
                    <a:solidFill>
                      <a:srgbClr val="B4B9C8"/>
                    </a:solidFill>
                    <a:latin typeface="Segoe UI"/>
                  </a:rPr>
                  <a:t>→ </a:t>
                </a:r>
                <a:r>
                  <a:rPr lang="en-US" b="0" i="0" dirty="0">
                    <a:solidFill>
                      <a:srgbClr val="B4B9C8"/>
                    </a:solidFill>
                    <a:latin typeface="Segoe UI"/>
                  </a:rPr>
                  <a:t> 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skip</a:t>
                </a:r>
                <a:endParaRPr lang="it-IT" dirty="0">
                  <a:solidFill>
                    <a:srgbClr val="B4B9C8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it-IT" b="0" i="1" dirty="0" smtClean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b="0" i="1" dirty="0" smtClean="0">
                            <a:solidFill>
                              <a:srgbClr val="B4B9C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𝑐𝑜𝑣</m:t>
                            </m:r>
                          </m:sub>
                        </m:sSub>
                      </m:e>
                    </m:d>
                    <m:r>
                      <a:rPr lang="ar-AE" b="0" i="1" dirty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ar-AE" b="0" i="1" dirty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b="0" i="1" dirty="0">
                            <a:solidFill>
                              <a:srgbClr val="B4B9C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𝑡𝑜𝑝</m:t>
                            </m:r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𝑜𝑙𝑑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solidFill>
                      <a:srgbClr val="B4B9C8"/>
                    </a:solidFill>
                    <a:latin typeface="Segoe UI"/>
                  </a:rPr>
                  <a:t> </a:t>
                </a:r>
                <a:r>
                  <a:rPr lang="ar-AE" dirty="0">
                    <a:solidFill>
                      <a:srgbClr val="B4B9C8"/>
                    </a:solidFill>
                    <a:latin typeface="Segoe UI"/>
                  </a:rPr>
                  <a:t>→ </a:t>
                </a: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skip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1600" b="0" i="0" dirty="0">
                  <a:solidFill>
                    <a:srgbClr val="B4B9C8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1" dirty="0">
                    <a:solidFill>
                      <a:srgbClr val="F0F0F5"/>
                    </a:solidFill>
                    <a:latin typeface="Segoe UI"/>
                  </a:rPr>
                  <a:t>Gold answer generation</a:t>
                </a:r>
                <a:r>
                  <a:rPr lang="it-IT" sz="2000" dirty="0">
                    <a:solidFill>
                      <a:srgbClr val="F0F0F5"/>
                    </a:solidFill>
                    <a:latin typeface="Segoe UI"/>
                  </a:rPr>
                  <a:t>: LLM cites source chunks, each tagged with facet label</a:t>
                </a:r>
                <a:endParaRPr lang="it-IT" sz="2000" b="0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endParaRPr sz="2000" b="0" i="0" dirty="0">
                  <a:solidFill>
                    <a:srgbClr val="F0F0F5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04249"/>
                <a:ext cx="10515600" cy="5199565"/>
              </a:xfrm>
              <a:prstGeom prst="rect">
                <a:avLst/>
              </a:prstGeom>
              <a:blipFill>
                <a:blip r:embed="rId2"/>
                <a:stretch>
                  <a:fillRect l="-464" t="-5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D9183-5DC2-D50C-A7E3-5E2818DF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4: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014704"/>
                  </p:ext>
                </p:extLst>
              </p:nvPr>
            </p:nvGraphicFramePr>
            <p:xfrm>
              <a:off x="1046480" y="1645919"/>
              <a:ext cx="10099040" cy="3777585"/>
            </p:xfrm>
            <a:graphic>
              <a:graphicData uri="http://schemas.openxmlformats.org/drawingml/2006/table">
                <a:tbl>
                  <a:tblPr>
                    <a:tableStyleId>{00000000-0000-0000-0000-000000000000}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13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488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3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Definition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Measures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5294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Aspect Recall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𝐴𝑅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f>
                                  <m:fPr>
                                    <m:ctrlP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|{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: ∃ 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𝑑𝑜𝑐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𝑤𝑖𝑡h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𝑓𝑎𝑐𝑒𝑡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}|</m:t>
                                    </m:r>
                                  </m:num>
                                  <m:den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Fraction of annotated facets covered by selected k chunks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2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Fac</a:t>
                          </a:r>
                          <a:r>
                            <a:rPr lang="en-US"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-Loc</a:t>
                          </a:r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 Score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l-GR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∈ 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it-IT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it-IT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it-IT" sz="1600" b="0" i="0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∈ </m:t>
                                            </m:r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𝑠𝑖𝑚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sz="2000" dirty="0"/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Representativeness of S over candidate pool 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37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Jaccard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001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001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400" dirty="0"/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Overlap with baseline</a:t>
                          </a:r>
                          <a:r>
                            <a:rPr lang="en-US"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. </a:t>
                          </a:r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J≈1: no change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5573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DocRec / FactRec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Gold doc/fact fraction recovered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How many gold documents/facts are in the selection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014704"/>
                  </p:ext>
                </p:extLst>
              </p:nvPr>
            </p:nvGraphicFramePr>
            <p:xfrm>
              <a:off x="1046480" y="1645919"/>
              <a:ext cx="10099040" cy="3777585"/>
            </p:xfrm>
            <a:graphic>
              <a:graphicData uri="http://schemas.openxmlformats.org/drawingml/2006/table">
                <a:tbl>
                  <a:tblPr>
                    <a:tableStyleId>{00000000-0000-0000-0000-000000000000}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13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488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3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Definition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Measures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5294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Aspect Recall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56643" r="-87328" b="-2797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Fraction of annotated facets covered by selected k chunks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2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Fac</a:t>
                          </a:r>
                          <a:r>
                            <a:rPr lang="en-US"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-Loc</a:t>
                          </a:r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 Score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163504" r="-87328" b="-191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Representativeness of S over candidate pool 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37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Jaccard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254225" r="-87328" b="-85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Overlap with baseline</a:t>
                          </a:r>
                          <a:r>
                            <a:rPr lang="en-US"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. </a:t>
                          </a:r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J≈1: no change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5573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DocRec / FactRec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Gold doc/fact fraction recovered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How many gold documents/facts are in the selection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22960" y="5803233"/>
            <a:ext cx="67964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dirty="0">
                <a:solidFill>
                  <a:schemeClr val="bg1"/>
                </a:solidFill>
                <a:latin typeface="Segoe UI"/>
              </a:rPr>
              <a:t>Methods: </a:t>
            </a:r>
            <a:r>
              <a:rPr sz="2000" b="0" i="0" dirty="0">
                <a:solidFill>
                  <a:schemeClr val="bg1"/>
                </a:solidFill>
                <a:latin typeface="Segoe UI"/>
              </a:rPr>
              <a:t>top-k (baseline)</a:t>
            </a:r>
            <a:r>
              <a:rPr lang="en-US" sz="2000" b="0" i="0" dirty="0">
                <a:solidFill>
                  <a:schemeClr val="bg1"/>
                </a:solidFill>
                <a:latin typeface="Segoe UI"/>
              </a:rPr>
              <a:t>, </a:t>
            </a:r>
            <a:r>
              <a:rPr sz="2000" b="0" i="0" dirty="0">
                <a:solidFill>
                  <a:srgbClr val="FFAB40"/>
                </a:solidFill>
                <a:latin typeface="Segoe UI"/>
              </a:rPr>
              <a:t>MMR</a:t>
            </a:r>
            <a:r>
              <a:rPr lang="en-US" sz="2000" dirty="0">
                <a:solidFill>
                  <a:srgbClr val="FFAB40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FFAB40"/>
                </a:solidFill>
                <a:latin typeface="Segoe UI"/>
              </a:rPr>
              <a:t>gMMR</a:t>
            </a:r>
            <a:r>
              <a:rPr lang="en-US" sz="2000" dirty="0">
                <a:solidFill>
                  <a:srgbClr val="FFAB40"/>
                </a:solidFill>
                <a:latin typeface="Segoe UI"/>
              </a:rPr>
              <a:t>, </a:t>
            </a:r>
            <a:r>
              <a:rPr sz="2000" b="0" i="0" dirty="0">
                <a:solidFill>
                  <a:srgbClr val="48C78E"/>
                </a:solidFill>
                <a:latin typeface="Segoe UI"/>
              </a:rPr>
              <a:t>facility-location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173B3C-97BE-4147-7F6C-D9BCF4C9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Pros &amp; Cons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27554"/>
            <a:ext cx="5212080" cy="2709284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lang="it-IT" sz="2400" i="0" dirty="0">
                <a:solidFill>
                  <a:srgbClr val="48C78E"/>
                </a:solidFill>
                <a:latin typeface="Segoe UI"/>
              </a:rPr>
              <a:t>Pros</a:t>
            </a:r>
            <a:endParaRPr lang="en-001" sz="2800" i="0" dirty="0">
              <a:solidFill>
                <a:srgbClr val="48C78E"/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Multi-aspect queries tailored to coverage hypothesis</a:t>
            </a:r>
            <a:endParaRPr lang="en-US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Dataset seems suitable for coverage</a:t>
            </a:r>
            <a:endParaRPr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Gold sets with facet labels enable 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granular evaluation metrics</a:t>
            </a:r>
            <a:endParaRPr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56962" y="1427554"/>
            <a:ext cx="5212080" cy="5156126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lang="en-US" sz="2400" i="0" dirty="0">
                <a:solidFill>
                  <a:srgbClr val="EB5757"/>
                </a:solidFill>
                <a:latin typeface="Segoe UI"/>
              </a:rPr>
              <a:t>Cons</a:t>
            </a:r>
            <a:endParaRPr sz="1700" i="0" dirty="0">
              <a:solidFill>
                <a:srgbClr val="EB5757"/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Discharge notes may be complex to parse and interpret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De-identification detrimental for semantics</a:t>
            </a:r>
            <a:endParaRPr lang="it-IT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No guarantee about embedding distribution with the contextual prefix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Query is still LLM-generated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LLM g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old annotation is expensive and noisy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Facet labels depend on LLM judgment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Local inference (DUA)</a:t>
            </a:r>
            <a:r>
              <a:rPr lang="en-US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 S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lower, smaller models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Many moving parts before first result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No existing benchmark to compare against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human validation?</a:t>
            </a:r>
            <a:endParaRPr sz="170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7F070C-A8AA-4873-B4E4-9823FCA0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F0F0F5"/>
                </a:solidFill>
                <a:latin typeface="Segoe UI"/>
              </a:rPr>
              <a:t>End</a:t>
            </a:r>
            <a:endParaRPr sz="40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18288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3AB3-DCF1-540C-C288-5BCA0E55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C5F4-8223-E9FB-EB8A-8F57B746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01B64-9C40-D0A3-AB0C-37DB0A2279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D8355-DAF8-1591-12A0-7DAF2B7BCF1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A02DE-5CD0-86E1-2DA1-119D8D1795C6}"/>
              </a:ext>
            </a:extLst>
          </p:cNvPr>
          <p:cNvSpPr txBox="1"/>
          <p:nvPr/>
        </p:nvSpPr>
        <p:spPr>
          <a:xfrm>
            <a:off x="874623" y="26898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Extras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65DF7-D919-2F92-345E-A32C313FECE2}"/>
              </a:ext>
            </a:extLst>
          </p:cNvPr>
          <p:cNvSpPr/>
          <p:nvPr/>
        </p:nvSpPr>
        <p:spPr>
          <a:xfrm>
            <a:off x="995680" y="348107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A71D0-EE7F-6BF3-1188-83C58395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29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097230"/>
              </p:ext>
            </p:extLst>
          </p:nvPr>
        </p:nvGraphicFramePr>
        <p:xfrm>
          <a:off x="822960" y="1645920"/>
          <a:ext cx="10515600" cy="36576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AB40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AB40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AB40"/>
                          </a:solidFill>
                          <a:latin typeface="Segoe UI"/>
                        </a:rPr>
                        <a:t>Key Actions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AB40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AB4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Corpus Construction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Select ICD conditions, chunk notes by section + # markers, attach metadata, deduplicate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Per-condition candidate pools with metadata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AB4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Embeddings</a:t>
                      </a:r>
                      <a:r>
                        <a:rPr lang="en-US"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Generation</a:t>
                      </a:r>
                      <a:endParaRPr sz="14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Prepend metadata prefix (age, gender, ICD, chief complaint) before embedding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Contextualized chunk vectors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FFAB4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Query Generation</a:t>
                      </a:r>
                      <a:r>
                        <a:rPr lang="en-US"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via LLM</a:t>
                      </a:r>
                      <a:endParaRPr sz="14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LLM generates multi-aspect clinical questions; gold answers via map-reduce with facet labels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QA pairs with gold chunk sets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AB4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Aspect recall, Fac score, Jaccard, </a:t>
                      </a:r>
                      <a:r>
                        <a:rPr sz="14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DocRec</a:t>
                      </a:r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/</a:t>
                      </a:r>
                      <a:r>
                        <a:rPr sz="14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FactRec</a:t>
                      </a:r>
                      <a:endParaRPr sz="14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Coverage vs. dispersion comparison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4A7F40-B30D-FC68-7F91-097AF699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Key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8533"/>
              </p:ext>
            </p:extLst>
          </p:nvPr>
        </p:nvGraphicFramePr>
        <p:xfrm>
          <a:off x="822960" y="1645920"/>
          <a:ext cx="10515600" cy="38404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chemeClr val="bg1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chemeClr val="bg1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λ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Relevance–diversity tradeoff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λ=1: pure top-k, λ=0: pure coverage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F8C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Candidate pool size for re-ranking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Too small: no room to diversify; too large: noise enters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F8CFF"/>
                          </a:solidFill>
                          <a:latin typeface="Segoe UI"/>
                        </a:rPr>
                        <a:t>k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Number of chunks to select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Final selection size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F8CFF"/>
                          </a:solidFill>
                          <a:latin typeface="Segoe UI"/>
                        </a:rPr>
                        <a:t>T_max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Token budget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Constrains total context length for LLM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F8CFF"/>
                          </a:solidFill>
                          <a:latin typeface="Segoe UI"/>
                        </a:rPr>
                        <a:t>chunk_tokens / stride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Chunk size and overlap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Controls granularity of information units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38BF-1E6B-DE96-C7DD-522D8D4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92665-2B3B-F013-B84B-13D4A9B7A45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04645-83A6-0AFD-2887-EBB24F78BA44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Gold Response Generation via LLMs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FAB40"/>
                </a:solidFill>
                <a:latin typeface="Segoe UI"/>
              </a:rPr>
              <a:t>Map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FFAB40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Split candidate pool into batches of ~50 chunks (~10K tokens)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FFAB40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LLM extracts facts relevant to the query from each batch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FFAB40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Each fact is cited back to its source chunk(s)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48C78E"/>
                </a:solidFill>
                <a:latin typeface="Segoe UI"/>
              </a:rPr>
              <a:t>Reduce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48C78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Merge pass synthesizes across all batches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48C78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Deduplicate facets, resolve conflicting citations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>
                <a:solidFill>
                  <a:srgbClr val="48C78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B4B9C8"/>
                </a:solidFill>
                <a:latin typeface="Segoe UI"/>
              </a:rPr>
              <a:t>Final gold answer with citations + facet labels per chunk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 i="0" dirty="0">
                <a:solidFill>
                  <a:srgbClr val="4F8CFF"/>
                </a:solidFill>
                <a:latin typeface="Segoe UI"/>
              </a:rPr>
              <a:t>Facet labels:  </a:t>
            </a:r>
            <a:r>
              <a:rPr sz="1500" b="0" i="0" dirty="0">
                <a:solidFill>
                  <a:srgbClr val="B4B9C8"/>
                </a:solidFill>
                <a:latin typeface="Segoe UI"/>
              </a:rPr>
              <a:t>Each gold chunk tagged with aspect (e.g., </a:t>
            </a:r>
            <a:r>
              <a:rPr sz="1400"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general_symptoms</a:t>
            </a: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sz="1400"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cardiac_confounding</a:t>
            </a: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sz="1400"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treatment_difference</a:t>
            </a:r>
            <a:r>
              <a:rPr sz="1500" b="0" i="0" dirty="0">
                <a:solidFill>
                  <a:srgbClr val="B4B9C8"/>
                </a:solidFill>
                <a:latin typeface="Segoe UI"/>
              </a:rPr>
              <a:t>) → enables aspect recall metric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 i="0" dirty="0">
                <a:solidFill>
                  <a:srgbClr val="FFAB40"/>
                </a:solidFill>
                <a:latin typeface="Segoe UI"/>
              </a:rPr>
              <a:t>Quality verifier:  </a:t>
            </a:r>
            <a:r>
              <a:rPr sz="1500" b="0" i="0" dirty="0">
                <a:solidFill>
                  <a:srgbClr val="B4B9C8"/>
                </a:solidFill>
                <a:latin typeface="Segoe UI"/>
              </a:rPr>
              <a:t>Separate reader-LLM attempts top-k answer; if it succeeds → query too easy → discard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96CA1-B90F-FD81-CB90-977A5880881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2404C8-04A6-1454-BD5D-1E92F1B45F80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210C-B3EF-86F3-9E9E-21A8ADF4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Computational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787562"/>
            <a:ext cx="105156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Full corpus: ~3M chunks → O(|D|·k²) facility-location is impractical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Two-stage pipeline: HNSW retrieves N</a:t>
            </a:r>
            <a:r>
              <a:rPr lang="en-US" sz="1800" b="0" i="0" dirty="0">
                <a:solidFill>
                  <a:srgbClr val="F0F0F5"/>
                </a:solidFill>
                <a:latin typeface="Segoe UI"/>
              </a:rPr>
              <a:t>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≫</a:t>
            </a:r>
            <a:r>
              <a:rPr lang="en-US" sz="1800" b="0" i="0" dirty="0">
                <a:solidFill>
                  <a:srgbClr val="F0F0F5"/>
                </a:solidFill>
                <a:latin typeface="Segoe UI"/>
              </a:rPr>
              <a:t>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k candidates, then re-rank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Re-ranking on N=100–1000 candidates is fast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N is a tunable parameter alongside λ and 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CF0AEB-C1FC-99DF-D54F-B201F00B89E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3BD3D-67E7-B088-797E-5083F59678D3}"/>
              </a:ext>
            </a:extLst>
          </p:cNvPr>
          <p:cNvSpPr/>
          <p:nvPr/>
        </p:nvSpPr>
        <p:spPr>
          <a:xfrm>
            <a:off x="975360" y="13868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3F485-D211-D1DC-298A-A2190C60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Cluster Validation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UMAP + HDBSCAN pipeline on embeddings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Validate with DBCV, cluster size/density ratios, noise fraction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Cross-reference clusters with ICD sub-codes for semantic meaning</a:t>
            </a:r>
            <a:endParaRPr lang="en-US" sz="18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sz="18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Simpler alternative: Jaccard divergence + facility-location gap + aspect recall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Full clustering may not be necessary </a:t>
            </a:r>
            <a:r>
              <a:rPr lang="en-US" sz="1800" b="0" i="0" dirty="0">
                <a:solidFill>
                  <a:srgbClr val="F0F0F5"/>
                </a:solidFill>
                <a:latin typeface="Segoe UI"/>
              </a:rPr>
              <a:t>- </a:t>
            </a:r>
            <a:r>
              <a:rPr sz="1800" b="0" i="0" dirty="0">
                <a:solidFill>
                  <a:srgbClr val="F0F0F5"/>
                </a:solidFill>
                <a:latin typeface="Segoe UI"/>
              </a:rPr>
              <a:t>downstream metrics are the real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67EF4-35A4-D440-A1BB-D537B0763863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68E31-4E35-E1C5-347F-977042DCEFD0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FCBEE-3FE8-F42E-45A3-5B666CEB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2: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E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mbedding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models for medical domain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36431"/>
              </p:ext>
            </p:extLst>
          </p:nvPr>
        </p:nvGraphicFramePr>
        <p:xfrm>
          <a:off x="822960" y="1852108"/>
          <a:ext cx="6421120" cy="196805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33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35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F8C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F8CFF"/>
                          </a:solidFill>
                          <a:latin typeface="Segoe UI"/>
                        </a:rPr>
                        <a:t>Dim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4F8C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BioLORD-2023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768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MedEmbed (large)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1024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BioClinical</a:t>
                      </a:r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ModernBERT</a:t>
                      </a:r>
                      <a:endParaRPr sz="14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5"/>
                          </a:solidFill>
                          <a:latin typeface="Segoe UI"/>
                        </a:rPr>
                        <a:t>768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8,192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849FAA0-D457-2009-7C3F-29602EBD84D3}"/>
              </a:ext>
            </a:extLst>
          </p:cNvPr>
          <p:cNvSpPr/>
          <p:nvPr/>
        </p:nvSpPr>
        <p:spPr>
          <a:xfrm>
            <a:off x="0" y="3556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CA0F4-9A0C-36AA-C1A4-F01BC8E1DE6E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81D1F25-B32C-1A73-F30C-C35C1E0E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1622</Words>
  <Application>Microsoft Office PowerPoint</Application>
  <PresentationFormat>Widescreen</PresentationFormat>
  <Paragraphs>283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JetBrains Mono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Fabrizio Pagnozzi</cp:lastModifiedBy>
  <cp:revision>92</cp:revision>
  <dcterms:created xsi:type="dcterms:W3CDTF">2013-01-27T09:14:16Z</dcterms:created>
  <dcterms:modified xsi:type="dcterms:W3CDTF">2026-03-29T22:33:26Z</dcterms:modified>
  <cp:category/>
</cp:coreProperties>
</file>