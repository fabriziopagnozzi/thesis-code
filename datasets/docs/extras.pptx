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81" r:id="rId3"/>
    <p:sldId id="270" r:id="rId4"/>
    <p:sldId id="283" r:id="rId5"/>
    <p:sldId id="271" r:id="rId6"/>
    <p:sldId id="269" r:id="rId7"/>
    <p:sldId id="288" r:id="rId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E0CC1-157E-EA14-F35D-E2F239C4D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CAFA1-AD2F-D3BA-3D6B-74D76FCFB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BECFC-29B3-655A-A4CB-054D3F9B9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BBB4-7621-459C-8273-EFDBE23BD00D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3352A-4246-1C68-48ED-1685E723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28E36-F07C-7AF0-BF69-3BEFA248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C5940-9438-49B8-88D6-3910DFD4F4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4401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F831A-A836-0EA6-7AE0-8F45C3582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C3710-651A-114C-CFDB-10C16046A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2BD00-B1C2-DF8E-6FF7-CFAC6C1F1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BBB4-7621-459C-8273-EFDBE23BD00D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D2C7D-32A7-3091-2802-17B1B5229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49A09-A187-6462-4B4B-12C3DC1A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C5940-9438-49B8-88D6-3910DFD4F4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44234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E5AB-B5B9-9567-5135-BD9342005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D62FC-3E7B-D0A9-57DF-D3E65C428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CC045-81F3-D77E-E275-30C356C5F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BBB4-7621-459C-8273-EFDBE23BD00D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7617B-B492-1B69-C40A-63AD156D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3F67C-D364-1449-45C3-D94BE2F3A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C5940-9438-49B8-88D6-3910DFD4F4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78274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E221B-0B67-75D0-7C25-8F5F7F7A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1C7AC-9FD5-63C0-A0C9-F54CC1F194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82161-30E7-5192-945A-080FB4F08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8BEDFE-BAB6-32CE-E3BE-109B90698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BBB4-7621-459C-8273-EFDBE23BD00D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550D39-106C-993B-C5B9-18F6BB3B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6BBA5-14F3-4F3F-58BF-DE4FA7E9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C5940-9438-49B8-88D6-3910DFD4F4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18383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4FCA-E48F-0CEB-E5DF-17C163F18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78448-FA4D-7616-CB2C-1921B5482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195F4-37A6-F591-1A76-40E756B02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56864-7DD2-9C8C-F898-EF1F02BB7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196F71-6498-FB24-8D6E-2AD2087A7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2011CC-4EC9-5BCE-1951-C6DCC23C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BBB4-7621-459C-8273-EFDBE23BD00D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314416-496D-740D-ADC7-F96B4C704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491B8-1EB2-84CE-07D3-A856C8D18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C5940-9438-49B8-88D6-3910DFD4F4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311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6383-5032-A0D6-93FC-6DB0765C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6EB1C-4C0D-30AE-CB5B-6851BAB41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BBB4-7621-459C-8273-EFDBE23BD00D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B44C4-CC09-21D8-065E-E013D15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17D17-FE39-C5B2-742C-56BD85BC7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C5940-9438-49B8-88D6-3910DFD4F4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067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978356-65AB-13DB-23B9-4C74B66A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BBB4-7621-459C-8273-EFDBE23BD00D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7B801C-C9F5-D804-4DB4-BD57B710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23358-11D7-2EFC-C35C-D59CBF178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C5940-9438-49B8-88D6-3910DFD4F4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177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CD20-982F-B914-3105-F8C9B5EDE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84443-46BB-C9D4-229B-3C01AF59D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C4C4F-E4C3-988D-075A-FA62B2E29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79D40-AC56-102D-ADC9-88F37F147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BBB4-7621-459C-8273-EFDBE23BD00D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5651-D16E-B4F2-1234-AAC5AE3F5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93D9D-0EA3-CCD9-E67A-602CD30E5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C5940-9438-49B8-88D6-3910DFD4F4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8827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CB7C9-BB98-7BD8-20C0-5DDE7E9D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E6A8C9-C3B5-0600-E12E-D8C90BABA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C1AE2-4AD0-0225-61CF-B7E21D251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76FC5-65F5-2C25-249A-488F370A6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BBB4-7621-459C-8273-EFDBE23BD00D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BDE63-E075-7335-847E-862E9DEF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2CF21-0117-C0BF-91E0-8FFC8500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C5940-9438-49B8-88D6-3910DFD4F4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7192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EBEA8-AA6E-C116-EA52-5B9D9C829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D7C1B-60EF-41EA-026F-BE6C6B416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BD341-FD7E-0B2D-CA51-B276F24E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BBB4-7621-459C-8273-EFDBE23BD00D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92568-FD7D-1F37-A439-548042663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461EC-2241-B581-8B09-582A724C9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C5940-9438-49B8-88D6-3910DFD4F4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628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3B7217-674F-97CA-DDA4-0431F3A22F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39F7E-B446-F78D-C477-E72B584A9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CB05D-FE2D-8608-F632-7E3478FC5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1BBB4-7621-459C-8273-EFDBE23BD00D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700D6-BE05-8C9F-E8F9-1C1F5E51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F8615-B0C9-11D6-F7DA-4671D3CB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C5940-9438-49B8-88D6-3910DFD4F4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24634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CDB5F2-9F5D-6EA4-B902-E19A0FF71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282E2-00DB-286C-4A02-BC14F5BB1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81D7A-0FF2-EA88-B810-A94BCAA19D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71BBB4-7621-459C-8273-EFDBE23BD00D}" type="datetimeFigureOut">
              <a:rPr lang="LID4096" smtClean="0"/>
              <a:t>03/30/2026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93F59-DC2C-3894-57E1-78FFB4F02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61819-D483-4FE1-3501-84A2339EA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C5940-9438-49B8-88D6-3910DFD4F49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719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9C5F4-8223-E9FB-EB8A-8F57B746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701B64-9C40-D0A3-AB0C-37DB0A22795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D8355-DAF8-1591-12A0-7DAF2B7BCF15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A02DE-5CD0-86E1-2DA1-119D8D1795C6}"/>
              </a:ext>
            </a:extLst>
          </p:cNvPr>
          <p:cNvSpPr txBox="1"/>
          <p:nvPr/>
        </p:nvSpPr>
        <p:spPr>
          <a:xfrm>
            <a:off x="874623" y="268986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Extras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765DF7-D919-2F92-345E-A32C313FECE2}"/>
              </a:ext>
            </a:extLst>
          </p:cNvPr>
          <p:cNvSpPr/>
          <p:nvPr/>
        </p:nvSpPr>
        <p:spPr>
          <a:xfrm>
            <a:off x="995680" y="348107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A71D0-EE7F-6BF3-1188-83C583959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29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0F0F5"/>
                </a:solidFill>
                <a:latin typeface="Segoe UI"/>
              </a:rPr>
              <a:t>Pipeline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45920"/>
          <a:ext cx="10515600" cy="4338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76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AB40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AB40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AB40"/>
                          </a:solidFill>
                          <a:latin typeface="Segoe UI"/>
                        </a:rPr>
                        <a:t>Key Actions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AB40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76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AB4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0F0F5"/>
                          </a:solidFill>
                          <a:latin typeface="Segoe UI"/>
                        </a:rPr>
                        <a:t>Corpus Construction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Select ICD conditions, chunk notes by section, attach metadata, deduplicate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Per-condition candidate pools with metadata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76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AB4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Embeddings</a:t>
                      </a:r>
                      <a:r>
                        <a:rPr lang="en-US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Generation</a:t>
                      </a:r>
                      <a:endParaRPr sz="16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Prepend metadata prefix before embedding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Contextualized chunk vectors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7664">
                <a:tc>
                  <a:txBody>
                    <a:bodyPr/>
                    <a:lstStyle/>
                    <a:p>
                      <a:pPr algn="l"/>
                      <a:r>
                        <a:rPr sz="1600" b="1" i="0" dirty="0">
                          <a:solidFill>
                            <a:srgbClr val="FFAB4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Query Generation</a:t>
                      </a:r>
                      <a:r>
                        <a:rPr lang="en-US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via LLM</a:t>
                      </a:r>
                      <a:endParaRPr sz="16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LLM generates multi-aspect clinical questions; gold </a:t>
                      </a:r>
                      <a:r>
                        <a:rPr lang="it-IT"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answers </a:t>
                      </a:r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with facet labels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QA pairs with gold chunk sets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766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AB4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F0F0F5"/>
                          </a:solidFill>
                          <a:latin typeface="Segoe UI"/>
                        </a:rPr>
                        <a:t>Evaluation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Aspect recall, Fac score, Jaccard, </a:t>
                      </a:r>
                      <a:r>
                        <a:rPr sz="1600" b="0" i="0" dirty="0" err="1">
                          <a:solidFill>
                            <a:srgbClr val="F0F0F5"/>
                          </a:solidFill>
                          <a:latin typeface="Segoe UI"/>
                        </a:rPr>
                        <a:t>DocRec</a:t>
                      </a:r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/</a:t>
                      </a:r>
                      <a:r>
                        <a:rPr sz="1600" b="0" i="0" dirty="0" err="1">
                          <a:solidFill>
                            <a:srgbClr val="F0F0F5"/>
                          </a:solidFill>
                          <a:latin typeface="Segoe UI"/>
                        </a:rPr>
                        <a:t>FactRec</a:t>
                      </a:r>
                      <a:endParaRPr sz="16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Coverage vs. dispersion comparison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4A7F40-B30D-FC68-7F91-097AF699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7C3E05-247D-38D9-2728-44A2EA44AE8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0F0F5"/>
                </a:solidFill>
                <a:latin typeface="Segoe UI"/>
              </a:rPr>
              <a:t>Key Parameters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45920"/>
          <a:ext cx="10515600" cy="4429758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8293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chemeClr val="bg1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solidFill>
                            <a:schemeClr val="bg1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 dirty="0">
                          <a:solidFill>
                            <a:schemeClr val="bg1"/>
                          </a:solidFill>
                          <a:latin typeface="Segoe UI"/>
                        </a:rPr>
                        <a:t>Notes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293">
                <a:tc>
                  <a:txBody>
                    <a:bodyPr/>
                    <a:lstStyle/>
                    <a:p>
                      <a:pPr algn="l"/>
                      <a:r>
                        <a:rPr sz="18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λ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Relevance–diversity tradeoff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λ=1: pure top-k, λ=0: pure coverage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293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4F8CFF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Candidate pool size for re-ranking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Too small: no room to diversify; too large: noise enters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293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4F8CFF"/>
                          </a:solidFill>
                          <a:latin typeface="Segoe UI"/>
                        </a:rPr>
                        <a:t>k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Number of chunks to select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Final selection size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293">
                <a:tc>
                  <a:txBody>
                    <a:bodyPr/>
                    <a:lstStyle/>
                    <a:p>
                      <a:pPr algn="l"/>
                      <a:r>
                        <a:rPr sz="1800" b="1" i="0" dirty="0">
                          <a:solidFill>
                            <a:srgbClr val="4F8CFF"/>
                          </a:solidFill>
                          <a:latin typeface="Segoe UI"/>
                        </a:rPr>
                        <a:t>T_max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Token budget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Constrains total context length for LLM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293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4F8CFF"/>
                          </a:solidFill>
                          <a:latin typeface="Segoe UI"/>
                        </a:rPr>
                        <a:t>chunk_tokens / stride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Chunk size and overlap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Controls granularity of information units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238BF-1E6B-DE96-C7DD-522D8D4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992665-2B3B-F013-B84B-13D4A9B7A455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004645-83A6-0AFD-2887-EBB24F78BA44}"/>
              </a:ext>
            </a:extLst>
          </p:cNvPr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0F0F5"/>
                </a:solidFill>
                <a:latin typeface="Segoe UI"/>
              </a:rPr>
              <a:t>Gold Response Generation via LLMs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1000"/>
              </a:spcAft>
            </a:pPr>
            <a:r>
              <a:rPr sz="2400" b="1" i="0" dirty="0">
                <a:solidFill>
                  <a:srgbClr val="FFAB40"/>
                </a:solidFill>
                <a:latin typeface="Segoe UI"/>
              </a:rPr>
              <a:t>Map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00" b="0" i="0" dirty="0">
                <a:solidFill>
                  <a:srgbClr val="FFAB40"/>
                </a:solidFill>
                <a:latin typeface="Segoe UI"/>
              </a:rPr>
              <a:t>▸  </a:t>
            </a:r>
            <a:r>
              <a:rPr sz="1600" b="0" i="0" dirty="0">
                <a:solidFill>
                  <a:srgbClr val="B4B9C8"/>
                </a:solidFill>
                <a:latin typeface="Segoe UI"/>
              </a:rPr>
              <a:t>Split candidate pool into batches of ~50 chunks (~10K tokens)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00" b="0" i="0" dirty="0">
                <a:solidFill>
                  <a:srgbClr val="FFAB40"/>
                </a:solidFill>
                <a:latin typeface="Segoe UI"/>
              </a:rPr>
              <a:t>▸  </a:t>
            </a:r>
            <a:r>
              <a:rPr sz="1600" b="0" i="0" dirty="0">
                <a:solidFill>
                  <a:srgbClr val="B4B9C8"/>
                </a:solidFill>
                <a:latin typeface="Segoe UI"/>
              </a:rPr>
              <a:t>LLM extracts facts relevant to the query from each batch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00" b="0" i="0" dirty="0">
                <a:solidFill>
                  <a:srgbClr val="FFAB40"/>
                </a:solidFill>
                <a:latin typeface="Segoe UI"/>
              </a:rPr>
              <a:t>▸  </a:t>
            </a:r>
            <a:r>
              <a:rPr sz="1600" b="0" i="0" dirty="0">
                <a:solidFill>
                  <a:srgbClr val="B4B9C8"/>
                </a:solidFill>
                <a:latin typeface="Segoe UI"/>
              </a:rPr>
              <a:t>Each fact is cited back to its source chunk(s)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20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>
              <a:spcAft>
                <a:spcPts val="1000"/>
              </a:spcAft>
            </a:pPr>
            <a:r>
              <a:rPr sz="2400" b="1" i="0" dirty="0">
                <a:solidFill>
                  <a:srgbClr val="48C78E"/>
                </a:solidFill>
                <a:latin typeface="Segoe UI"/>
              </a:rPr>
              <a:t>Reduce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00" b="0" i="0" dirty="0">
                <a:solidFill>
                  <a:srgbClr val="48C78E"/>
                </a:solidFill>
                <a:latin typeface="Segoe UI"/>
              </a:rPr>
              <a:t>▸  </a:t>
            </a:r>
            <a:r>
              <a:rPr sz="1600" b="0" i="0" dirty="0">
                <a:solidFill>
                  <a:srgbClr val="B4B9C8"/>
                </a:solidFill>
                <a:latin typeface="Segoe UI"/>
              </a:rPr>
              <a:t>Merge pass synthesizes across all batches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00" b="0" i="0" dirty="0">
                <a:solidFill>
                  <a:srgbClr val="48C78E"/>
                </a:solidFill>
                <a:latin typeface="Segoe UI"/>
              </a:rPr>
              <a:t>▸  </a:t>
            </a:r>
            <a:r>
              <a:rPr sz="1600" b="0" i="0" dirty="0">
                <a:solidFill>
                  <a:srgbClr val="B4B9C8"/>
                </a:solidFill>
                <a:latin typeface="Segoe UI"/>
              </a:rPr>
              <a:t>Deduplicate facets, resolve conflicting citations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600" b="0" i="0" dirty="0">
                <a:solidFill>
                  <a:srgbClr val="48C78E"/>
                </a:solidFill>
                <a:latin typeface="Segoe UI"/>
              </a:rPr>
              <a:t>▸  </a:t>
            </a:r>
            <a:r>
              <a:rPr sz="1600" b="0" i="0" dirty="0">
                <a:solidFill>
                  <a:srgbClr val="B4B9C8"/>
                </a:solidFill>
                <a:latin typeface="Segoe UI"/>
              </a:rPr>
              <a:t>Final gold answer with citations + facet labels per chunk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10515600" cy="1341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i="0" dirty="0">
                <a:solidFill>
                  <a:srgbClr val="4F8CFF"/>
                </a:solidFill>
                <a:latin typeface="Segoe UI"/>
              </a:rPr>
              <a:t>Facet labels:  </a:t>
            </a:r>
            <a:r>
              <a:rPr b="0" i="0" dirty="0">
                <a:solidFill>
                  <a:srgbClr val="B4B9C8"/>
                </a:solidFill>
                <a:latin typeface="Segoe UI"/>
              </a:rPr>
              <a:t>Each gold chunk tagged with aspect (e.g., </a:t>
            </a:r>
            <a:r>
              <a:rPr b="0" i="0" dirty="0" err="1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general_symptoms</a:t>
            </a:r>
            <a:r>
              <a:rPr b="0" i="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b="0" i="0" dirty="0" err="1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cardiac_confounding</a:t>
            </a:r>
            <a:r>
              <a:rPr b="0" i="0" dirty="0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b="0" i="0" dirty="0" err="1">
                <a:solidFill>
                  <a:srgbClr val="B4B9C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treatment_difference</a:t>
            </a:r>
            <a:r>
              <a:rPr b="0" i="0" dirty="0">
                <a:solidFill>
                  <a:srgbClr val="B4B9C8"/>
                </a:solidFill>
                <a:latin typeface="Segoe UI"/>
              </a:rPr>
              <a:t>) → enables aspect recall metric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b="1" i="0" dirty="0">
                <a:solidFill>
                  <a:srgbClr val="FFAB40"/>
                </a:solidFill>
                <a:latin typeface="Segoe UI"/>
              </a:rPr>
              <a:t>Quality verifier:  </a:t>
            </a:r>
            <a:r>
              <a:rPr b="0" i="0" dirty="0">
                <a:solidFill>
                  <a:srgbClr val="B4B9C8"/>
                </a:solidFill>
                <a:latin typeface="Segoe UI"/>
              </a:rPr>
              <a:t>Separate reader-LLM attempts top-k answer; if it succeeds → query too easy → discard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296CA1-B90F-FD81-CB90-977A58808812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2404C8-04A6-1454-BD5D-1E92F1B45F80}"/>
              </a:ext>
            </a:extLst>
          </p:cNvPr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0210C-B3EF-86F3-9E9E-21A8ADF4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631260-1D83-DFF6-0B2D-701BE47BB25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0F0F5"/>
                </a:solidFill>
                <a:latin typeface="Segoe UI"/>
              </a:rPr>
              <a:t>Computational Feasibility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787562"/>
            <a:ext cx="10515600" cy="314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Full corpus: ~3M chunks → O(|D|·k²) facility-location is impractical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Two-stage pipeline: HNSW retrieves N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≫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k candidates, then re-rank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Re-ranking on N=100–1000 candidates is fast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0" i="0" dirty="0">
                <a:solidFill>
                  <a:srgbClr val="4F8C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N is a tunable parameter alongside λ and k</a:t>
            </a:r>
            <a:endParaRPr lang="en-US" sz="2000" b="0" i="0" dirty="0">
              <a:solidFill>
                <a:srgbClr val="F0F0F5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2000" b="0" i="0" dirty="0">
              <a:solidFill>
                <a:srgbClr val="F0F0F5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lang="en-001" sz="2000" dirty="0">
                <a:solidFill>
                  <a:srgbClr val="4F8CFF"/>
                </a:solidFill>
                <a:latin typeface="Segoe UI"/>
              </a:rPr>
              <a:t>▸</a:t>
            </a:r>
            <a:r>
              <a:rPr lang="en-US" sz="2000" dirty="0">
                <a:solidFill>
                  <a:srgbClr val="4F8CFF"/>
                </a:solidFill>
                <a:latin typeface="Segoe UI"/>
              </a:rPr>
              <a:t> Alternative: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build sub-corpuses with limited scope, adding also distractors (like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  <a:latin typeface="Segoe UI"/>
              </a:rPr>
              <a:t>HotpotQA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Segoe UI"/>
              </a:rPr>
              <a:t> and 2WikiMultihopQA)</a:t>
            </a:r>
            <a:endParaRPr sz="2000" b="0" i="0" dirty="0">
              <a:solidFill>
                <a:schemeClr val="bg1">
                  <a:lumMod val="95000"/>
                </a:schemeClr>
              </a:solidFill>
              <a:latin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CF0AEB-C1FC-99DF-D54F-B201F00B89EF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43BD3D-67E7-B088-797E-5083F59678D3}"/>
              </a:ext>
            </a:extLst>
          </p:cNvPr>
          <p:cNvSpPr/>
          <p:nvPr/>
        </p:nvSpPr>
        <p:spPr>
          <a:xfrm>
            <a:off x="975360" y="138684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E3F485-D211-D1DC-298A-A2190C60B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6743D5-2977-D63D-804D-C1EF8BE41F9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0F0F5"/>
                </a:solidFill>
                <a:latin typeface="Segoe UI"/>
              </a:rPr>
              <a:t>Cluster Validation Approaches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283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0" i="0" dirty="0">
                <a:solidFill>
                  <a:srgbClr val="A078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UMAP + HDBSCAN pipeline on embeddings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0" i="0" dirty="0">
                <a:solidFill>
                  <a:srgbClr val="A078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Validate with DBCV, cluster size/density ratios, noise fraction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0" i="0" dirty="0">
                <a:solidFill>
                  <a:srgbClr val="A078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Cross-reference clusters with ICD sub-codes for semantic meaning</a:t>
            </a:r>
            <a:endParaRPr lang="en-US" sz="2000" b="0" i="0" dirty="0">
              <a:solidFill>
                <a:srgbClr val="F0F0F5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sz="2000" b="0" i="0" dirty="0">
              <a:solidFill>
                <a:srgbClr val="F0F0F5"/>
              </a:solidFill>
              <a:latin typeface="Segoe UI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0" i="0" dirty="0">
                <a:solidFill>
                  <a:srgbClr val="A078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Simpler alternative: Jaccard divergence + facility-location gap + aspect recall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b="0" i="0" dirty="0">
                <a:solidFill>
                  <a:srgbClr val="A078FF"/>
                </a:solidFill>
                <a:latin typeface="Segoe UI"/>
              </a:rPr>
              <a:t>▸ 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Full clustering may not be necessary </a:t>
            </a:r>
            <a:r>
              <a:rPr lang="en-US" sz="2000" b="0" i="0" dirty="0">
                <a:solidFill>
                  <a:srgbClr val="F0F0F5"/>
                </a:solidFill>
                <a:latin typeface="Segoe UI"/>
              </a:rPr>
              <a:t>- </a:t>
            </a:r>
            <a:r>
              <a:rPr sz="2000" b="0" i="0" dirty="0">
                <a:solidFill>
                  <a:srgbClr val="F0F0F5"/>
                </a:solidFill>
                <a:latin typeface="Segoe UI"/>
              </a:rPr>
              <a:t>downstream metrics are the real validation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067EF4-35A4-D440-A1BB-D537B0763863}"/>
              </a:ext>
            </a:extLst>
          </p:cNvPr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968E31-4E35-E1C5-347F-977042DCEFD0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FCBEE-3FE8-F42E-45A3-5B666CEB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1148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 dirty="0">
                <a:solidFill>
                  <a:srgbClr val="F0F0F5"/>
                </a:solidFill>
                <a:latin typeface="Segoe UI"/>
              </a:rPr>
              <a:t>Phase 2: 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E</a:t>
            </a:r>
            <a:r>
              <a:rPr sz="3200" b="1" i="0" dirty="0">
                <a:solidFill>
                  <a:srgbClr val="F0F0F5"/>
                </a:solidFill>
                <a:latin typeface="Segoe UI"/>
              </a:rPr>
              <a:t>mbedding</a:t>
            </a:r>
            <a:r>
              <a:rPr lang="en-US" sz="3200" b="1" i="0" dirty="0">
                <a:solidFill>
                  <a:srgbClr val="F0F0F5"/>
                </a:solidFill>
                <a:latin typeface="Segoe UI"/>
              </a:rPr>
              <a:t> models for medical domain</a:t>
            </a:r>
            <a:endParaRPr sz="3200" b="1" i="0" dirty="0">
              <a:solidFill>
                <a:srgbClr val="F0F0F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852108"/>
          <a:ext cx="6421120" cy="196805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3338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235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4F8C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4F8CFF"/>
                          </a:solidFill>
                          <a:latin typeface="Segoe UI"/>
                        </a:rPr>
                        <a:t>Dim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4F8CFF"/>
                          </a:solidFill>
                          <a:latin typeface="Segoe UI"/>
                        </a:rPr>
                        <a:t>Context</a:t>
                      </a:r>
                    </a:p>
                  </a:txBody>
                  <a:tcPr anchor="ctr">
                    <a:solidFill>
                      <a:srgbClr val="262D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939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BioLORD-2023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768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512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939"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MedEmbed (large)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1024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512</a:t>
                      </a:r>
                    </a:p>
                  </a:txBody>
                  <a:tcPr anchor="ctr">
                    <a:solidFill>
                      <a:srgbClr val="21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939">
                <a:tc>
                  <a:txBody>
                    <a:bodyPr/>
                    <a:lstStyle/>
                    <a:p>
                      <a:pPr algn="l"/>
                      <a:r>
                        <a:rPr sz="1800" b="0" i="0" dirty="0" err="1">
                          <a:solidFill>
                            <a:srgbClr val="F0F0F5"/>
                          </a:solidFill>
                          <a:latin typeface="Segoe UI"/>
                        </a:rPr>
                        <a:t>BioClinical</a:t>
                      </a:r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 </a:t>
                      </a:r>
                      <a:r>
                        <a:rPr sz="1800" b="0" i="0" dirty="0" err="1">
                          <a:solidFill>
                            <a:srgbClr val="F0F0F5"/>
                          </a:solidFill>
                          <a:latin typeface="Segoe UI"/>
                        </a:rPr>
                        <a:t>ModernBERT</a:t>
                      </a:r>
                      <a:endParaRPr sz="1800" b="0" i="0" dirty="0">
                        <a:solidFill>
                          <a:srgbClr val="F0F0F5"/>
                        </a:solidFill>
                        <a:latin typeface="Segoe UI"/>
                      </a:endParaRP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>
                          <a:solidFill>
                            <a:srgbClr val="F0F0F5"/>
                          </a:solidFill>
                          <a:latin typeface="Segoe UI"/>
                        </a:rPr>
                        <a:t>768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dirty="0">
                          <a:solidFill>
                            <a:srgbClr val="F0F0F5"/>
                          </a:solidFill>
                          <a:latin typeface="Segoe UI"/>
                        </a:rPr>
                        <a:t>8,192</a:t>
                      </a:r>
                    </a:p>
                  </a:txBody>
                  <a:tcPr anchor="ctr">
                    <a:solidFill>
                      <a:srgbClr val="1C21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1849FAA0-D457-2009-7C3F-29602EBD84D3}"/>
              </a:ext>
            </a:extLst>
          </p:cNvPr>
          <p:cNvSpPr/>
          <p:nvPr/>
        </p:nvSpPr>
        <p:spPr>
          <a:xfrm>
            <a:off x="0" y="35560"/>
            <a:ext cx="73152" cy="68580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ACA0F4-9A0C-36AA-C1A4-F01BC8E1DE6E}"/>
              </a:ext>
            </a:extLst>
          </p:cNvPr>
          <p:cNvSpPr/>
          <p:nvPr/>
        </p:nvSpPr>
        <p:spPr>
          <a:xfrm>
            <a:off x="822960" y="1234440"/>
            <a:ext cx="2286000" cy="3175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81D1F25-B32C-1A73-F30C-C35C1E0E1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Widescreen</PresentationFormat>
  <Paragraphs>86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JetBrains Mono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Fabrizio Pagnozzi</dc:creator>
  <cp:lastModifiedBy>Fabrizio Pagnozzi</cp:lastModifiedBy>
  <cp:revision>1</cp:revision>
  <dcterms:created xsi:type="dcterms:W3CDTF">2026-03-30T09:13:17Z</dcterms:created>
  <dcterms:modified xsi:type="dcterms:W3CDTF">2026-03-30T09:13:45Z</dcterms:modified>
</cp:coreProperties>
</file>