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90" r:id="rId3"/>
    <p:sldId id="279" r:id="rId4"/>
    <p:sldId id="257" r:id="rId5"/>
    <p:sldId id="287" r:id="rId6"/>
    <p:sldId id="258" r:id="rId7"/>
    <p:sldId id="289" r:id="rId8"/>
    <p:sldId id="259" r:id="rId9"/>
    <p:sldId id="278" r:id="rId10"/>
    <p:sldId id="285" r:id="rId11"/>
    <p:sldId id="262" r:id="rId12"/>
    <p:sldId id="280" r:id="rId13"/>
    <p:sldId id="265" r:id="rId14"/>
    <p:sldId id="284" r:id="rId15"/>
    <p:sldId id="291" r:id="rId16"/>
    <p:sldId id="268" r:id="rId17"/>
    <p:sldId id="277" r:id="rId18"/>
    <p:sldId id="264" r:id="rId19"/>
    <p:sldId id="286" r:id="rId20"/>
    <p:sldId id="281" r:id="rId21"/>
    <p:sldId id="270" r:id="rId22"/>
    <p:sldId id="283" r:id="rId23"/>
    <p:sldId id="271" r:id="rId24"/>
    <p:sldId id="269" r:id="rId25"/>
    <p:sldId id="288"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C78E"/>
    <a:srgbClr val="FFAB40"/>
    <a:srgbClr val="4F8CFF"/>
    <a:srgbClr val="212636"/>
    <a:srgbClr val="1C212F"/>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172" autoAdjust="0"/>
  </p:normalViewPr>
  <p:slideViewPr>
    <p:cSldViewPr snapToGrid="0" snapToObjects="1">
      <p:cViewPr varScale="1">
        <p:scale>
          <a:sx n="113" d="100"/>
          <a:sy n="113" d="100"/>
        </p:scale>
        <p:origin x="47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95136B-D240-4AC1-860D-A53BD70B9DD0}" type="datetimeFigureOut">
              <a:rPr lang="LID4096" smtClean="0"/>
              <a:t>06/18/2026</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DBEF9-DC59-42C5-8EB6-D4529DDE25A4}" type="slidenum">
              <a:rPr lang="LID4096" smtClean="0"/>
              <a:t>‹#›</a:t>
            </a:fld>
            <a:endParaRPr lang="LID4096"/>
          </a:p>
        </p:txBody>
      </p:sp>
    </p:spTree>
    <p:extLst>
      <p:ext uri="{BB962C8B-B14F-4D97-AF65-F5344CB8AC3E}">
        <p14:creationId xmlns:p14="http://schemas.microsoft.com/office/powerpoint/2010/main" val="258735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946C467-44DF-404A-AD8D-BD7FC61F89E0}"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DF8CFE6-D184-487A-ACD8-A82DCF433FE4}"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CF5D13-F6BB-4CFE-9D3A-C12C7FF7146A}"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0C06912-22D9-4F6C-B8D3-B4D2C75C002C}"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0D3F3C-ACFC-4546-A995-7A6F4D5F2C2F}" type="datetime1">
              <a:rPr lang="en-US" smtClean="0"/>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50F4C59-E9D1-4841-8245-1515E61AFD97}" type="datetime1">
              <a:rPr lang="en-US" smtClean="0"/>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FE2A83-F9D6-485C-B62C-7D807D9F4EEC}" type="datetime1">
              <a:rPr lang="en-US" smtClean="0"/>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9865360" y="6356349"/>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5A34C42-C467-4317-9AB6-F6377EDB2B46}"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CCA7F95-4EC6-49DA-B964-0DFF9C20A579}" type="datetime1">
              <a:rPr lang="en-US" smtClean="0"/>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7DE8645-AF42-4890-A560-4B70522C4AFC}"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A694C5-6E2F-4E41-B8EF-647314903EED}" type="datetime1">
              <a:rPr lang="en-US" smtClean="0"/>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8C62E3-A9B5-4551-83D8-3C193A9C17DB}" type="datetime1">
              <a:rPr lang="en-US" smtClean="0"/>
              <a:t>6/18/2026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21C"/>
        </a:solidFill>
        <a:effectLst/>
      </p:bgPr>
    </p:bg>
    <p:spTree>
      <p:nvGrpSpPr>
        <p:cNvPr id="1" name=""/>
        <p:cNvGrpSpPr/>
        <p:nvPr/>
      </p:nvGrpSpPr>
      <p:grpSpPr>
        <a:xfrm>
          <a:off x="0" y="0"/>
          <a:ext cx="0" cy="0"/>
          <a:chOff x="0" y="0"/>
          <a:chExt cx="0" cy="0"/>
        </a:xfrm>
      </p:grpSpPr>
      <p:sp>
        <p:nvSpPr>
          <p:cNvPr id="2" name="Rectangle 1"/>
          <p:cNvSpPr/>
          <p:nvPr/>
        </p:nvSpPr>
        <p:spPr>
          <a:xfrm>
            <a:off x="0" y="0"/>
            <a:ext cx="109728"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183880" y="1280160"/>
            <a:ext cx="2286000" cy="2286000"/>
          </a:xfrm>
          <a:prstGeom prst="ellipse">
            <a:avLst/>
          </a:prstGeom>
          <a:gradFill flip="none" rotWithShape="1">
            <a:gsLst>
              <a:gs pos="0">
                <a:srgbClr val="28375A">
                  <a:shade val="30000"/>
                  <a:satMod val="115000"/>
                </a:srgbClr>
              </a:gs>
              <a:gs pos="50000">
                <a:srgbClr val="28375A">
                  <a:shade val="67500"/>
                  <a:satMod val="115000"/>
                </a:srgbClr>
              </a:gs>
              <a:gs pos="100000">
                <a:srgbClr val="28375A">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942832" y="4549706"/>
            <a:ext cx="1371600" cy="1371600"/>
          </a:xfrm>
          <a:prstGeom prst="ellipse">
            <a:avLst/>
          </a:prstGeom>
          <a:gradFill flip="none" rotWithShape="1">
            <a:gsLst>
              <a:gs pos="0">
                <a:srgbClr val="23304E">
                  <a:shade val="30000"/>
                  <a:satMod val="115000"/>
                </a:srgbClr>
              </a:gs>
              <a:gs pos="50000">
                <a:srgbClr val="23304E">
                  <a:shade val="67500"/>
                  <a:satMod val="115000"/>
                </a:srgbClr>
              </a:gs>
              <a:gs pos="100000">
                <a:srgbClr val="23304E">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0469880" y="3566160"/>
            <a:ext cx="914400" cy="914400"/>
          </a:xfrm>
          <a:prstGeom prst="ellipse">
            <a:avLst/>
          </a:prstGeom>
          <a:gradFill flip="none" rotWithShape="1">
            <a:gsLst>
              <a:gs pos="0">
                <a:srgbClr val="2D3C5F">
                  <a:shade val="30000"/>
                  <a:satMod val="115000"/>
                </a:srgbClr>
              </a:gs>
              <a:gs pos="50000">
                <a:srgbClr val="2D3C5F">
                  <a:shade val="67500"/>
                  <a:satMod val="115000"/>
                </a:srgbClr>
              </a:gs>
              <a:gs pos="100000">
                <a:srgbClr val="2D3C5F">
                  <a:shade val="100000"/>
                  <a:satMod val="115000"/>
                </a:srgbClr>
              </a:gs>
            </a:gsLst>
            <a:lin ang="16200000" scaled="1"/>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1828800"/>
            <a:ext cx="9144000" cy="1446550"/>
          </a:xfrm>
          <a:prstGeom prst="rect">
            <a:avLst/>
          </a:prstGeom>
          <a:noFill/>
        </p:spPr>
        <p:txBody>
          <a:bodyPr wrap="square">
            <a:spAutoFit/>
          </a:bodyPr>
          <a:lstStyle/>
          <a:p>
            <a:r>
              <a:rPr sz="4400" b="1" i="1" dirty="0">
                <a:solidFill>
                  <a:srgbClr val="F0F0F5"/>
                </a:solidFill>
                <a:latin typeface="Segoe UI"/>
              </a:rPr>
              <a:t>MIMIC-IV</a:t>
            </a:r>
            <a:r>
              <a:rPr sz="4400" b="1" i="0" dirty="0">
                <a:solidFill>
                  <a:srgbClr val="F0F0F5"/>
                </a:solidFill>
                <a:latin typeface="Segoe UI"/>
              </a:rPr>
              <a:t> </a:t>
            </a:r>
            <a:r>
              <a:rPr lang="en-US" sz="4400" b="1" i="0" dirty="0">
                <a:solidFill>
                  <a:srgbClr val="F0F0F5"/>
                </a:solidFill>
                <a:latin typeface="Segoe UI"/>
              </a:rPr>
              <a:t>Dataset </a:t>
            </a:r>
          </a:p>
          <a:p>
            <a:r>
              <a:rPr sz="4400" b="1" i="0" dirty="0">
                <a:solidFill>
                  <a:srgbClr val="F0F0F5"/>
                </a:solidFill>
                <a:latin typeface="Segoe UI"/>
              </a:rPr>
              <a:t>QA Benchmark</a:t>
            </a:r>
            <a:r>
              <a:rPr lang="en-US" sz="4400" b="1" i="0" dirty="0">
                <a:solidFill>
                  <a:srgbClr val="F0F0F5"/>
                </a:solidFill>
                <a:latin typeface="Segoe UI"/>
              </a:rPr>
              <a:t> for Coverage</a:t>
            </a:r>
            <a:endParaRPr sz="4400" b="1" i="0" dirty="0">
              <a:solidFill>
                <a:srgbClr val="F0F0F5"/>
              </a:solidFill>
              <a:latin typeface="Segoe UI"/>
            </a:endParaRPr>
          </a:p>
        </p:txBody>
      </p:sp>
      <p:sp>
        <p:nvSpPr>
          <p:cNvPr id="7" name="Rectangle 6"/>
          <p:cNvSpPr/>
          <p:nvPr/>
        </p:nvSpPr>
        <p:spPr>
          <a:xfrm>
            <a:off x="1097280" y="3566160"/>
            <a:ext cx="2743200" cy="508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97280" y="3931920"/>
            <a:ext cx="8229600" cy="430887"/>
          </a:xfrm>
          <a:prstGeom prst="rect">
            <a:avLst/>
          </a:prstGeom>
          <a:noFill/>
        </p:spPr>
        <p:txBody>
          <a:bodyPr wrap="square">
            <a:spAutoFit/>
          </a:bodyPr>
          <a:lstStyle/>
          <a:p>
            <a:pPr>
              <a:spcAft>
                <a:spcPts val="600"/>
              </a:spcAft>
            </a:pPr>
            <a:r>
              <a:rPr lang="en-US" sz="2200" b="0" i="0" dirty="0">
                <a:solidFill>
                  <a:srgbClr val="A0A8BE"/>
                </a:solidFill>
                <a:latin typeface="Segoe UI"/>
              </a:rPr>
              <a:t>Diversity </a:t>
            </a:r>
            <a:r>
              <a:rPr lang="it-IT" sz="2200" b="0" i="0" dirty="0">
                <a:solidFill>
                  <a:srgbClr val="A0A8BE"/>
                </a:solidFill>
                <a:latin typeface="Segoe UI"/>
              </a:rPr>
              <a:t>in RAG Retrieval</a:t>
            </a:r>
            <a:endParaRPr sz="2200" b="0" i="0" dirty="0">
              <a:solidFill>
                <a:srgbClr val="A0A8BE"/>
              </a:solidFill>
              <a:latin typeface="Segoe UI"/>
            </a:endParaRPr>
          </a:p>
        </p:txBody>
      </p:sp>
      <p:sp>
        <p:nvSpPr>
          <p:cNvPr id="9" name="Slide Number Placeholder 8">
            <a:extLst>
              <a:ext uri="{FF2B5EF4-FFF2-40B4-BE49-F238E27FC236}">
                <a16:creationId xmlns:a16="http://schemas.microsoft.com/office/drawing/2014/main" id="{1C240976-18A3-DF25-DD75-83DF8BF92D43}"/>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0" y="6400800"/>
            <a:ext cx="731520" cy="365760"/>
          </a:xfrm>
          <a:prstGeom prst="rect">
            <a:avLst/>
          </a:prstGeom>
          <a:noFill/>
        </p:spPr>
        <p:txBody>
          <a:bodyPr wrap="none">
            <a:spAutoFit/>
          </a:bodyPr>
          <a:lstStyle/>
          <a:p>
            <a:pPr algn="r"/>
            <a:r>
              <a:rPr sz="1100" b="0" i="0">
                <a:solidFill>
                  <a:srgbClr val="828796"/>
                </a:solidFill>
                <a:latin typeface="Segoe UI"/>
              </a:rPr>
              <a:t>2</a:t>
            </a:r>
          </a:p>
        </p:txBody>
      </p:sp>
      <p:sp>
        <p:nvSpPr>
          <p:cNvPr id="5" name="TextBox 4"/>
          <p:cNvSpPr txBox="1"/>
          <p:nvPr/>
        </p:nvSpPr>
        <p:spPr>
          <a:xfrm>
            <a:off x="822960" y="411480"/>
            <a:ext cx="10515600" cy="731520"/>
          </a:xfrm>
          <a:prstGeom prst="rect">
            <a:avLst/>
          </a:prstGeom>
          <a:noFill/>
        </p:spPr>
        <p:txBody>
          <a:bodyPr wrap="none">
            <a:spAutoFit/>
          </a:bodyPr>
          <a:lstStyle/>
          <a:p>
            <a:r>
              <a:rPr sz="3200" b="1" i="0">
                <a:solidFill>
                  <a:srgbClr val="F0F0F5"/>
                </a:solidFill>
                <a:latin typeface="Segoe UI"/>
              </a:rPr>
              <a:t>Outline</a:t>
            </a:r>
          </a:p>
        </p:txBody>
      </p:sp>
      <p:sp>
        <p:nvSpPr>
          <p:cNvPr id="6" name="Rectangle 5"/>
          <p:cNvSpPr/>
          <p:nvPr/>
        </p:nvSpPr>
        <p:spPr>
          <a:xfrm>
            <a:off x="822960" y="1051560"/>
            <a:ext cx="13716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328500"/>
            <a:ext cx="8948569" cy="4004109"/>
          </a:xfrm>
          <a:prstGeom prst="rect">
            <a:avLst/>
          </a:prstGeom>
          <a:noFill/>
        </p:spPr>
        <p:txBody>
          <a:bodyPr wrap="square">
            <a:spAutoFit/>
          </a:bodyPr>
          <a:lstStyle/>
          <a:p>
            <a:pPr marL="457200" indent="-457200">
              <a:lnSpc>
                <a:spcPct val="150000"/>
              </a:lnSpc>
              <a:buFont typeface="+mj-lt"/>
              <a:buAutoNum type="arabicPeriod"/>
            </a:pPr>
            <a:r>
              <a:rPr lang="en-US" sz="2400" dirty="0">
                <a:solidFill>
                  <a:schemeClr val="bg1">
                    <a:lumMod val="95000"/>
                  </a:schemeClr>
                </a:solidFill>
                <a:latin typeface="Segoe UI"/>
              </a:rPr>
              <a:t>Why build a benchmark on medical data?</a:t>
            </a:r>
          </a:p>
          <a:p>
            <a:pPr marL="457200" indent="-457200">
              <a:spcBef>
                <a:spcPts val="1000"/>
              </a:spcBef>
              <a:spcAft>
                <a:spcPts val="400"/>
              </a:spcAft>
              <a:buFont typeface="+mj-lt"/>
              <a:buAutoNum type="arabicPeriod"/>
            </a:pPr>
            <a:r>
              <a:rPr sz="2400" i="0" dirty="0">
                <a:solidFill>
                  <a:schemeClr val="bg1">
                    <a:lumMod val="95000"/>
                  </a:schemeClr>
                </a:solidFill>
                <a:latin typeface="Segoe UI"/>
              </a:rPr>
              <a:t>Ideal </a:t>
            </a:r>
            <a:r>
              <a:rPr lang="en-US" sz="2400" dirty="0">
                <a:solidFill>
                  <a:schemeClr val="bg1">
                    <a:lumMod val="95000"/>
                  </a:schemeClr>
                </a:solidFill>
                <a:latin typeface="Segoe UI"/>
              </a:rPr>
              <a:t>d</a:t>
            </a:r>
            <a:r>
              <a:rPr lang="en-US" sz="2400" i="0" dirty="0">
                <a:solidFill>
                  <a:schemeClr val="bg1">
                    <a:lumMod val="95000"/>
                  </a:schemeClr>
                </a:solidFill>
                <a:latin typeface="Segoe UI"/>
              </a:rPr>
              <a:t>ataset for diversity</a:t>
            </a:r>
          </a:p>
          <a:p>
            <a:pPr marL="457200" indent="-457200">
              <a:spcBef>
                <a:spcPts val="1000"/>
              </a:spcBef>
              <a:spcAft>
                <a:spcPts val="400"/>
              </a:spcAft>
              <a:buFont typeface="+mj-lt"/>
              <a:buAutoNum type="arabicPeriod"/>
            </a:pPr>
            <a:r>
              <a:rPr lang="it-IT" sz="2400" dirty="0">
                <a:solidFill>
                  <a:schemeClr val="bg1">
                    <a:lumMod val="95000"/>
                  </a:schemeClr>
                </a:solidFill>
                <a:latin typeface="Segoe UI"/>
              </a:rPr>
              <a:t>Coverage: Facility-Location objective</a:t>
            </a:r>
            <a:endParaRPr sz="2400" i="0" dirty="0">
              <a:solidFill>
                <a:schemeClr val="bg1">
                  <a:lumMod val="95000"/>
                </a:schemeClr>
              </a:solidFill>
              <a:latin typeface="Segoe UI"/>
            </a:endParaRPr>
          </a:p>
          <a:p>
            <a:pPr marL="457200" indent="-457200">
              <a:spcBef>
                <a:spcPts val="1000"/>
              </a:spcBef>
              <a:spcAft>
                <a:spcPts val="400"/>
              </a:spcAft>
              <a:buFont typeface="+mj-lt"/>
              <a:buAutoNum type="arabicPeriod"/>
            </a:pPr>
            <a:r>
              <a:rPr sz="2400" i="0" dirty="0">
                <a:solidFill>
                  <a:schemeClr val="bg1">
                    <a:lumMod val="95000"/>
                  </a:schemeClr>
                </a:solidFill>
                <a:latin typeface="Segoe UI"/>
              </a:rPr>
              <a:t>MIMIC-IV </a:t>
            </a:r>
            <a:r>
              <a:rPr lang="en-US" sz="2400" i="0" dirty="0">
                <a:solidFill>
                  <a:schemeClr val="bg1">
                    <a:lumMod val="95000"/>
                  </a:schemeClr>
                </a:solidFill>
                <a:latin typeface="Segoe UI"/>
              </a:rPr>
              <a:t>d</a:t>
            </a:r>
            <a:r>
              <a:rPr sz="2400" i="0" dirty="0">
                <a:solidFill>
                  <a:schemeClr val="bg1">
                    <a:lumMod val="95000"/>
                  </a:schemeClr>
                </a:solidFill>
                <a:latin typeface="Segoe UI"/>
              </a:rPr>
              <a:t>ataset</a:t>
            </a:r>
            <a:endParaRPr lang="en-US" sz="2400" i="0" dirty="0">
              <a:solidFill>
                <a:schemeClr val="bg1">
                  <a:lumMod val="95000"/>
                </a:schemeClr>
              </a:solidFill>
              <a:latin typeface="Segoe UI"/>
            </a:endParaRPr>
          </a:p>
          <a:p>
            <a:pPr marL="914400" lvl="1" indent="-457200">
              <a:spcBef>
                <a:spcPts val="1000"/>
              </a:spcBef>
              <a:spcAft>
                <a:spcPts val="400"/>
              </a:spcAft>
              <a:buFont typeface="Wingdings" panose="05000000000000000000" pitchFamily="2" charset="2"/>
              <a:buChar char="§"/>
            </a:pPr>
            <a:r>
              <a:rPr lang="it-IT" sz="2400" dirty="0">
                <a:solidFill>
                  <a:schemeClr val="bg1">
                    <a:lumMod val="95000"/>
                  </a:schemeClr>
                </a:solidFill>
                <a:latin typeface="Segoe UI"/>
              </a:rPr>
              <a:t>Overview</a:t>
            </a:r>
            <a:endParaRPr lang="en-US" sz="2400" i="0" dirty="0">
              <a:solidFill>
                <a:schemeClr val="bg1">
                  <a:lumMod val="95000"/>
                </a:schemeClr>
              </a:solidFill>
              <a:latin typeface="Segoe UI"/>
            </a:endParaRPr>
          </a:p>
          <a:p>
            <a:pPr marL="914400" lvl="1" indent="-457200">
              <a:spcBef>
                <a:spcPts val="1000"/>
              </a:spcBef>
              <a:spcAft>
                <a:spcPts val="400"/>
              </a:spcAft>
              <a:buFont typeface="Wingdings" panose="05000000000000000000" pitchFamily="2" charset="2"/>
              <a:buChar char="§"/>
            </a:pPr>
            <a:r>
              <a:rPr lang="it-IT" sz="2400" i="0" dirty="0">
                <a:solidFill>
                  <a:schemeClr val="bg1">
                    <a:lumMod val="95000"/>
                  </a:schemeClr>
                </a:solidFill>
                <a:latin typeface="Segoe UI"/>
              </a:rPr>
              <a:t>Motivations for coverage suitability</a:t>
            </a:r>
          </a:p>
          <a:p>
            <a:pPr marL="457200" indent="-457200">
              <a:lnSpc>
                <a:spcPct val="150000"/>
              </a:lnSpc>
              <a:spcBef>
                <a:spcPts val="1000"/>
              </a:spcBef>
              <a:spcAft>
                <a:spcPts val="400"/>
              </a:spcAft>
              <a:buFont typeface="+mj-lt"/>
              <a:buAutoNum type="arabicPeriod"/>
            </a:pPr>
            <a:r>
              <a:rPr lang="en-US" sz="2400" i="0" dirty="0">
                <a:solidFill>
                  <a:schemeClr val="bg1">
                    <a:lumMod val="95000"/>
                  </a:schemeClr>
                </a:solidFill>
                <a:latin typeface="Segoe UI"/>
              </a:rPr>
              <a:t>Experimental pipeline for building QA benchmark</a:t>
            </a:r>
            <a:endParaRPr sz="2400" i="0" dirty="0">
              <a:solidFill>
                <a:schemeClr val="bg1">
                  <a:lumMod val="95000"/>
                </a:schemeClr>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lang="en-US" sz="3200" b="1" i="0" dirty="0">
                <a:solidFill>
                  <a:srgbClr val="F0F0F5"/>
                </a:solidFill>
                <a:latin typeface="Segoe UI"/>
              </a:rPr>
              <a:t>Why Build a Benchmark on medical data?</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99307"/>
            <a:ext cx="10105016" cy="3708708"/>
          </a:xfrm>
          <a:prstGeom prst="rect">
            <a:avLst/>
          </a:prstGeom>
          <a:noFill/>
        </p:spPr>
        <p:txBody>
          <a:bodyPr wrap="square">
            <a:spAutoFit/>
          </a:bodyPr>
          <a:lstStyle/>
          <a:p>
            <a:pPr>
              <a:spcBef>
                <a:spcPts val="1000"/>
              </a:spcBef>
              <a:spcAft>
                <a:spcPts val="400"/>
              </a:spcAft>
            </a:pPr>
            <a:r>
              <a:rPr lang="it-IT" sz="2000" dirty="0">
                <a:solidFill>
                  <a:srgbClr val="4F8CFF"/>
                </a:solidFill>
                <a:latin typeface="Segoe UI"/>
              </a:rPr>
              <a:t>▸</a:t>
            </a:r>
            <a:r>
              <a:rPr sz="2000" b="0" i="0" dirty="0">
                <a:solidFill>
                  <a:srgbClr val="4F8CFF"/>
                </a:solidFill>
                <a:latin typeface="Segoe UI"/>
              </a:rPr>
              <a:t>  </a:t>
            </a:r>
            <a:r>
              <a:rPr sz="2000" b="0" i="0" dirty="0">
                <a:solidFill>
                  <a:srgbClr val="F0F0F5"/>
                </a:solidFill>
                <a:latin typeface="Segoe UI"/>
              </a:rPr>
              <a:t>Need to show coverage wins when </a:t>
            </a:r>
            <a:r>
              <a:rPr lang="en-US" sz="2000" b="0" i="0" dirty="0">
                <a:solidFill>
                  <a:srgbClr val="F0F0F5"/>
                </a:solidFill>
                <a:latin typeface="Segoe UI"/>
              </a:rPr>
              <a:t>candidate </a:t>
            </a:r>
            <a:r>
              <a:rPr sz="2000" b="0" i="0" dirty="0">
                <a:solidFill>
                  <a:srgbClr val="F0F0F5"/>
                </a:solidFill>
                <a:latin typeface="Segoe UI"/>
              </a:rPr>
              <a:t>pools have multi-cluster structure</a:t>
            </a:r>
          </a:p>
          <a:p>
            <a:pPr>
              <a:spcBef>
                <a:spcPts val="1200"/>
              </a:spcBef>
              <a:spcAft>
                <a:spcPts val="400"/>
              </a:spcAft>
            </a:pPr>
            <a:r>
              <a:rPr lang="it-IT" sz="2000" dirty="0">
                <a:solidFill>
                  <a:srgbClr val="4F8CFF"/>
                </a:solidFill>
                <a:latin typeface="Segoe UI"/>
              </a:rPr>
              <a:t>▸  </a:t>
            </a:r>
            <a:r>
              <a:rPr lang="it-IT" sz="2000" dirty="0">
                <a:solidFill>
                  <a:srgbClr val="F0F0F5"/>
                </a:solidFill>
                <a:latin typeface="Segoe UI"/>
              </a:rPr>
              <a:t>Medical data is multi-faceted</a:t>
            </a:r>
          </a:p>
          <a:p>
            <a:pPr marL="742950" lvl="1" indent="-285750">
              <a:spcBef>
                <a:spcPts val="200"/>
              </a:spcBef>
              <a:spcAft>
                <a:spcPts val="200"/>
              </a:spcAft>
              <a:buFont typeface="Wingdings" panose="05000000000000000000" pitchFamily="2" charset="2"/>
              <a:buChar char="§"/>
            </a:pPr>
            <a:r>
              <a:rPr lang="it-IT" sz="2000" dirty="0">
                <a:solidFill>
                  <a:schemeClr val="bg1">
                    <a:lumMod val="75000"/>
                  </a:schemeClr>
                </a:solidFill>
                <a:latin typeface="Segoe UI"/>
              </a:rPr>
              <a:t>A</a:t>
            </a:r>
            <a:r>
              <a:rPr lang="it-IT" sz="2000" dirty="0">
                <a:solidFill>
                  <a:srgbClr val="B4B9C8"/>
                </a:solidFill>
                <a:latin typeface="Segoe UI"/>
              </a:rPr>
              <a:t>spects: diagnosis, treatment, demographics, comorbidities</a:t>
            </a:r>
          </a:p>
          <a:p>
            <a:pPr>
              <a:spcBef>
                <a:spcPts val="200"/>
              </a:spcBef>
              <a:spcAft>
                <a:spcPts val="200"/>
              </a:spcAft>
            </a:pPr>
            <a:endParaRPr lang="it-IT" sz="2000" dirty="0">
              <a:solidFill>
                <a:srgbClr val="B4B9C8"/>
              </a:solidFill>
              <a:latin typeface="Segoe UI"/>
            </a:endParaRPr>
          </a:p>
          <a:p>
            <a:pPr>
              <a:spcBef>
                <a:spcPts val="200"/>
              </a:spcBef>
              <a:spcAft>
                <a:spcPts val="200"/>
              </a:spcAft>
            </a:pPr>
            <a:r>
              <a:rPr lang="it-IT" sz="2000" dirty="0">
                <a:solidFill>
                  <a:srgbClr val="48C78E"/>
                </a:solidFill>
                <a:latin typeface="Segoe UI"/>
              </a:rPr>
              <a:t>▸ Example of queries:</a:t>
            </a:r>
          </a:p>
          <a:p>
            <a:pPr marL="742950" lvl="1" indent="-285750">
              <a:spcBef>
                <a:spcPts val="200"/>
              </a:spcBef>
              <a:spcAft>
                <a:spcPts val="200"/>
              </a:spcAft>
              <a:buFont typeface="Wingdings" panose="05000000000000000000" pitchFamily="2" charset="2"/>
              <a:buChar char="§"/>
            </a:pPr>
            <a:r>
              <a:rPr lang="en-US" sz="2000" i="1" dirty="0">
                <a:solidFill>
                  <a:schemeClr val="bg1">
                    <a:lumMod val="75000"/>
                  </a:schemeClr>
                </a:solidFill>
                <a:latin typeface="Segoe UI"/>
              </a:rPr>
              <a:t>"How is pneumonia managed in elderly patients with CKD (Complex Kidney Disease)?“</a:t>
            </a:r>
          </a:p>
          <a:p>
            <a:pPr marL="742950" lvl="1" indent="-285750">
              <a:spcBef>
                <a:spcPts val="200"/>
              </a:spcBef>
              <a:spcAft>
                <a:spcPts val="200"/>
              </a:spcAft>
              <a:buFont typeface="Wingdings" panose="05000000000000000000" pitchFamily="2" charset="2"/>
              <a:buChar char="§"/>
            </a:pPr>
            <a:r>
              <a:rPr lang="en-US" sz="2000" i="1" dirty="0">
                <a:solidFill>
                  <a:schemeClr val="bg1">
                    <a:lumMod val="75000"/>
                  </a:schemeClr>
                </a:solidFill>
                <a:latin typeface="Segoe UI"/>
              </a:rPr>
              <a:t>“What are the symptoms of stroke, and how does the treatment differ if the patient has a prior history of myocardial infarction?"</a:t>
            </a:r>
            <a:endParaRPr lang="en-US" sz="2000" dirty="0">
              <a:solidFill>
                <a:srgbClr val="828796"/>
              </a:solidFill>
              <a:latin typeface="Segoe UI"/>
            </a:endParaRPr>
          </a:p>
          <a:p>
            <a:pPr>
              <a:spcBef>
                <a:spcPts val="200"/>
              </a:spcBef>
              <a:spcAft>
                <a:spcPts val="200"/>
              </a:spcAft>
            </a:pPr>
            <a:endParaRPr lang="it-IT" sz="2000" dirty="0">
              <a:solidFill>
                <a:srgbClr val="B4B9C8"/>
              </a:solidFill>
              <a:latin typeface="Segoe UI"/>
            </a:endParaRPr>
          </a:p>
        </p:txBody>
      </p:sp>
      <p:sp>
        <p:nvSpPr>
          <p:cNvPr id="8" name="Slide Number Placeholder 7">
            <a:extLst>
              <a:ext uri="{FF2B5EF4-FFF2-40B4-BE49-F238E27FC236}">
                <a16:creationId xmlns:a16="http://schemas.microsoft.com/office/drawing/2014/main" id="{834796A9-812B-7552-8D35-4C8271B3D25D}"/>
              </a:ext>
            </a:extLst>
          </p:cNvPr>
          <p:cNvSpPr>
            <a:spLocks noGrp="1"/>
          </p:cNvSpPr>
          <p:nvPr>
            <p:ph type="sldNum" sz="quarter" idx="12"/>
          </p:nvPr>
        </p:nvSpPr>
        <p:spPr/>
        <p:txBody>
          <a:bodyPr/>
          <a:lstStyle/>
          <a:p>
            <a:fld id="{C1FF6DA9-008F-8B48-92A6-B652298478BF}"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Ideal </a:t>
            </a:r>
            <a:r>
              <a:rPr lang="en-US" sz="3200" b="1" i="0" dirty="0">
                <a:solidFill>
                  <a:srgbClr val="F0F0F5"/>
                </a:solidFill>
                <a:latin typeface="Segoe UI"/>
              </a:rPr>
              <a:t>Dataset</a:t>
            </a:r>
            <a:r>
              <a:rPr sz="3200" b="1" i="0" dirty="0">
                <a:solidFill>
                  <a:srgbClr val="F0F0F5"/>
                </a:solidFill>
                <a:latin typeface="Segoe UI"/>
              </a:rPr>
              <a:t> for </a:t>
            </a:r>
            <a:r>
              <a:rPr lang="en-US" sz="3200" b="1" i="0" dirty="0">
                <a:solidFill>
                  <a:srgbClr val="F0F0F5"/>
                </a:solidFill>
                <a:latin typeface="Segoe UI"/>
              </a:rPr>
              <a:t>Diversity</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lide Number Placeholder 7">
            <a:extLst>
              <a:ext uri="{FF2B5EF4-FFF2-40B4-BE49-F238E27FC236}">
                <a16:creationId xmlns:a16="http://schemas.microsoft.com/office/drawing/2014/main" id="{348FE352-D30D-7819-84B2-C2854053C40C}"/>
              </a:ext>
            </a:extLst>
          </p:cNvPr>
          <p:cNvSpPr>
            <a:spLocks noGrp="1"/>
          </p:cNvSpPr>
          <p:nvPr>
            <p:ph type="sldNum" sz="quarter" idx="12"/>
          </p:nvPr>
        </p:nvSpPr>
        <p:spPr/>
        <p:txBody>
          <a:bodyPr/>
          <a:lstStyle/>
          <a:p>
            <a:fld id="{C1FF6DA9-008F-8B48-92A6-B652298478BF}" type="slidenum">
              <a:rPr lang="en-US" smtClean="0"/>
              <a:t>4</a:t>
            </a:fld>
            <a:endParaRPr lang="en-US"/>
          </a:p>
        </p:txBody>
      </p:sp>
      <p:sp>
        <p:nvSpPr>
          <p:cNvPr id="3" name="TextBox 2">
            <a:extLst>
              <a:ext uri="{FF2B5EF4-FFF2-40B4-BE49-F238E27FC236}">
                <a16:creationId xmlns:a16="http://schemas.microsoft.com/office/drawing/2014/main" id="{157813B8-4B50-CC78-30FC-C125A3D37C29}"/>
              </a:ext>
            </a:extLst>
          </p:cNvPr>
          <p:cNvSpPr txBox="1"/>
          <p:nvPr/>
        </p:nvSpPr>
        <p:spPr>
          <a:xfrm>
            <a:off x="822960" y="1646907"/>
            <a:ext cx="10078122" cy="3170099"/>
          </a:xfrm>
          <a:prstGeom prst="rect">
            <a:avLst/>
          </a:prstGeom>
          <a:noFill/>
        </p:spPr>
        <p:txBody>
          <a:bodyPr wrap="square">
            <a:spAutoFit/>
          </a:bodyPr>
          <a:lstStyle/>
          <a:p>
            <a:pPr>
              <a:spcBef>
                <a:spcPts val="1000"/>
              </a:spcBef>
              <a:spcAft>
                <a:spcPts val="400"/>
              </a:spcAft>
            </a:pPr>
            <a:r>
              <a:rPr lang="it-IT" sz="2000" dirty="0">
                <a:solidFill>
                  <a:schemeClr val="bg1">
                    <a:lumMod val="95000"/>
                  </a:schemeClr>
                </a:solidFill>
                <a:latin typeface="Segoe UI"/>
              </a:rPr>
              <a:t>Given a query, the ideal document pool candidates should have:</a:t>
            </a:r>
          </a:p>
          <a:p>
            <a:pPr lvl="1">
              <a:spcBef>
                <a:spcPts val="1000"/>
              </a:spcBef>
              <a:spcAft>
                <a:spcPts val="400"/>
              </a:spcAft>
            </a:pPr>
            <a:r>
              <a:rPr lang="it-IT" sz="2000" dirty="0">
                <a:solidFill>
                  <a:srgbClr val="4F8CFF"/>
                </a:solidFill>
                <a:latin typeface="Segoe UI"/>
              </a:rPr>
              <a:t>▸</a:t>
            </a:r>
            <a:r>
              <a:rPr sz="2000" b="0" i="0" dirty="0">
                <a:solidFill>
                  <a:srgbClr val="4F8CFF"/>
                </a:solidFill>
                <a:latin typeface="Segoe UI"/>
              </a:rPr>
              <a:t>  </a:t>
            </a:r>
            <a:r>
              <a:rPr lang="it-IT" sz="2000" b="1" dirty="0">
                <a:solidFill>
                  <a:srgbClr val="4F8CFF"/>
                </a:solidFill>
                <a:latin typeface="Segoe UI"/>
              </a:rPr>
              <a:t>Redundant central cluster: </a:t>
            </a:r>
            <a:r>
              <a:rPr lang="it-IT" sz="2000" dirty="0">
                <a:solidFill>
                  <a:schemeClr val="bg1">
                    <a:lumMod val="95000"/>
                  </a:schemeClr>
                </a:solidFill>
                <a:latin typeface="Segoe UI"/>
              </a:rPr>
              <a:t>dominant topic, many similar documents</a:t>
            </a:r>
            <a:endParaRPr sz="2000" b="0" i="0" dirty="0">
              <a:solidFill>
                <a:schemeClr val="bg1">
                  <a:lumMod val="95000"/>
                </a:schemeClr>
              </a:solidFill>
              <a:latin typeface="Segoe UI"/>
            </a:endParaRPr>
          </a:p>
          <a:p>
            <a:pPr lvl="1">
              <a:spcBef>
                <a:spcPts val="1200"/>
              </a:spcBef>
              <a:spcAft>
                <a:spcPts val="400"/>
              </a:spcAft>
            </a:pPr>
            <a:r>
              <a:rPr lang="it-IT" sz="2000" dirty="0">
                <a:solidFill>
                  <a:srgbClr val="4F8CFF"/>
                </a:solidFill>
                <a:latin typeface="Segoe UI"/>
              </a:rPr>
              <a:t>▸  </a:t>
            </a:r>
            <a:r>
              <a:rPr lang="it-IT" sz="2000" b="1" dirty="0">
                <a:solidFill>
                  <a:srgbClr val="4F8CFF"/>
                </a:solidFill>
                <a:latin typeface="Segoe UI"/>
              </a:rPr>
              <a:t>Complementary cluster(s):  </a:t>
            </a:r>
            <a:r>
              <a:rPr lang="en-US" sz="2000" dirty="0">
                <a:solidFill>
                  <a:schemeClr val="bg1">
                    <a:lumMod val="95000"/>
                  </a:schemeClr>
                </a:solidFill>
                <a:latin typeface="Segoe UI"/>
              </a:rPr>
              <a:t>other </a:t>
            </a:r>
            <a:r>
              <a:rPr lang="en-US" sz="2000" b="1" dirty="0">
                <a:solidFill>
                  <a:schemeClr val="bg1">
                    <a:lumMod val="95000"/>
                  </a:schemeClr>
                </a:solidFill>
                <a:latin typeface="Segoe UI"/>
              </a:rPr>
              <a:t>relevant</a:t>
            </a:r>
            <a:r>
              <a:rPr lang="en-US" sz="2000" dirty="0">
                <a:solidFill>
                  <a:schemeClr val="bg1">
                    <a:lumMod val="95000"/>
                  </a:schemeClr>
                </a:solidFill>
                <a:latin typeface="Segoe UI"/>
              </a:rPr>
              <a:t> aspects for the query</a:t>
            </a:r>
            <a:endParaRPr lang="en-US" sz="2000" b="1" dirty="0">
              <a:solidFill>
                <a:schemeClr val="bg1">
                  <a:lumMod val="95000"/>
                </a:schemeClr>
              </a:solidFill>
              <a:latin typeface="Segoe UI"/>
            </a:endParaRPr>
          </a:p>
          <a:p>
            <a:pPr lvl="1">
              <a:spcBef>
                <a:spcPts val="1200"/>
              </a:spcBef>
              <a:spcAft>
                <a:spcPts val="400"/>
              </a:spcAft>
            </a:pPr>
            <a:r>
              <a:rPr lang="it-IT" sz="2000" dirty="0">
                <a:solidFill>
                  <a:srgbClr val="4F8CFF"/>
                </a:solidFill>
                <a:latin typeface="Segoe UI"/>
              </a:rPr>
              <a:t>▸  </a:t>
            </a:r>
            <a:r>
              <a:rPr lang="it-IT" sz="2000" b="1" dirty="0">
                <a:solidFill>
                  <a:srgbClr val="4F8CFF"/>
                </a:solidFill>
                <a:latin typeface="Segoe UI"/>
              </a:rPr>
              <a:t>Niche cluster: </a:t>
            </a:r>
            <a:r>
              <a:rPr lang="en-US" sz="2000" dirty="0">
                <a:solidFill>
                  <a:schemeClr val="bg1">
                    <a:lumMod val="95000"/>
                  </a:schemeClr>
                </a:solidFill>
                <a:latin typeface="Segoe UI"/>
              </a:rPr>
              <a:t>smaller set of </a:t>
            </a:r>
            <a:r>
              <a:rPr lang="en-US" sz="2000" b="1" dirty="0">
                <a:solidFill>
                  <a:schemeClr val="bg1">
                    <a:lumMod val="95000"/>
                  </a:schemeClr>
                </a:solidFill>
                <a:latin typeface="Segoe UI"/>
              </a:rPr>
              <a:t>relevant</a:t>
            </a:r>
            <a:r>
              <a:rPr lang="en-US" sz="2000" dirty="0">
                <a:solidFill>
                  <a:schemeClr val="bg1">
                    <a:lumMod val="95000"/>
                  </a:schemeClr>
                </a:solidFill>
                <a:latin typeface="Segoe UI"/>
              </a:rPr>
              <a:t> data points</a:t>
            </a:r>
          </a:p>
          <a:p>
            <a:pPr lvl="1">
              <a:spcBef>
                <a:spcPts val="1200"/>
              </a:spcBef>
              <a:spcAft>
                <a:spcPts val="400"/>
              </a:spcAft>
            </a:pPr>
            <a:r>
              <a:rPr lang="it-IT" sz="2000" dirty="0">
                <a:solidFill>
                  <a:srgbClr val="FFAB40"/>
                </a:solidFill>
                <a:latin typeface="Segoe UI"/>
              </a:rPr>
              <a:t>▸ </a:t>
            </a:r>
            <a:r>
              <a:rPr lang="it-IT" sz="2000" dirty="0">
                <a:solidFill>
                  <a:srgbClr val="4F8CFF"/>
                </a:solidFill>
                <a:latin typeface="Segoe UI"/>
              </a:rPr>
              <a:t> </a:t>
            </a:r>
            <a:r>
              <a:rPr lang="it-IT" sz="2000" b="1" dirty="0">
                <a:solidFill>
                  <a:srgbClr val="FFAB40"/>
                </a:solidFill>
                <a:latin typeface="Segoe UI"/>
              </a:rPr>
              <a:t>Outliers: </a:t>
            </a:r>
            <a:r>
              <a:rPr lang="it-IT" sz="2000" dirty="0">
                <a:solidFill>
                  <a:schemeClr val="bg1">
                    <a:lumMod val="95000"/>
                  </a:schemeClr>
                </a:solidFill>
                <a:latin typeface="Segoe UI"/>
              </a:rPr>
              <a:t>noise, or genuine isolated points relevant to the query</a:t>
            </a:r>
          </a:p>
          <a:p>
            <a:pPr>
              <a:spcBef>
                <a:spcPts val="200"/>
              </a:spcBef>
              <a:spcAft>
                <a:spcPts val="200"/>
              </a:spcAft>
            </a:pPr>
            <a:endParaRPr lang="it-IT" sz="2000" dirty="0">
              <a:solidFill>
                <a:srgbClr val="B4B9C8"/>
              </a:solidFill>
              <a:latin typeface="Segoe UI"/>
            </a:endParaRPr>
          </a:p>
          <a:p>
            <a:pPr>
              <a:spcBef>
                <a:spcPts val="200"/>
              </a:spcBef>
              <a:spcAft>
                <a:spcPts val="200"/>
              </a:spcAft>
            </a:pPr>
            <a:endParaRPr lang="it-IT" sz="2000" dirty="0">
              <a:solidFill>
                <a:srgbClr val="B4B9C8"/>
              </a:solidFill>
              <a:latin typeface="Segoe U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Coverage: Facility-Location</a:t>
            </a:r>
            <a:r>
              <a:rPr lang="it-IT" sz="3200" b="1" i="0" dirty="0">
                <a:solidFill>
                  <a:srgbClr val="F0F0F5"/>
                </a:solidFill>
                <a:latin typeface="Segoe UI"/>
              </a:rPr>
              <a:t> Objective</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822960" y="1554480"/>
                <a:ext cx="10911840" cy="4035400"/>
              </a:xfrm>
              <a:prstGeom prst="rect">
                <a:avLst/>
              </a:prstGeom>
              <a:noFill/>
            </p:spPr>
            <p:txBody>
              <a:bodyPr wrap="square">
                <a:spAutoFit/>
              </a:bodyPr>
              <a:lstStyle/>
              <a:p>
                <a:pPr>
                  <a:spcBef>
                    <a:spcPts val="1200"/>
                  </a:spcBef>
                  <a:spcAft>
                    <a:spcPts val="400"/>
                  </a:spcAft>
                </a:pPr>
                <a:r>
                  <a:rPr lang="en-001" sz="2000" dirty="0">
                    <a:solidFill>
                      <a:srgbClr val="4F8CFF"/>
                    </a:solidFill>
                    <a:latin typeface="Segoe UI"/>
                  </a:rPr>
                  <a:t>▸</a:t>
                </a:r>
                <a:r>
                  <a:rPr lang="it-IT" sz="2000" dirty="0">
                    <a:solidFill>
                      <a:srgbClr val="F0F0F5"/>
                    </a:solidFill>
                    <a:latin typeface="Segoe UI"/>
                  </a:rPr>
                  <a:t> Objective function</a:t>
                </a:r>
              </a:p>
              <a:p>
                <a:pPr>
                  <a:spcBef>
                    <a:spcPts val="1200"/>
                  </a:spcBef>
                  <a:spcAft>
                    <a:spcPts val="400"/>
                  </a:spcAft>
                </a:pPr>
                <a14:m>
                  <m:oMathPara xmlns:m="http://schemas.openxmlformats.org/officeDocument/2006/math">
                    <m:oMathParaPr>
                      <m:jc m:val="centerGroup"/>
                    </m:oMathParaPr>
                    <m:oMath xmlns:m="http://schemas.openxmlformats.org/officeDocument/2006/math">
                      <m:r>
                        <a:rPr lang="en-US" sz="2000" b="0" i="1" dirty="0" smtClean="0">
                          <a:solidFill>
                            <a:srgbClr val="F0F0F5"/>
                          </a:solidFill>
                          <a:latin typeface="Cambria Math" panose="02040503050406030204" pitchFamily="18" charset="0"/>
                        </a:rPr>
                        <m:t>𝑓</m:t>
                      </m:r>
                      <m:d>
                        <m:dPr>
                          <m:ctrlPr>
                            <a:rPr lang="en-US" sz="2000" b="0" i="1" dirty="0" smtClean="0">
                              <a:solidFill>
                                <a:srgbClr val="F0F0F5"/>
                              </a:solidFill>
                              <a:latin typeface="Cambria Math" panose="02040503050406030204" pitchFamily="18" charset="0"/>
                            </a:rPr>
                          </m:ctrlPr>
                        </m:dPr>
                        <m:e>
                          <m:r>
                            <a:rPr lang="en-US" sz="2000" b="0" i="1" dirty="0" smtClean="0">
                              <a:solidFill>
                                <a:srgbClr val="F0F0F5"/>
                              </a:solidFill>
                              <a:latin typeface="Cambria Math" panose="02040503050406030204" pitchFamily="18" charset="0"/>
                            </a:rPr>
                            <m:t>𝑆</m:t>
                          </m:r>
                        </m:e>
                      </m:d>
                      <m:r>
                        <a:rPr lang="en-US" sz="2000" b="0" i="1" dirty="0" smtClean="0">
                          <a:solidFill>
                            <a:srgbClr val="F0F0F5"/>
                          </a:solidFill>
                          <a:latin typeface="Cambria Math" panose="02040503050406030204" pitchFamily="18" charset="0"/>
                        </a:rPr>
                        <m:t>=</m:t>
                      </m:r>
                      <m:r>
                        <a:rPr lang="en-US" sz="2000" i="1" dirty="0" smtClean="0">
                          <a:solidFill>
                            <a:schemeClr val="bg1">
                              <a:lumMod val="85000"/>
                            </a:schemeClr>
                          </a:solidFill>
                          <a:latin typeface="Cambria Math" panose="02040503050406030204" pitchFamily="18" charset="0"/>
                          <a:ea typeface="Cambria Math" panose="02040503050406030204" pitchFamily="18" charset="0"/>
                        </a:rPr>
                        <m:t>𝜆</m:t>
                      </m:r>
                      <m:nary>
                        <m:naryPr>
                          <m:chr m:val="∑"/>
                          <m:supHide m:val="on"/>
                          <m:ctrlPr>
                            <a:rPr lang="ar-AE" sz="2000" i="1" dirty="0" smtClean="0">
                              <a:solidFill>
                                <a:schemeClr val="bg1">
                                  <a:lumMod val="85000"/>
                                </a:schemeClr>
                              </a:solidFill>
                              <a:latin typeface="Cambria Math" panose="02040503050406030204" pitchFamily="18" charset="0"/>
                            </a:rPr>
                          </m:ctrlPr>
                        </m:naryPr>
                        <m:sub>
                          <m:r>
                            <m:rPr>
                              <m:brk m:alnAt="7"/>
                            </m:rPr>
                            <a:rPr lang="ar-AE" sz="2000" i="1" dirty="0">
                              <a:solidFill>
                                <a:schemeClr val="bg1">
                                  <a:lumMod val="85000"/>
                                </a:schemeClr>
                              </a:solidFill>
                              <a:latin typeface="Cambria Math" panose="02040503050406030204" pitchFamily="18" charset="0"/>
                            </a:rPr>
                            <m:t>𝑖</m:t>
                          </m:r>
                          <m:r>
                            <a:rPr lang="ar-AE" sz="2000" i="1" dirty="0">
                              <a:solidFill>
                                <a:schemeClr val="bg1">
                                  <a:lumMod val="85000"/>
                                </a:schemeClr>
                              </a:solidFill>
                              <a:latin typeface="Cambria Math" panose="02040503050406030204" pitchFamily="18" charset="0"/>
                            </a:rPr>
                            <m:t> ∈</m:t>
                          </m:r>
                          <m:r>
                            <a:rPr lang="en-US" sz="2000" b="0" i="1" dirty="0" smtClean="0">
                              <a:solidFill>
                                <a:schemeClr val="bg1">
                                  <a:lumMod val="85000"/>
                                </a:schemeClr>
                              </a:solidFill>
                              <a:latin typeface="Cambria Math" panose="02040503050406030204" pitchFamily="18" charset="0"/>
                            </a:rPr>
                            <m:t> </m:t>
                          </m:r>
                          <m:r>
                            <a:rPr lang="en-US" sz="2000" b="0" i="1" dirty="0" smtClean="0">
                              <a:solidFill>
                                <a:schemeClr val="bg1">
                                  <a:lumMod val="85000"/>
                                </a:schemeClr>
                              </a:solidFill>
                              <a:latin typeface="Cambria Math" panose="02040503050406030204" pitchFamily="18" charset="0"/>
                            </a:rPr>
                            <m:t>𝑆</m:t>
                          </m:r>
                        </m:sub>
                        <m:sup/>
                        <m:e>
                          <m:r>
                            <a:rPr lang="en-US" sz="2000" b="0" i="1" dirty="0" smtClean="0">
                              <a:solidFill>
                                <a:schemeClr val="bg1">
                                  <a:lumMod val="85000"/>
                                </a:schemeClr>
                              </a:solidFill>
                              <a:latin typeface="Cambria Math" panose="02040503050406030204" pitchFamily="18" charset="0"/>
                              <a:ea typeface="Cambria Math" panose="02040503050406030204" pitchFamily="18" charset="0"/>
                            </a:rPr>
                            <m:t>𝑢𝑡𝑖𝑙𝑖𝑡𝑦</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𝑖</m:t>
                          </m:r>
                          <m:r>
                            <a:rPr lang="en-US" sz="2000" b="0" i="1" dirty="0" smtClean="0">
                              <a:solidFill>
                                <a:schemeClr val="bg1">
                                  <a:lumMod val="85000"/>
                                </a:schemeClr>
                              </a:solidFill>
                              <a:latin typeface="Cambria Math" panose="02040503050406030204" pitchFamily="18" charset="0"/>
                              <a:ea typeface="Cambria Math" panose="02040503050406030204" pitchFamily="18" charset="0"/>
                            </a:rPr>
                            <m:t>)</m:t>
                          </m:r>
                        </m:e>
                      </m:nary>
                      <m:r>
                        <a:rPr lang="en-US" sz="2000" b="1" i="1" dirty="0" smtClean="0">
                          <a:solidFill>
                            <a:schemeClr val="bg1"/>
                          </a:solidFill>
                          <a:latin typeface="Cambria Math" panose="02040503050406030204" pitchFamily="18" charset="0"/>
                        </a:rPr>
                        <m:t>+ </m:t>
                      </m:r>
                      <m:d>
                        <m:dPr>
                          <m:ctrlPr>
                            <a:rPr lang="en-US" sz="2000" b="1" i="1" dirty="0" smtClean="0">
                              <a:solidFill>
                                <a:schemeClr val="bg1"/>
                              </a:solidFill>
                              <a:latin typeface="Cambria Math" panose="02040503050406030204" pitchFamily="18" charset="0"/>
                            </a:rPr>
                          </m:ctrlPr>
                        </m:dPr>
                        <m:e>
                          <m:r>
                            <a:rPr lang="en-US" sz="2000" b="1" i="1" dirty="0" smtClean="0">
                              <a:solidFill>
                                <a:schemeClr val="bg1"/>
                              </a:solidFill>
                              <a:latin typeface="Cambria Math" panose="02040503050406030204" pitchFamily="18" charset="0"/>
                            </a:rPr>
                            <m:t>𝟏</m:t>
                          </m:r>
                          <m:r>
                            <a:rPr lang="en-US" sz="2000" b="1" i="1" dirty="0" smtClean="0">
                              <a:solidFill>
                                <a:schemeClr val="bg1"/>
                              </a:solidFill>
                              <a:latin typeface="Cambria Math" panose="02040503050406030204" pitchFamily="18" charset="0"/>
                            </a:rPr>
                            <m:t>−</m:t>
                          </m:r>
                          <m:r>
                            <a:rPr lang="en-US" sz="2000" b="1" i="1" dirty="0" smtClean="0">
                              <a:solidFill>
                                <a:schemeClr val="bg1"/>
                              </a:solidFill>
                              <a:latin typeface="Cambria Math" panose="02040503050406030204" pitchFamily="18" charset="0"/>
                              <a:ea typeface="Cambria Math" panose="02040503050406030204" pitchFamily="18" charset="0"/>
                            </a:rPr>
                            <m:t>𝝀</m:t>
                          </m:r>
                        </m:e>
                      </m:d>
                      <m:nary>
                        <m:naryPr>
                          <m:chr m:val="∑"/>
                          <m:supHide m:val="on"/>
                          <m:ctrlPr>
                            <a:rPr lang="ar-AE" sz="2000" b="1" i="1" dirty="0">
                              <a:solidFill>
                                <a:schemeClr val="bg1"/>
                              </a:solidFill>
                              <a:latin typeface="Cambria Math" panose="02040503050406030204" pitchFamily="18" charset="0"/>
                            </a:rPr>
                          </m:ctrlPr>
                        </m:naryPr>
                        <m:sub>
                          <m:r>
                            <m:rPr>
                              <m:brk m:alnAt="7"/>
                            </m:rPr>
                            <a:rPr lang="ar-AE" sz="2000" b="1" i="1" dirty="0">
                              <a:solidFill>
                                <a:schemeClr val="bg1"/>
                              </a:solidFill>
                              <a:latin typeface="Cambria Math" panose="02040503050406030204" pitchFamily="18" charset="0"/>
                            </a:rPr>
                            <m:t>𝒊</m:t>
                          </m:r>
                          <m:r>
                            <a:rPr lang="ar-AE" sz="2000" b="1" i="1" dirty="0">
                              <a:solidFill>
                                <a:schemeClr val="bg1"/>
                              </a:solidFill>
                              <a:latin typeface="Cambria Math" panose="02040503050406030204" pitchFamily="18" charset="0"/>
                            </a:rPr>
                            <m:t> ∈ </m:t>
                          </m:r>
                          <m:r>
                            <a:rPr lang="ar-AE" sz="2000" b="1" i="1" dirty="0">
                              <a:solidFill>
                                <a:schemeClr val="bg1"/>
                              </a:solidFill>
                              <a:latin typeface="Cambria Math" panose="02040503050406030204" pitchFamily="18" charset="0"/>
                              <a:ea typeface="Cambria Math" panose="02040503050406030204" pitchFamily="18" charset="0"/>
                            </a:rPr>
                            <m:t>𝑫</m:t>
                          </m:r>
                        </m:sub>
                        <m:sup/>
                        <m:e>
                          <m:func>
                            <m:funcPr>
                              <m:ctrlPr>
                                <a:rPr lang="ar-AE" sz="2000" b="1" i="1" dirty="0">
                                  <a:solidFill>
                                    <a:schemeClr val="bg1"/>
                                  </a:solidFill>
                                  <a:latin typeface="Cambria Math" panose="02040503050406030204" pitchFamily="18" charset="0"/>
                                </a:rPr>
                              </m:ctrlPr>
                            </m:funcPr>
                            <m:fName>
                              <m:limLow>
                                <m:limLowPr>
                                  <m:ctrlPr>
                                    <a:rPr lang="ar-AE" sz="2000" b="1" i="1" dirty="0">
                                      <a:solidFill>
                                        <a:schemeClr val="bg1"/>
                                      </a:solidFill>
                                      <a:latin typeface="Cambria Math" panose="02040503050406030204" pitchFamily="18" charset="0"/>
                                    </a:rPr>
                                  </m:ctrlPr>
                                </m:limLowPr>
                                <m:e>
                                  <m:r>
                                    <a:rPr lang="it-IT" sz="2000" b="1" i="1" dirty="0">
                                      <a:solidFill>
                                        <a:schemeClr val="bg1"/>
                                      </a:solidFill>
                                      <a:latin typeface="Cambria Math" panose="02040503050406030204" pitchFamily="18" charset="0"/>
                                    </a:rPr>
                                    <m:t>𝒎𝒂𝒙</m:t>
                                  </m:r>
                                </m:e>
                                <m:lim>
                                  <m:r>
                                    <a:rPr lang="ar-AE" sz="2000" b="1" i="1" dirty="0">
                                      <a:solidFill>
                                        <a:schemeClr val="bg1"/>
                                      </a:solidFill>
                                      <a:latin typeface="Cambria Math" panose="02040503050406030204" pitchFamily="18" charset="0"/>
                                    </a:rPr>
                                    <m:t>𝒋</m:t>
                                  </m:r>
                                  <m:r>
                                    <a:rPr lang="ar-AE" sz="2000" b="1" i="1" dirty="0">
                                      <a:solidFill>
                                        <a:schemeClr val="bg1"/>
                                      </a:solidFill>
                                      <a:latin typeface="Cambria Math" panose="02040503050406030204" pitchFamily="18" charset="0"/>
                                    </a:rPr>
                                    <m:t> ∈ </m:t>
                                  </m:r>
                                  <m:r>
                                    <a:rPr lang="ar-AE" sz="2000" b="1" i="1" dirty="0">
                                      <a:solidFill>
                                        <a:schemeClr val="bg1"/>
                                      </a:solidFill>
                                      <a:latin typeface="Cambria Math" panose="02040503050406030204" pitchFamily="18" charset="0"/>
                                      <a:ea typeface="Cambria Math" panose="02040503050406030204" pitchFamily="18" charset="0"/>
                                    </a:rPr>
                                    <m:t>𝑺</m:t>
                                  </m:r>
                                </m:lim>
                              </m:limLow>
                            </m:fName>
                            <m:e>
                              <m:r>
                                <a:rPr lang="ar-AE" sz="2000" b="1" i="1" dirty="0">
                                  <a:solidFill>
                                    <a:schemeClr val="bg1"/>
                                  </a:solidFill>
                                  <a:latin typeface="Cambria Math" panose="02040503050406030204" pitchFamily="18" charset="0"/>
                                </a:rPr>
                                <m:t>𝒔𝒊𝒎</m:t>
                              </m:r>
                              <m:r>
                                <a:rPr lang="ar-AE" sz="2000" b="1" i="1" dirty="0">
                                  <a:solidFill>
                                    <a:schemeClr val="bg1"/>
                                  </a:solidFill>
                                  <a:latin typeface="Cambria Math" panose="02040503050406030204" pitchFamily="18" charset="0"/>
                                </a:rPr>
                                <m:t>(</m:t>
                              </m:r>
                              <m:r>
                                <a:rPr lang="ar-AE" sz="2000" b="1" i="1" dirty="0">
                                  <a:solidFill>
                                    <a:schemeClr val="bg1"/>
                                  </a:solidFill>
                                  <a:latin typeface="Cambria Math" panose="02040503050406030204" pitchFamily="18" charset="0"/>
                                </a:rPr>
                                <m:t>𝒊</m:t>
                              </m:r>
                              <m:r>
                                <a:rPr lang="ar-AE" sz="2000" b="1" i="1" dirty="0">
                                  <a:solidFill>
                                    <a:schemeClr val="bg1"/>
                                  </a:solidFill>
                                  <a:latin typeface="Cambria Math" panose="02040503050406030204" pitchFamily="18" charset="0"/>
                                </a:rPr>
                                <m:t>, </m:t>
                              </m:r>
                              <m:r>
                                <a:rPr lang="ar-AE" sz="2000" b="1" i="1" dirty="0">
                                  <a:solidFill>
                                    <a:schemeClr val="bg1"/>
                                  </a:solidFill>
                                  <a:latin typeface="Cambria Math" panose="02040503050406030204" pitchFamily="18" charset="0"/>
                                </a:rPr>
                                <m:t>𝒋</m:t>
                              </m:r>
                              <m:r>
                                <a:rPr lang="ar-AE" sz="2000" b="1" i="1" dirty="0">
                                  <a:solidFill>
                                    <a:schemeClr val="bg1"/>
                                  </a:solidFill>
                                  <a:latin typeface="Cambria Math" panose="02040503050406030204" pitchFamily="18" charset="0"/>
                                </a:rPr>
                                <m:t>)</m:t>
                              </m:r>
                            </m:e>
                          </m:func>
                        </m:e>
                      </m:nary>
                    </m:oMath>
                  </m:oMathPara>
                </a14:m>
                <a:endParaRPr lang="ar-AE" sz="2000" b="1" i="0" dirty="0">
                  <a:solidFill>
                    <a:srgbClr val="F0F0F5"/>
                  </a:solidFill>
                  <a:latin typeface="Segoe UI"/>
                </a:endParaRPr>
              </a:p>
              <a:p>
                <a:pPr>
                  <a:spcBef>
                    <a:spcPts val="200"/>
                  </a:spcBef>
                  <a:spcAft>
                    <a:spcPts val="200"/>
                  </a:spcAft>
                </a:pPr>
                <a:endParaRPr lang="en-US" sz="1600" b="0" i="0" dirty="0">
                  <a:solidFill>
                    <a:srgbClr val="828796"/>
                  </a:solidFill>
                  <a:latin typeface="Segoe UI"/>
                </a:endParaRP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Every item in the candidate pool D has a representative in </a:t>
                </a:r>
                <a:r>
                  <a:rPr lang="it-IT" i="0" dirty="0">
                    <a:solidFill>
                      <a:srgbClr val="B4B9C8"/>
                    </a:solidFill>
                    <a:latin typeface="Segoe UI"/>
                  </a:rPr>
                  <a:t>S</a:t>
                </a:r>
              </a:p>
              <a:p>
                <a:pPr marL="742950" lvl="1" indent="-285750">
                  <a:spcBef>
                    <a:spcPts val="200"/>
                  </a:spcBef>
                  <a:spcAft>
                    <a:spcPts val="200"/>
                  </a:spcAft>
                  <a:buFont typeface="Wingdings" panose="05000000000000000000" pitchFamily="2" charset="2"/>
                  <a:buChar char="§"/>
                </a:pPr>
                <a:r>
                  <a:rPr lang="it-IT" dirty="0">
                    <a:solidFill>
                      <a:srgbClr val="B4B9C8"/>
                    </a:solidFill>
                    <a:latin typeface="Segoe UI"/>
                  </a:rPr>
                  <a:t>Respects data distribution rather than maximizing spread between items</a:t>
                </a:r>
                <a:r>
                  <a:rPr lang="it-IT" sz="1600" b="0" i="0" dirty="0">
                    <a:solidFill>
                      <a:srgbClr val="828796"/>
                    </a:solidFill>
                    <a:latin typeface="Segoe UI"/>
                  </a:rPr>
                  <a:t>       </a:t>
                </a:r>
              </a:p>
              <a:p>
                <a:pPr>
                  <a:spcBef>
                    <a:spcPts val="200"/>
                  </a:spcBef>
                  <a:spcAft>
                    <a:spcPts val="200"/>
                  </a:spcAft>
                </a:pPr>
                <a:endParaRPr lang="en-US" sz="2000" b="0" i="0" dirty="0">
                  <a:solidFill>
                    <a:srgbClr val="4F8CFF"/>
                  </a:solidFill>
                  <a:latin typeface="Segoe UI"/>
                </a:endParaRPr>
              </a:p>
              <a:p>
                <a:pPr>
                  <a:spcBef>
                    <a:spcPts val="1200"/>
                  </a:spcBef>
                  <a:spcAft>
                    <a:spcPts val="400"/>
                  </a:spcAft>
                </a:pPr>
                <a:r>
                  <a:rPr lang="en-001" sz="2000" dirty="0">
                    <a:solidFill>
                      <a:srgbClr val="4F8CFF"/>
                    </a:solidFill>
                    <a:latin typeface="Segoe UI"/>
                  </a:rPr>
                  <a:t>▸</a:t>
                </a:r>
                <a:r>
                  <a:rPr lang="it-IT" sz="2000" i="0" dirty="0">
                    <a:solidFill>
                      <a:srgbClr val="48C78E"/>
                    </a:solidFill>
                    <a:latin typeface="Segoe UI"/>
                  </a:rPr>
                  <a:t>  </a:t>
                </a:r>
                <a:r>
                  <a:rPr lang="it-IT" sz="2000" i="0" dirty="0">
                    <a:solidFill>
                      <a:srgbClr val="F0F0F5"/>
                    </a:solidFill>
                    <a:latin typeface="Segoe UI"/>
                  </a:rPr>
                  <a:t>Theoretical guarantees</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g(S) is monotone submodular</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Greedy selection gives (1 − 1/e) ≈ 0.632 approximation w.r.t. optimal solution</a:t>
                </a:r>
              </a:p>
              <a:p>
                <a:pPr marL="742950" lvl="1" indent="-285750">
                  <a:spcBef>
                    <a:spcPts val="200"/>
                  </a:spcBef>
                  <a:spcAft>
                    <a:spcPts val="200"/>
                  </a:spcAft>
                  <a:buFont typeface="Wingdings" panose="05000000000000000000" pitchFamily="2" charset="2"/>
                  <a:buChar char="§"/>
                </a:pPr>
                <a:r>
                  <a:rPr lang="it-IT" b="0" i="0" dirty="0">
                    <a:solidFill>
                      <a:srgbClr val="B4B9C8"/>
                    </a:solidFill>
                    <a:latin typeface="Segoe UI"/>
                  </a:rPr>
                  <a:t>No such guarantee exists for </a:t>
                </a:r>
                <a:r>
                  <a:rPr lang="it-IT" b="0" i="1" dirty="0">
                    <a:solidFill>
                      <a:srgbClr val="B4B9C8"/>
                    </a:solidFill>
                    <a:latin typeface="Segoe UI"/>
                  </a:rPr>
                  <a:t>dispersion</a:t>
                </a:r>
                <a:r>
                  <a:rPr lang="it-IT" b="0" i="0" dirty="0">
                    <a:solidFill>
                      <a:srgbClr val="B4B9C8"/>
                    </a:solidFill>
                    <a:latin typeface="Segoe UI"/>
                  </a:rPr>
                  <a:t> (NP-hard)</a:t>
                </a:r>
                <a:endParaRPr b="0" i="0" dirty="0">
                  <a:solidFill>
                    <a:srgbClr val="B4B9C8"/>
                  </a:solidFill>
                  <a:latin typeface="Segoe U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2960" y="1554480"/>
                <a:ext cx="10911840" cy="4035400"/>
              </a:xfrm>
              <a:prstGeom prst="rect">
                <a:avLst/>
              </a:prstGeom>
              <a:blipFill>
                <a:blip r:embed="rId2"/>
                <a:stretch>
                  <a:fillRect l="-559" t="-755" b="-1511"/>
                </a:stretch>
              </a:blipFill>
            </p:spPr>
            <p:txBody>
              <a:bodyPr/>
              <a:lstStyle/>
              <a:p>
                <a:r>
                  <a:rPr lang="LID4096">
                    <a:noFill/>
                  </a:rPr>
                  <a:t> </a:t>
                </a:r>
              </a:p>
            </p:txBody>
          </p:sp>
        </mc:Fallback>
      </mc:AlternateContent>
      <p:sp>
        <p:nvSpPr>
          <p:cNvPr id="10" name="Slide Number Placeholder 9">
            <a:extLst>
              <a:ext uri="{FF2B5EF4-FFF2-40B4-BE49-F238E27FC236}">
                <a16:creationId xmlns:a16="http://schemas.microsoft.com/office/drawing/2014/main" id="{405C435B-AD19-162C-3762-FA373658DBA0}"/>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1" dirty="0">
                <a:solidFill>
                  <a:srgbClr val="F0F0F5"/>
                </a:solidFill>
                <a:latin typeface="Segoe UI"/>
              </a:rPr>
              <a:t>MIMIC-IV</a:t>
            </a:r>
            <a:r>
              <a:rPr sz="3200" b="1" i="0" dirty="0">
                <a:solidFill>
                  <a:srgbClr val="F0F0F5"/>
                </a:solidFill>
                <a:latin typeface="Segoe UI"/>
              </a:rPr>
              <a:t> </a:t>
            </a:r>
            <a:r>
              <a:rPr lang="it-IT" sz="3200" b="1" i="0" dirty="0">
                <a:solidFill>
                  <a:srgbClr val="F0F0F5"/>
                </a:solidFill>
                <a:latin typeface="Segoe UI"/>
              </a:rPr>
              <a:t>Dataset</a:t>
            </a:r>
            <a:r>
              <a:rPr sz="3200" b="1" i="0" dirty="0">
                <a:solidFill>
                  <a:srgbClr val="F0F0F5"/>
                </a:solidFill>
                <a:latin typeface="Segoe UI"/>
              </a:rPr>
              <a:t> Overview</a:t>
            </a: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522153"/>
            <a:ext cx="10544048" cy="5478423"/>
          </a:xfrm>
          <a:prstGeom prst="rect">
            <a:avLst/>
          </a:prstGeom>
          <a:noFill/>
        </p:spPr>
        <p:txBody>
          <a:bodyPr wrap="square">
            <a:spAutoFit/>
          </a:bodyPr>
          <a:lstStyle/>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sz="2000" i="1" dirty="0">
                <a:solidFill>
                  <a:srgbClr val="F0F0F5"/>
                </a:solidFill>
                <a:latin typeface="Segoe UI"/>
              </a:rPr>
              <a:t>MIMIC-IV</a:t>
            </a:r>
            <a:r>
              <a:rPr sz="2000" b="0" i="0" dirty="0">
                <a:solidFill>
                  <a:srgbClr val="F0F0F5"/>
                </a:solidFill>
                <a:latin typeface="Segoe UI"/>
              </a:rPr>
              <a:t>: tabular clinical data (diagnoses, procedures, meds, labs</a:t>
            </a:r>
            <a:r>
              <a:rPr lang="en-US" sz="2000" dirty="0">
                <a:solidFill>
                  <a:srgbClr val="F0F0F5"/>
                </a:solidFill>
                <a:latin typeface="Segoe UI"/>
              </a:rPr>
              <a:t>, measurements</a:t>
            </a:r>
            <a:r>
              <a:rPr sz="2000" b="0" i="0" dirty="0">
                <a:solidFill>
                  <a:srgbClr val="F0F0F5"/>
                </a:solidFill>
                <a:latin typeface="Segoe UI"/>
              </a:rPr>
              <a:t>)</a:t>
            </a: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sz="2000" i="1" dirty="0">
                <a:solidFill>
                  <a:srgbClr val="FFAB40"/>
                </a:solidFill>
                <a:latin typeface="Segoe UI"/>
              </a:rPr>
              <a:t>MIMIC-IV-Note</a:t>
            </a:r>
            <a:r>
              <a:rPr sz="2000" b="0" i="0" dirty="0">
                <a:solidFill>
                  <a:schemeClr val="bg1"/>
                </a:solidFill>
                <a:latin typeface="Segoe UI"/>
              </a:rPr>
              <a:t>: free-text</a:t>
            </a:r>
            <a:r>
              <a:rPr lang="en-US" sz="2000" dirty="0">
                <a:solidFill>
                  <a:schemeClr val="bg1"/>
                </a:solidFill>
                <a:latin typeface="Segoe UI"/>
              </a:rPr>
              <a:t> data</a:t>
            </a:r>
          </a:p>
          <a:p>
            <a:pPr marL="742950" lvl="1" indent="-285750">
              <a:spcBef>
                <a:spcPts val="800"/>
              </a:spcBef>
              <a:spcAft>
                <a:spcPts val="400"/>
              </a:spcAft>
              <a:buFont typeface="Wingdings" panose="05000000000000000000" pitchFamily="2" charset="2"/>
              <a:buChar char="§"/>
            </a:pPr>
            <a:r>
              <a:rPr lang="en-US" sz="2000" b="1" i="1" dirty="0">
                <a:solidFill>
                  <a:schemeClr val="bg1">
                    <a:lumMod val="95000"/>
                  </a:schemeClr>
                </a:solidFill>
                <a:latin typeface="Segoe UI"/>
              </a:rPr>
              <a:t>Discharge Summaries </a:t>
            </a:r>
            <a:r>
              <a:rPr lang="en-US" sz="2000" i="1" dirty="0">
                <a:solidFill>
                  <a:schemeClr val="bg1">
                    <a:lumMod val="95000"/>
                  </a:schemeClr>
                </a:solidFill>
                <a:latin typeface="Segoe UI"/>
              </a:rPr>
              <a:t>(~330K)</a:t>
            </a:r>
            <a:r>
              <a:rPr lang="en-US" sz="2000" dirty="0">
                <a:solidFill>
                  <a:schemeClr val="bg1">
                    <a:lumMod val="95000"/>
                  </a:schemeClr>
                </a:solidFill>
                <a:latin typeface="Segoe UI"/>
              </a:rPr>
              <a:t>: in-depth notes which overview a patient’s history and course throughout a hospitalization</a:t>
            </a:r>
          </a:p>
          <a:p>
            <a:pPr marL="742950" lvl="1" indent="-285750">
              <a:spcBef>
                <a:spcPts val="800"/>
              </a:spcBef>
              <a:spcAft>
                <a:spcPts val="400"/>
              </a:spcAft>
              <a:buFont typeface="Wingdings" panose="05000000000000000000" pitchFamily="2" charset="2"/>
              <a:buChar char="§"/>
            </a:pPr>
            <a:r>
              <a:rPr lang="en-US" sz="2000" i="1" dirty="0">
                <a:solidFill>
                  <a:schemeClr val="bg1">
                    <a:lumMod val="95000"/>
                  </a:schemeClr>
                </a:solidFill>
                <a:latin typeface="Segoe UI"/>
              </a:rPr>
              <a:t>Radiology Reports (~2.3M): reports spanning x-ray, CT, MRI, and ultrasound </a:t>
            </a:r>
          </a:p>
          <a:p>
            <a:pPr>
              <a:spcBef>
                <a:spcPts val="800"/>
              </a:spcBef>
              <a:spcAft>
                <a:spcPts val="400"/>
              </a:spcAft>
            </a:pPr>
            <a:endParaRPr lang="en-US" sz="2000" b="0" i="0" dirty="0">
              <a:solidFill>
                <a:srgbClr val="F0F0F5"/>
              </a:solidFill>
              <a:latin typeface="Segoe UI"/>
            </a:endParaRP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lang="en-US" sz="2000" dirty="0">
                <a:solidFill>
                  <a:schemeClr val="bg1">
                    <a:lumMod val="95000"/>
                  </a:schemeClr>
                </a:solidFill>
                <a:latin typeface="Segoe UI"/>
              </a:rPr>
              <a:t>Discharge summaries allow for design of multi-aspect queries requiring synthesis across patients </a:t>
            </a:r>
          </a:p>
          <a:p>
            <a:pPr>
              <a:spcBef>
                <a:spcPts val="800"/>
              </a:spcBef>
              <a:spcAft>
                <a:spcPts val="400"/>
              </a:spcAft>
            </a:pPr>
            <a:r>
              <a:rPr lang="en-001" sz="2000" dirty="0">
                <a:solidFill>
                  <a:srgbClr val="4F8CFF"/>
                </a:solidFill>
                <a:latin typeface="Segoe UI"/>
              </a:rPr>
              <a:t>▸</a:t>
            </a:r>
            <a:r>
              <a:rPr lang="en-US" sz="2000" dirty="0">
                <a:solidFill>
                  <a:srgbClr val="4F8CFF"/>
                </a:solidFill>
                <a:latin typeface="Segoe UI"/>
              </a:rPr>
              <a:t>  </a:t>
            </a:r>
            <a:r>
              <a:rPr lang="en-US" sz="2000" dirty="0">
                <a:solidFill>
                  <a:schemeClr val="bg1">
                    <a:lumMod val="95000"/>
                  </a:schemeClr>
                </a:solidFill>
                <a:latin typeface="Segoe UI"/>
              </a:rPr>
              <a:t>Structured info in MIMIC-IV used for document pool construction and patient usable data</a:t>
            </a:r>
          </a:p>
          <a:p>
            <a:pPr>
              <a:spcBef>
                <a:spcPts val="800"/>
              </a:spcBef>
              <a:spcAft>
                <a:spcPts val="400"/>
              </a:spcAft>
            </a:pPr>
            <a:endParaRPr lang="en-US" sz="2000" dirty="0">
              <a:solidFill>
                <a:schemeClr val="bg1">
                  <a:lumMod val="95000"/>
                </a:schemeClr>
              </a:solidFill>
              <a:latin typeface="Segoe UI"/>
            </a:endParaRPr>
          </a:p>
          <a:p>
            <a:pPr>
              <a:spcBef>
                <a:spcPts val="800"/>
              </a:spcBef>
              <a:spcAft>
                <a:spcPts val="400"/>
              </a:spcAft>
            </a:pPr>
            <a:r>
              <a:rPr sz="2000" b="0" i="0" dirty="0">
                <a:solidFill>
                  <a:srgbClr val="4F8CFF"/>
                </a:solidFill>
                <a:latin typeface="Segoe UI"/>
              </a:rPr>
              <a:t>▸ </a:t>
            </a:r>
            <a:r>
              <a:rPr lang="en-US" sz="2000" b="0" i="0" dirty="0">
                <a:solidFill>
                  <a:schemeClr val="bg1">
                    <a:lumMod val="95000"/>
                  </a:schemeClr>
                </a:solidFill>
                <a:latin typeface="Segoe UI"/>
              </a:rPr>
              <a:t>De-identification: a</a:t>
            </a:r>
            <a:r>
              <a:rPr sz="2000" b="0" i="0" dirty="0">
                <a:solidFill>
                  <a:schemeClr val="bg1">
                    <a:lumMod val="95000"/>
                  </a:schemeClr>
                </a:solidFill>
                <a:latin typeface="Segoe UI"/>
              </a:rPr>
              <a:t>ll PHI removed/replaced with ___ placeholders</a:t>
            </a:r>
          </a:p>
          <a:p>
            <a:pPr>
              <a:spcBef>
                <a:spcPts val="800"/>
              </a:spcBef>
              <a:spcAft>
                <a:spcPts val="400"/>
              </a:spcAft>
            </a:pPr>
            <a:endParaRPr sz="2000" b="0" i="0" dirty="0">
              <a:solidFill>
                <a:srgbClr val="F0F0F5"/>
              </a:solidFill>
              <a:latin typeface="Segoe UI"/>
            </a:endParaRPr>
          </a:p>
        </p:txBody>
      </p:sp>
      <p:sp>
        <p:nvSpPr>
          <p:cNvPr id="12" name="Slide Number Placeholder 11">
            <a:extLst>
              <a:ext uri="{FF2B5EF4-FFF2-40B4-BE49-F238E27FC236}">
                <a16:creationId xmlns:a16="http://schemas.microsoft.com/office/drawing/2014/main" id="{ED442247-4172-EBA3-1A1B-6D5B0A6C9FC4}"/>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6BA40-3166-C17A-1719-03BDF23ED50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EF1CC52-4F31-0F01-7176-A70E083EDE46}"/>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32379BB4-3B06-2960-B566-55FC8EC73F18}"/>
              </a:ext>
            </a:extLst>
          </p:cNvPr>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7AB0D9D6-1A13-8C37-43E9-331309D16503}"/>
              </a:ext>
            </a:extLst>
          </p:cNvPr>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Ideal </a:t>
            </a:r>
            <a:r>
              <a:rPr lang="en-US" sz="3200" b="1" i="0" dirty="0">
                <a:solidFill>
                  <a:srgbClr val="F0F0F5"/>
                </a:solidFill>
                <a:latin typeface="Segoe UI"/>
              </a:rPr>
              <a:t>Dataset</a:t>
            </a:r>
            <a:r>
              <a:rPr sz="3200" b="1" i="0" dirty="0">
                <a:solidFill>
                  <a:srgbClr val="F0F0F5"/>
                </a:solidFill>
                <a:latin typeface="Segoe UI"/>
              </a:rPr>
              <a:t> for Coverage</a:t>
            </a:r>
            <a:r>
              <a:rPr lang="en-US" sz="3200" b="1" dirty="0">
                <a:solidFill>
                  <a:srgbClr val="F0F0F5"/>
                </a:solidFill>
                <a:latin typeface="Segoe UI"/>
              </a:rPr>
              <a:t>: MIMIC-IV?</a:t>
            </a:r>
            <a:endParaRPr sz="3200" b="1" i="0" dirty="0">
              <a:solidFill>
                <a:srgbClr val="F0F0F5"/>
              </a:solidFill>
              <a:latin typeface="Segoe UI"/>
            </a:endParaRPr>
          </a:p>
        </p:txBody>
      </p:sp>
      <p:sp>
        <p:nvSpPr>
          <p:cNvPr id="5" name="Rectangle 4">
            <a:extLst>
              <a:ext uri="{FF2B5EF4-FFF2-40B4-BE49-F238E27FC236}">
                <a16:creationId xmlns:a16="http://schemas.microsoft.com/office/drawing/2014/main" id="{AF6DB0C9-AC5D-C8E6-A307-CA232EFB6831}"/>
              </a:ext>
            </a:extLst>
          </p:cNvPr>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a:extLst>
              <a:ext uri="{FF2B5EF4-FFF2-40B4-BE49-F238E27FC236}">
                <a16:creationId xmlns:a16="http://schemas.microsoft.com/office/drawing/2014/main" id="{61B25720-9E1A-E889-F27F-B0ABA8E87848}"/>
              </a:ext>
            </a:extLst>
          </p:cNvPr>
          <p:cNvGraphicFramePr>
            <a:graphicFrameLocks noGrp="1"/>
          </p:cNvGraphicFramePr>
          <p:nvPr>
            <p:extLst>
              <p:ext uri="{D42A27DB-BD31-4B8C-83A1-F6EECF244321}">
                <p14:modId xmlns:p14="http://schemas.microsoft.com/office/powerpoint/2010/main" val="1243787948"/>
              </p:ext>
            </p:extLst>
          </p:nvPr>
        </p:nvGraphicFramePr>
        <p:xfrm>
          <a:off x="1587903" y="1706351"/>
          <a:ext cx="8985714" cy="4486472"/>
        </p:xfrm>
        <a:graphic>
          <a:graphicData uri="http://schemas.openxmlformats.org/drawingml/2006/table">
            <a:tbl>
              <a:tblPr>
                <a:tableStyleId>{00000000-0000-0000-0000-000000000000}</a:tableStyleId>
              </a:tblPr>
              <a:tblGrid>
                <a:gridCol w="3267666">
                  <a:extLst>
                    <a:ext uri="{9D8B030D-6E8A-4147-A177-3AD203B41FA5}">
                      <a16:colId xmlns:a16="http://schemas.microsoft.com/office/drawing/2014/main" val="20000"/>
                    </a:ext>
                  </a:extLst>
                </a:gridCol>
                <a:gridCol w="5718048">
                  <a:extLst>
                    <a:ext uri="{9D8B030D-6E8A-4147-A177-3AD203B41FA5}">
                      <a16:colId xmlns:a16="http://schemas.microsoft.com/office/drawing/2014/main" val="1574346174"/>
                    </a:ext>
                  </a:extLst>
                </a:gridCol>
              </a:tblGrid>
              <a:tr h="660640">
                <a:tc>
                  <a:txBody>
                    <a:bodyPr/>
                    <a:lstStyle/>
                    <a:p>
                      <a:pPr algn="ctr"/>
                      <a:r>
                        <a:rPr sz="1600" b="1" i="0" dirty="0">
                          <a:solidFill>
                            <a:schemeClr val="bg1"/>
                          </a:solidFill>
                          <a:latin typeface="Segoe UI"/>
                        </a:rPr>
                        <a:t>Cluster Type</a:t>
                      </a:r>
                    </a:p>
                  </a:txBody>
                  <a:tcPr anchor="ctr">
                    <a:solidFill>
                      <a:schemeClr val="tx2"/>
                    </a:solidFill>
                  </a:tcPr>
                </a:tc>
                <a:tc>
                  <a:txBody>
                    <a:bodyPr/>
                    <a:lstStyle/>
                    <a:p>
                      <a:pPr algn="ctr"/>
                      <a:r>
                        <a:rPr lang="en-US" sz="1600" b="1" i="0" dirty="0">
                          <a:solidFill>
                            <a:schemeClr val="bg1"/>
                          </a:solidFill>
                          <a:latin typeface="Segoe UI"/>
                        </a:rPr>
                        <a:t>Possible </a:t>
                      </a:r>
                      <a:r>
                        <a:rPr sz="1600" b="1" i="0" dirty="0">
                          <a:solidFill>
                            <a:schemeClr val="bg1"/>
                          </a:solidFill>
                          <a:latin typeface="Segoe UI"/>
                        </a:rPr>
                        <a:t>MIMIC-IV</a:t>
                      </a:r>
                      <a:r>
                        <a:rPr lang="en-US" sz="1600" b="1" i="0" dirty="0">
                          <a:solidFill>
                            <a:schemeClr val="bg1"/>
                          </a:solidFill>
                          <a:latin typeface="Segoe UI"/>
                        </a:rPr>
                        <a:t> candidates</a:t>
                      </a:r>
                      <a:endParaRPr sz="1600" b="1" i="0" dirty="0">
                        <a:solidFill>
                          <a:schemeClr val="bg1"/>
                        </a:solidFill>
                        <a:latin typeface="Segoe UI"/>
                      </a:endParaRPr>
                    </a:p>
                  </a:txBody>
                  <a:tcPr anchor="ctr">
                    <a:solidFill>
                      <a:schemeClr val="tx2"/>
                    </a:solidFill>
                  </a:tcPr>
                </a:tc>
                <a:extLst>
                  <a:ext uri="{0D108BD9-81ED-4DB2-BD59-A6C34878D82A}">
                    <a16:rowId xmlns:a16="http://schemas.microsoft.com/office/drawing/2014/main" val="10000"/>
                  </a:ext>
                </a:extLst>
              </a:tr>
              <a:tr h="956458">
                <a:tc>
                  <a:txBody>
                    <a:bodyPr/>
                    <a:lstStyle/>
                    <a:p>
                      <a:pPr algn="ctr"/>
                      <a:r>
                        <a:rPr sz="1800" b="1" i="0" dirty="0">
                          <a:solidFill>
                            <a:srgbClr val="4F8CFF"/>
                          </a:solidFill>
                          <a:latin typeface="Segoe UI"/>
                        </a:rPr>
                        <a:t>Redundant</a:t>
                      </a:r>
                      <a:r>
                        <a:rPr lang="en-US" sz="1800" b="1" i="0" dirty="0">
                          <a:solidFill>
                            <a:srgbClr val="4F8CFF"/>
                          </a:solidFill>
                          <a:latin typeface="Segoe UI"/>
                        </a:rPr>
                        <a:t> </a:t>
                      </a:r>
                      <a:r>
                        <a:rPr sz="1800" b="1" i="0" dirty="0">
                          <a:solidFill>
                            <a:srgbClr val="4F8CFF"/>
                          </a:solidFill>
                          <a:latin typeface="Segoe UI"/>
                        </a:rPr>
                        <a:t>central cluster</a:t>
                      </a:r>
                    </a:p>
                  </a:txBody>
                  <a:tcPr anchor="ctr">
                    <a:solidFill>
                      <a:srgbClr val="1C212F"/>
                    </a:solidFill>
                  </a:tcPr>
                </a:tc>
                <a:tc>
                  <a:txBody>
                    <a:bodyPr/>
                    <a:lstStyle/>
                    <a:p>
                      <a:pPr algn="l"/>
                      <a:r>
                        <a:rPr sz="1800" b="0" i="0" dirty="0">
                          <a:solidFill>
                            <a:srgbClr val="F0F0F5"/>
                          </a:solidFill>
                          <a:latin typeface="Segoe UI"/>
                        </a:rPr>
                        <a:t>Common conditions → hundreds of similar notes</a:t>
                      </a:r>
                    </a:p>
                  </a:txBody>
                  <a:tcPr anchor="ctr">
                    <a:solidFill>
                      <a:srgbClr val="1C212F"/>
                    </a:solidFill>
                  </a:tcPr>
                </a:tc>
                <a:extLst>
                  <a:ext uri="{0D108BD9-81ED-4DB2-BD59-A6C34878D82A}">
                    <a16:rowId xmlns:a16="http://schemas.microsoft.com/office/drawing/2014/main" val="10001"/>
                  </a:ext>
                </a:extLst>
              </a:tr>
              <a:tr h="956458">
                <a:tc>
                  <a:txBody>
                    <a:bodyPr/>
                    <a:lstStyle/>
                    <a:p>
                      <a:pPr algn="ctr"/>
                      <a:r>
                        <a:rPr sz="1800" b="1" i="0" dirty="0">
                          <a:solidFill>
                            <a:srgbClr val="4F8CFF"/>
                          </a:solidFill>
                          <a:latin typeface="Segoe UI"/>
                        </a:rPr>
                        <a:t>Complementary cluster(s)</a:t>
                      </a:r>
                    </a:p>
                  </a:txBody>
                  <a:tcPr anchor="ctr">
                    <a:solidFill>
                      <a:srgbClr val="212636"/>
                    </a:solidFill>
                  </a:tcPr>
                </a:tc>
                <a:tc>
                  <a:txBody>
                    <a:bodyPr/>
                    <a:lstStyle/>
                    <a:p>
                      <a:pPr algn="l"/>
                      <a:r>
                        <a:rPr sz="1800" b="0" i="0" dirty="0">
                          <a:solidFill>
                            <a:srgbClr val="F0F0F5"/>
                          </a:solidFill>
                          <a:latin typeface="Segoe UI"/>
                        </a:rPr>
                        <a:t>Comorbidity combos (pneumonia</a:t>
                      </a:r>
                      <a:r>
                        <a:rPr lang="en-US" sz="1800" b="0" i="0" dirty="0">
                          <a:solidFill>
                            <a:srgbClr val="F0F0F5"/>
                          </a:solidFill>
                          <a:latin typeface="Segoe UI"/>
                        </a:rPr>
                        <a:t> </a:t>
                      </a:r>
                      <a:r>
                        <a:rPr sz="1800" b="0" i="0" dirty="0">
                          <a:solidFill>
                            <a:srgbClr val="F0F0F5"/>
                          </a:solidFill>
                          <a:latin typeface="Segoe UI"/>
                        </a:rPr>
                        <a:t>+</a:t>
                      </a:r>
                      <a:r>
                        <a:rPr lang="en-US" sz="1800" b="0" i="0" dirty="0">
                          <a:solidFill>
                            <a:srgbClr val="F0F0F5"/>
                          </a:solidFill>
                          <a:latin typeface="Segoe UI"/>
                        </a:rPr>
                        <a:t> </a:t>
                      </a:r>
                      <a:r>
                        <a:rPr sz="1800" b="0" i="0" dirty="0">
                          <a:solidFill>
                            <a:srgbClr val="F0F0F5"/>
                          </a:solidFill>
                          <a:latin typeface="Segoe UI"/>
                        </a:rPr>
                        <a:t>CKD +</a:t>
                      </a:r>
                      <a:r>
                        <a:rPr lang="en-US" sz="1800" b="0" i="0" dirty="0">
                          <a:solidFill>
                            <a:srgbClr val="F0F0F5"/>
                          </a:solidFill>
                          <a:latin typeface="Segoe UI"/>
                        </a:rPr>
                        <a:t> </a:t>
                      </a:r>
                      <a:r>
                        <a:rPr sz="1800" b="0" i="0" dirty="0">
                          <a:solidFill>
                            <a:srgbClr val="F0F0F5"/>
                          </a:solidFill>
                          <a:latin typeface="Segoe UI"/>
                        </a:rPr>
                        <a:t>diabetes) → distinct management sub-groups</a:t>
                      </a:r>
                    </a:p>
                  </a:txBody>
                  <a:tcPr anchor="ctr">
                    <a:solidFill>
                      <a:srgbClr val="212636"/>
                    </a:solidFill>
                  </a:tcPr>
                </a:tc>
                <a:extLst>
                  <a:ext uri="{0D108BD9-81ED-4DB2-BD59-A6C34878D82A}">
                    <a16:rowId xmlns:a16="http://schemas.microsoft.com/office/drawing/2014/main" val="10002"/>
                  </a:ext>
                </a:extLst>
              </a:tr>
              <a:tr h="956458">
                <a:tc>
                  <a:txBody>
                    <a:bodyPr/>
                    <a:lstStyle/>
                    <a:p>
                      <a:pPr algn="ctr"/>
                      <a:r>
                        <a:rPr sz="1800" b="1" i="0" dirty="0">
                          <a:solidFill>
                            <a:srgbClr val="4F8CFF"/>
                          </a:solidFill>
                          <a:latin typeface="Segoe UI"/>
                        </a:rPr>
                        <a:t>Niche cluster</a:t>
                      </a:r>
                    </a:p>
                  </a:txBody>
                  <a:tcPr anchor="ctr">
                    <a:solidFill>
                      <a:srgbClr val="1C212F"/>
                    </a:solidFill>
                  </a:tcPr>
                </a:tc>
                <a:tc>
                  <a:txBody>
                    <a:bodyPr/>
                    <a:lstStyle/>
                    <a:p>
                      <a:pPr algn="l"/>
                      <a:r>
                        <a:rPr sz="1800" b="0" i="0" dirty="0">
                          <a:solidFill>
                            <a:srgbClr val="F0F0F5"/>
                          </a:solidFill>
                          <a:latin typeface="Segoe UI"/>
                        </a:rPr>
                        <a:t>Rare complications → few notes, unique reasoning</a:t>
                      </a:r>
                    </a:p>
                  </a:txBody>
                  <a:tcPr anchor="ctr">
                    <a:solidFill>
                      <a:srgbClr val="1C212F"/>
                    </a:solidFill>
                  </a:tcPr>
                </a:tc>
                <a:extLst>
                  <a:ext uri="{0D108BD9-81ED-4DB2-BD59-A6C34878D82A}">
                    <a16:rowId xmlns:a16="http://schemas.microsoft.com/office/drawing/2014/main" val="10003"/>
                  </a:ext>
                </a:extLst>
              </a:tr>
              <a:tr h="956458">
                <a:tc>
                  <a:txBody>
                    <a:bodyPr/>
                    <a:lstStyle/>
                    <a:p>
                      <a:pPr algn="ctr"/>
                      <a:r>
                        <a:rPr sz="1800" b="1" i="0" dirty="0">
                          <a:solidFill>
                            <a:srgbClr val="FFAB40"/>
                          </a:solidFill>
                          <a:latin typeface="Segoe UI"/>
                        </a:rPr>
                        <a:t>Outliers</a:t>
                      </a:r>
                    </a:p>
                  </a:txBody>
                  <a:tcPr anchor="ctr">
                    <a:solidFill>
                      <a:srgbClr val="212636"/>
                    </a:solidFill>
                  </a:tcPr>
                </a:tc>
                <a:tc>
                  <a:txBody>
                    <a:bodyPr/>
                    <a:lstStyle/>
                    <a:p>
                      <a:pPr algn="l"/>
                      <a:r>
                        <a:rPr sz="1800" b="0" i="0" dirty="0">
                          <a:solidFill>
                            <a:srgbClr val="F0F0F5"/>
                          </a:solidFill>
                          <a:latin typeface="Segoe UI"/>
                        </a:rPr>
                        <a:t>ICD mismatches, boilerplate copies, </a:t>
                      </a:r>
                      <a:r>
                        <a:rPr lang="en-US" sz="1800" b="0" i="0" dirty="0">
                          <a:solidFill>
                            <a:srgbClr val="F0F0F5"/>
                          </a:solidFill>
                          <a:latin typeface="Segoe UI"/>
                        </a:rPr>
                        <a:t>noisy </a:t>
                      </a:r>
                      <a:r>
                        <a:rPr sz="1800" b="0" i="0" dirty="0">
                          <a:solidFill>
                            <a:srgbClr val="F0F0F5"/>
                          </a:solidFill>
                          <a:latin typeface="Segoe UI"/>
                        </a:rPr>
                        <a:t>de-id artifacts</a:t>
                      </a:r>
                    </a:p>
                  </a:txBody>
                  <a:tcPr anchor="ctr">
                    <a:solidFill>
                      <a:srgbClr val="212636"/>
                    </a:solidFill>
                  </a:tcPr>
                </a:tc>
                <a:extLst>
                  <a:ext uri="{0D108BD9-81ED-4DB2-BD59-A6C34878D82A}">
                    <a16:rowId xmlns:a16="http://schemas.microsoft.com/office/drawing/2014/main" val="10004"/>
                  </a:ext>
                </a:extLst>
              </a:tr>
            </a:tbl>
          </a:graphicData>
        </a:graphic>
      </p:graphicFrame>
      <p:sp>
        <p:nvSpPr>
          <p:cNvPr id="8" name="Slide Number Placeholder 7">
            <a:extLst>
              <a:ext uri="{FF2B5EF4-FFF2-40B4-BE49-F238E27FC236}">
                <a16:creationId xmlns:a16="http://schemas.microsoft.com/office/drawing/2014/main" id="{B9845D41-FEDC-FBB6-C4CE-9A10341B80C9}"/>
              </a:ext>
            </a:extLst>
          </p:cNvPr>
          <p:cNvSpPr>
            <a:spLocks noGrp="1"/>
          </p:cNvSpPr>
          <p:nvPr>
            <p:ph type="sldNum" sz="quarter" idx="12"/>
          </p:nvPr>
        </p:nvSpPr>
        <p:spPr/>
        <p:txBody>
          <a:bodyPr/>
          <a:lstStyle/>
          <a:p>
            <a:fld id="{C1FF6DA9-008F-8B48-92A6-B652298478BF}" type="slidenum">
              <a:rPr lang="en-US" smtClean="0"/>
              <a:t>7</a:t>
            </a:fld>
            <a:endParaRPr lang="en-US"/>
          </a:p>
        </p:txBody>
      </p:sp>
    </p:spTree>
    <p:extLst>
      <p:ext uri="{BB962C8B-B14F-4D97-AF65-F5344CB8AC3E}">
        <p14:creationId xmlns:p14="http://schemas.microsoft.com/office/powerpoint/2010/main" val="9655341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lang="it-IT" sz="3200" b="1" i="1" dirty="0">
                <a:solidFill>
                  <a:srgbClr val="F0F0F5"/>
                </a:solidFill>
                <a:latin typeface="Segoe UI"/>
              </a:rPr>
              <a:t>MIMIC-IV-Note</a:t>
            </a:r>
            <a:r>
              <a:rPr lang="it-IT" sz="3200" b="1" dirty="0">
                <a:solidFill>
                  <a:srgbClr val="F0F0F5"/>
                </a:solidFill>
                <a:latin typeface="Segoe UI"/>
              </a:rPr>
              <a:t> </a:t>
            </a:r>
            <a:r>
              <a:rPr sz="3200" b="1" i="0" dirty="0">
                <a:solidFill>
                  <a:srgbClr val="F0F0F5"/>
                </a:solidFill>
                <a:latin typeface="Segoe UI"/>
              </a:rPr>
              <a:t>Discharge Summaries</a:t>
            </a:r>
          </a:p>
        </p:txBody>
      </p:sp>
      <p:sp>
        <p:nvSpPr>
          <p:cNvPr id="5" name="Rectangle 4"/>
          <p:cNvSpPr/>
          <p:nvPr/>
        </p:nvSpPr>
        <p:spPr>
          <a:xfrm>
            <a:off x="822960" y="1234440"/>
            <a:ext cx="2286000" cy="3175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extLst>
              <p:ext uri="{D42A27DB-BD31-4B8C-83A1-F6EECF244321}">
                <p14:modId xmlns:p14="http://schemas.microsoft.com/office/powerpoint/2010/main" val="2514115449"/>
              </p:ext>
            </p:extLst>
          </p:nvPr>
        </p:nvGraphicFramePr>
        <p:xfrm>
          <a:off x="1252294" y="1615370"/>
          <a:ext cx="9687411" cy="4684711"/>
        </p:xfrm>
        <a:graphic>
          <a:graphicData uri="http://schemas.openxmlformats.org/drawingml/2006/table">
            <a:tbl>
              <a:tblPr>
                <a:tableStyleId>{00000000-0000-0000-0000-000000000000}</a:tableStyleId>
              </a:tblPr>
              <a:tblGrid>
                <a:gridCol w="3253614">
                  <a:extLst>
                    <a:ext uri="{9D8B030D-6E8A-4147-A177-3AD203B41FA5}">
                      <a16:colId xmlns:a16="http://schemas.microsoft.com/office/drawing/2014/main" val="20000"/>
                    </a:ext>
                  </a:extLst>
                </a:gridCol>
                <a:gridCol w="4137128">
                  <a:extLst>
                    <a:ext uri="{9D8B030D-6E8A-4147-A177-3AD203B41FA5}">
                      <a16:colId xmlns:a16="http://schemas.microsoft.com/office/drawing/2014/main" val="20001"/>
                    </a:ext>
                  </a:extLst>
                </a:gridCol>
                <a:gridCol w="2296669">
                  <a:extLst>
                    <a:ext uri="{9D8B030D-6E8A-4147-A177-3AD203B41FA5}">
                      <a16:colId xmlns:a16="http://schemas.microsoft.com/office/drawing/2014/main" val="20002"/>
                    </a:ext>
                  </a:extLst>
                </a:gridCol>
              </a:tblGrid>
              <a:tr h="484094">
                <a:tc>
                  <a:txBody>
                    <a:bodyPr/>
                    <a:lstStyle/>
                    <a:p>
                      <a:pPr algn="ctr"/>
                      <a:r>
                        <a:rPr sz="1600" b="1" i="0" dirty="0">
                          <a:solidFill>
                            <a:schemeClr val="bg1">
                              <a:lumMod val="95000"/>
                            </a:schemeClr>
                          </a:solidFill>
                          <a:latin typeface="Segoe UI"/>
                        </a:rPr>
                        <a:t>Section</a:t>
                      </a:r>
                    </a:p>
                  </a:txBody>
                  <a:tcPr anchor="ctr">
                    <a:solidFill>
                      <a:schemeClr val="tx2"/>
                    </a:solidFill>
                  </a:tcPr>
                </a:tc>
                <a:tc>
                  <a:txBody>
                    <a:bodyPr/>
                    <a:lstStyle/>
                    <a:p>
                      <a:pPr algn="ctr"/>
                      <a:r>
                        <a:rPr sz="1600" b="1" i="0" dirty="0">
                          <a:solidFill>
                            <a:schemeClr val="bg1">
                              <a:lumMod val="95000"/>
                            </a:schemeClr>
                          </a:solidFill>
                          <a:latin typeface="Segoe UI"/>
                        </a:rPr>
                        <a:t>Content</a:t>
                      </a:r>
                    </a:p>
                  </a:txBody>
                  <a:tcPr anchor="ctr">
                    <a:solidFill>
                      <a:schemeClr val="tx2"/>
                    </a:solidFill>
                  </a:tcPr>
                </a:tc>
                <a:tc>
                  <a:txBody>
                    <a:bodyPr/>
                    <a:lstStyle/>
                    <a:p>
                      <a:pPr algn="ctr"/>
                      <a:r>
                        <a:rPr sz="1600" b="1" i="0" dirty="0">
                          <a:solidFill>
                            <a:schemeClr val="bg1">
                              <a:lumMod val="95000"/>
                            </a:schemeClr>
                          </a:solidFill>
                          <a:latin typeface="Segoe UI"/>
                        </a:rPr>
                        <a:t>QA Value</a:t>
                      </a:r>
                    </a:p>
                  </a:txBody>
                  <a:tcPr anchor="ctr">
                    <a:solidFill>
                      <a:schemeClr val="tx2"/>
                    </a:solidFill>
                  </a:tcPr>
                </a:tc>
                <a:extLst>
                  <a:ext uri="{0D108BD9-81ED-4DB2-BD59-A6C34878D82A}">
                    <a16:rowId xmlns:a16="http://schemas.microsoft.com/office/drawing/2014/main" val="10000"/>
                  </a:ext>
                </a:extLst>
              </a:tr>
              <a:tr h="432000">
                <a:tc>
                  <a:txBody>
                    <a:bodyPr/>
                    <a:lstStyle/>
                    <a:p>
                      <a:pPr algn="l"/>
                      <a:r>
                        <a:rPr sz="1600" b="1" i="0" dirty="0">
                          <a:solidFill>
                            <a:schemeClr val="bg1"/>
                          </a:solidFill>
                          <a:latin typeface="Segoe UI"/>
                        </a:rPr>
                        <a:t>Brief Hospital Course</a:t>
                      </a:r>
                    </a:p>
                  </a:txBody>
                  <a:tcPr anchor="ctr">
                    <a:solidFill>
                      <a:srgbClr val="1C212F"/>
                    </a:solidFill>
                  </a:tcPr>
                </a:tc>
                <a:tc>
                  <a:txBody>
                    <a:bodyPr/>
                    <a:lstStyle/>
                    <a:p>
                      <a:pPr algn="l"/>
                      <a:r>
                        <a:rPr sz="1600" b="1" i="0" dirty="0">
                          <a:solidFill>
                            <a:schemeClr val="bg1"/>
                          </a:solidFill>
                          <a:latin typeface="Segoe UI"/>
                        </a:rPr>
                        <a:t>Clinical reasoning per problem</a:t>
                      </a:r>
                    </a:p>
                  </a:txBody>
                  <a:tcPr anchor="ctr">
                    <a:solidFill>
                      <a:srgbClr val="1C212F"/>
                    </a:solidFill>
                  </a:tcPr>
                </a:tc>
                <a:tc>
                  <a:txBody>
                    <a:bodyPr/>
                    <a:lstStyle/>
                    <a:p>
                      <a:pPr algn="l"/>
                      <a:r>
                        <a:rPr sz="1600" b="1" i="0" dirty="0">
                          <a:solidFill>
                            <a:srgbClr val="48C78E"/>
                          </a:solidFill>
                          <a:latin typeface="Segoe UI"/>
                        </a:rPr>
                        <a:t>High</a:t>
                      </a:r>
                    </a:p>
                  </a:txBody>
                  <a:tcPr anchor="ctr">
                    <a:solidFill>
                      <a:srgbClr val="1C212F"/>
                    </a:solidFill>
                  </a:tcPr>
                </a:tc>
                <a:extLst>
                  <a:ext uri="{0D108BD9-81ED-4DB2-BD59-A6C34878D82A}">
                    <a16:rowId xmlns:a16="http://schemas.microsoft.com/office/drawing/2014/main" val="10001"/>
                  </a:ext>
                </a:extLst>
              </a:tr>
              <a:tr h="432000">
                <a:tc>
                  <a:txBody>
                    <a:bodyPr/>
                    <a:lstStyle/>
                    <a:p>
                      <a:pPr algn="l"/>
                      <a:r>
                        <a:rPr sz="1600" b="0" i="0" dirty="0">
                          <a:solidFill>
                            <a:srgbClr val="F0F0F5"/>
                          </a:solidFill>
                          <a:latin typeface="Segoe UI"/>
                        </a:rPr>
                        <a:t>History of Present Illness</a:t>
                      </a:r>
                    </a:p>
                  </a:txBody>
                  <a:tcPr anchor="ctr">
                    <a:solidFill>
                      <a:srgbClr val="212636"/>
                    </a:solidFill>
                  </a:tcPr>
                </a:tc>
                <a:tc>
                  <a:txBody>
                    <a:bodyPr/>
                    <a:lstStyle/>
                    <a:p>
                      <a:pPr algn="l"/>
                      <a:r>
                        <a:rPr sz="1600" b="0" i="0">
                          <a:solidFill>
                            <a:srgbClr val="F0F0F5"/>
                          </a:solidFill>
                          <a:latin typeface="Segoe UI"/>
                        </a:rPr>
                        <a:t>Symptom narrative, temporal progression</a:t>
                      </a:r>
                    </a:p>
                  </a:txBody>
                  <a:tcPr anchor="ctr">
                    <a:solidFill>
                      <a:srgbClr val="212636"/>
                    </a:solidFill>
                  </a:tcPr>
                </a:tc>
                <a:tc>
                  <a:txBody>
                    <a:bodyPr/>
                    <a:lstStyle/>
                    <a:p>
                      <a:pPr algn="l"/>
                      <a:r>
                        <a:rPr sz="1600" b="0" i="0" dirty="0">
                          <a:solidFill>
                            <a:srgbClr val="48C78E"/>
                          </a:solidFill>
                          <a:latin typeface="Segoe UI"/>
                        </a:rPr>
                        <a:t>High</a:t>
                      </a:r>
                    </a:p>
                  </a:txBody>
                  <a:tcPr anchor="ctr">
                    <a:solidFill>
                      <a:srgbClr val="212636"/>
                    </a:solidFill>
                  </a:tcPr>
                </a:tc>
                <a:extLst>
                  <a:ext uri="{0D108BD9-81ED-4DB2-BD59-A6C34878D82A}">
                    <a16:rowId xmlns:a16="http://schemas.microsoft.com/office/drawing/2014/main" val="10002"/>
                  </a:ext>
                </a:extLst>
              </a:tr>
              <a:tr h="432000">
                <a:tc>
                  <a:txBody>
                    <a:bodyPr/>
                    <a:lstStyle/>
                    <a:p>
                      <a:pPr algn="l"/>
                      <a:r>
                        <a:rPr sz="1600" b="0" i="0">
                          <a:solidFill>
                            <a:srgbClr val="F0F0F5"/>
                          </a:solidFill>
                          <a:latin typeface="Segoe UI"/>
                        </a:rPr>
                        <a:t>Pertinent Results</a:t>
                      </a:r>
                    </a:p>
                  </a:txBody>
                  <a:tcPr anchor="ctr">
                    <a:solidFill>
                      <a:srgbClr val="1C212F"/>
                    </a:solidFill>
                  </a:tcPr>
                </a:tc>
                <a:tc>
                  <a:txBody>
                    <a:bodyPr/>
                    <a:lstStyle/>
                    <a:p>
                      <a:pPr algn="l"/>
                      <a:r>
                        <a:rPr sz="1600" b="0" i="0" dirty="0">
                          <a:solidFill>
                            <a:srgbClr val="F0F0F5"/>
                          </a:solidFill>
                          <a:latin typeface="Segoe UI"/>
                        </a:rPr>
                        <a:t>Labs, imaging, micro interpretations</a:t>
                      </a:r>
                    </a:p>
                  </a:txBody>
                  <a:tcPr anchor="ctr">
                    <a:solidFill>
                      <a:srgbClr val="1C212F"/>
                    </a:solidFill>
                  </a:tcPr>
                </a:tc>
                <a:tc>
                  <a:txBody>
                    <a:bodyPr/>
                    <a:lstStyle/>
                    <a:p>
                      <a:pPr algn="l"/>
                      <a:r>
                        <a:rPr sz="1600" b="0" i="0" dirty="0">
                          <a:solidFill>
                            <a:srgbClr val="48C78E"/>
                          </a:solidFill>
                          <a:latin typeface="Segoe UI"/>
                        </a:rPr>
                        <a:t>High</a:t>
                      </a:r>
                    </a:p>
                  </a:txBody>
                  <a:tcPr anchor="ctr">
                    <a:solidFill>
                      <a:srgbClr val="1C212F"/>
                    </a:solidFill>
                  </a:tcPr>
                </a:tc>
                <a:extLst>
                  <a:ext uri="{0D108BD9-81ED-4DB2-BD59-A6C34878D82A}">
                    <a16:rowId xmlns:a16="http://schemas.microsoft.com/office/drawing/2014/main" val="10003"/>
                  </a:ext>
                </a:extLst>
              </a:tr>
              <a:tr h="432000">
                <a:tc>
                  <a:txBody>
                    <a:bodyPr/>
                    <a:lstStyle/>
                    <a:p>
                      <a:pPr algn="l"/>
                      <a:r>
                        <a:rPr sz="1600" b="0" i="0" dirty="0">
                          <a:solidFill>
                            <a:srgbClr val="F0F0F5"/>
                          </a:solidFill>
                          <a:latin typeface="Segoe UI"/>
                        </a:rPr>
                        <a:t>Discharge Diagnosis</a:t>
                      </a:r>
                    </a:p>
                  </a:txBody>
                  <a:tcPr anchor="ctr">
                    <a:solidFill>
                      <a:srgbClr val="212636"/>
                    </a:solidFill>
                  </a:tcPr>
                </a:tc>
                <a:tc>
                  <a:txBody>
                    <a:bodyPr/>
                    <a:lstStyle/>
                    <a:p>
                      <a:pPr algn="l"/>
                      <a:r>
                        <a:rPr sz="1600" b="0" i="0">
                          <a:solidFill>
                            <a:srgbClr val="F0F0F5"/>
                          </a:solidFill>
                          <a:latin typeface="Segoe UI"/>
                        </a:rPr>
                        <a:t>Diagnostic labels (linkable to ICD)</a:t>
                      </a:r>
                    </a:p>
                  </a:txBody>
                  <a:tcPr anchor="ctr">
                    <a:solidFill>
                      <a:srgbClr val="212636"/>
                    </a:solidFill>
                  </a:tcPr>
                </a:tc>
                <a:tc>
                  <a:txBody>
                    <a:bodyPr/>
                    <a:lstStyle/>
                    <a:p>
                      <a:pPr algn="l"/>
                      <a:r>
                        <a:rPr sz="1600" b="0" i="0" dirty="0">
                          <a:solidFill>
                            <a:srgbClr val="48C78E"/>
                          </a:solidFill>
                          <a:latin typeface="Segoe UI"/>
                        </a:rPr>
                        <a:t>High</a:t>
                      </a:r>
                    </a:p>
                  </a:txBody>
                  <a:tcPr anchor="ctr">
                    <a:solidFill>
                      <a:srgbClr val="212636"/>
                    </a:solidFill>
                  </a:tcPr>
                </a:tc>
                <a:extLst>
                  <a:ext uri="{0D108BD9-81ED-4DB2-BD59-A6C34878D82A}">
                    <a16:rowId xmlns:a16="http://schemas.microsoft.com/office/drawing/2014/main" val="10004"/>
                  </a:ext>
                </a:extLst>
              </a:tr>
              <a:tr h="432000">
                <a:tc>
                  <a:txBody>
                    <a:bodyPr/>
                    <a:lstStyle/>
                    <a:p>
                      <a:pPr algn="l"/>
                      <a:r>
                        <a:rPr sz="1600" b="0" i="0" dirty="0">
                          <a:solidFill>
                            <a:srgbClr val="F0F0F5"/>
                          </a:solidFill>
                          <a:latin typeface="Segoe UI"/>
                        </a:rPr>
                        <a:t>Chief Complaint</a:t>
                      </a:r>
                    </a:p>
                  </a:txBody>
                  <a:tcPr anchor="ctr">
                    <a:solidFill>
                      <a:srgbClr val="1C212F"/>
                    </a:solidFill>
                  </a:tcPr>
                </a:tc>
                <a:tc>
                  <a:txBody>
                    <a:bodyPr/>
                    <a:lstStyle/>
                    <a:p>
                      <a:pPr algn="l"/>
                      <a:r>
                        <a:rPr sz="1600" b="0" i="0">
                          <a:solidFill>
                            <a:srgbClr val="F0F0F5"/>
                          </a:solidFill>
                          <a:latin typeface="Segoe UI"/>
                        </a:rPr>
                        <a:t>1–2 lines, reason for admission</a:t>
                      </a:r>
                    </a:p>
                  </a:txBody>
                  <a:tcPr anchor="ctr">
                    <a:solidFill>
                      <a:srgbClr val="1C212F"/>
                    </a:solidFill>
                  </a:tcPr>
                </a:tc>
                <a:tc>
                  <a:txBody>
                    <a:bodyPr/>
                    <a:lstStyle/>
                    <a:p>
                      <a:pPr algn="l"/>
                      <a:r>
                        <a:rPr sz="1600" b="0" i="0" dirty="0">
                          <a:solidFill>
                            <a:srgbClr val="48C78E"/>
                          </a:solidFill>
                          <a:latin typeface="Segoe UI"/>
                        </a:rPr>
                        <a:t>High (as embedding metadata)</a:t>
                      </a:r>
                    </a:p>
                  </a:txBody>
                  <a:tcPr anchor="ctr">
                    <a:solidFill>
                      <a:srgbClr val="1C212F"/>
                    </a:solidFill>
                  </a:tcPr>
                </a:tc>
                <a:extLst>
                  <a:ext uri="{0D108BD9-81ED-4DB2-BD59-A6C34878D82A}">
                    <a16:rowId xmlns:a16="http://schemas.microsoft.com/office/drawing/2014/main" val="10005"/>
                  </a:ext>
                </a:extLst>
              </a:tr>
              <a:tr h="432000">
                <a:tc>
                  <a:txBody>
                    <a:bodyPr/>
                    <a:lstStyle/>
                    <a:p>
                      <a:pPr algn="l"/>
                      <a:r>
                        <a:rPr sz="1600" b="0" i="0">
                          <a:solidFill>
                            <a:srgbClr val="F0F0F5"/>
                          </a:solidFill>
                          <a:latin typeface="Segoe UI"/>
                        </a:rPr>
                        <a:t>Past Medical History</a:t>
                      </a:r>
                    </a:p>
                  </a:txBody>
                  <a:tcPr anchor="ctr">
                    <a:solidFill>
                      <a:srgbClr val="212636"/>
                    </a:solidFill>
                  </a:tcPr>
                </a:tc>
                <a:tc>
                  <a:txBody>
                    <a:bodyPr/>
                    <a:lstStyle/>
                    <a:p>
                      <a:pPr algn="l"/>
                      <a:r>
                        <a:rPr sz="1600" b="0" i="0" dirty="0">
                          <a:solidFill>
                            <a:srgbClr val="F0F0F5"/>
                          </a:solidFill>
                          <a:latin typeface="Segoe UI"/>
                        </a:rPr>
                        <a:t>Comorbidities list</a:t>
                      </a:r>
                    </a:p>
                  </a:txBody>
                  <a:tcPr anchor="ctr">
                    <a:solidFill>
                      <a:srgbClr val="212636"/>
                    </a:solidFill>
                  </a:tcPr>
                </a:tc>
                <a:tc>
                  <a:txBody>
                    <a:bodyPr/>
                    <a:lstStyle/>
                    <a:p>
                      <a:pPr algn="l"/>
                      <a:r>
                        <a:rPr sz="1600" b="0" i="0" dirty="0">
                          <a:solidFill>
                            <a:srgbClr val="FFAB40"/>
                          </a:solidFill>
                          <a:latin typeface="Segoe UI"/>
                        </a:rPr>
                        <a:t>Medium</a:t>
                      </a:r>
                    </a:p>
                  </a:txBody>
                  <a:tcPr anchor="ctr">
                    <a:solidFill>
                      <a:srgbClr val="212636"/>
                    </a:solidFill>
                  </a:tcPr>
                </a:tc>
                <a:extLst>
                  <a:ext uri="{0D108BD9-81ED-4DB2-BD59-A6C34878D82A}">
                    <a16:rowId xmlns:a16="http://schemas.microsoft.com/office/drawing/2014/main" val="10006"/>
                  </a:ext>
                </a:extLst>
              </a:tr>
              <a:tr h="1461497">
                <a:tc>
                  <a:txBody>
                    <a:bodyPr/>
                    <a:lstStyle/>
                    <a:p>
                      <a:pPr marL="285750" indent="-285750" algn="l">
                        <a:buFontTx/>
                        <a:buChar char="-"/>
                      </a:pPr>
                      <a:r>
                        <a:rPr sz="1600" b="0" i="0" dirty="0">
                          <a:solidFill>
                            <a:srgbClr val="F0F0F5"/>
                          </a:solidFill>
                          <a:latin typeface="Segoe UI"/>
                        </a:rPr>
                        <a:t>Surgical</a:t>
                      </a:r>
                      <a:r>
                        <a:rPr lang="en-US" sz="1600" b="0" i="0" dirty="0">
                          <a:solidFill>
                            <a:srgbClr val="F0F0F5"/>
                          </a:solidFill>
                          <a:latin typeface="Segoe UI"/>
                        </a:rPr>
                        <a:t> / </a:t>
                      </a:r>
                      <a:r>
                        <a:rPr sz="1600" b="0" i="0" dirty="0">
                          <a:solidFill>
                            <a:srgbClr val="F0F0F5"/>
                          </a:solidFill>
                          <a:latin typeface="Segoe UI"/>
                        </a:rPr>
                        <a:t>Invasive Procedure</a:t>
                      </a:r>
                      <a:endParaRPr lang="en-US" sz="1600" b="0" i="0" dirty="0">
                        <a:solidFill>
                          <a:srgbClr val="F0F0F5"/>
                        </a:solidFill>
                        <a:latin typeface="Segoe UI"/>
                      </a:endParaRPr>
                    </a:p>
                    <a:p>
                      <a:pPr marL="285750" indent="-285750" algn="l">
                        <a:buFontTx/>
                        <a:buChar char="-"/>
                      </a:pPr>
                      <a:r>
                        <a:rPr lang="it-IT" sz="1600" b="0" i="0" dirty="0">
                          <a:solidFill>
                            <a:srgbClr val="F0F0F5"/>
                          </a:solidFill>
                          <a:latin typeface="Segoe UI"/>
                        </a:rPr>
                        <a:t>Social / Family History</a:t>
                      </a:r>
                    </a:p>
                    <a:p>
                      <a:pPr marL="285750" indent="-285750" algn="l">
                        <a:buFontTx/>
                        <a:buChar char="-"/>
                      </a:pPr>
                      <a:r>
                        <a:rPr lang="it-IT" sz="1600" b="0" i="0" dirty="0">
                          <a:solidFill>
                            <a:srgbClr val="F0F0F5"/>
                          </a:solidFill>
                          <a:latin typeface="Segoe UI"/>
                        </a:rPr>
                        <a:t>Discharge Medications</a:t>
                      </a:r>
                    </a:p>
                    <a:p>
                      <a:pPr marL="285750" indent="-285750" algn="l">
                        <a:buFontTx/>
                        <a:buChar char="-"/>
                      </a:pPr>
                      <a:r>
                        <a:rPr lang="it-IT" sz="1600" b="0" i="0" dirty="0">
                          <a:solidFill>
                            <a:srgbClr val="F0F0F5"/>
                          </a:solidFill>
                          <a:latin typeface="Segoe UI"/>
                        </a:rPr>
                        <a:t>Physical Exams</a:t>
                      </a:r>
                    </a:p>
                  </a:txBody>
                  <a:tcPr anchor="ctr">
                    <a:solidFill>
                      <a:srgbClr val="1C212F"/>
                    </a:solidFill>
                  </a:tcPr>
                </a:tc>
                <a:tc>
                  <a:txBody>
                    <a:bodyPr/>
                    <a:lstStyle/>
                    <a:p>
                      <a:pPr algn="l"/>
                      <a:r>
                        <a:rPr lang="en-US" sz="1600" b="0" i="0" dirty="0">
                          <a:solidFill>
                            <a:srgbClr val="F0F0F5"/>
                          </a:solidFill>
                          <a:latin typeface="Segoe UI"/>
                        </a:rPr>
                        <a:t>Other minor pieces of information</a:t>
                      </a:r>
                      <a:endParaRPr sz="1600" b="0" i="0" dirty="0">
                        <a:solidFill>
                          <a:srgbClr val="F0F0F5"/>
                        </a:solidFill>
                        <a:latin typeface="Segoe UI"/>
                      </a:endParaRPr>
                    </a:p>
                  </a:txBody>
                  <a:tcPr anchor="ctr">
                    <a:solidFill>
                      <a:srgbClr val="1C212F"/>
                    </a:solidFill>
                  </a:tcPr>
                </a:tc>
                <a:tc>
                  <a:txBody>
                    <a:bodyPr/>
                    <a:lstStyle/>
                    <a:p>
                      <a:pPr algn="l"/>
                      <a:r>
                        <a:rPr sz="1600" b="0" i="0" dirty="0">
                          <a:solidFill>
                            <a:srgbClr val="828796"/>
                          </a:solidFill>
                          <a:latin typeface="Segoe UI"/>
                        </a:rPr>
                        <a:t>Low</a:t>
                      </a:r>
                    </a:p>
                  </a:txBody>
                  <a:tcPr anchor="ctr">
                    <a:solidFill>
                      <a:srgbClr val="1C212F"/>
                    </a:solidFill>
                  </a:tcPr>
                </a:tc>
                <a:extLst>
                  <a:ext uri="{0D108BD9-81ED-4DB2-BD59-A6C34878D82A}">
                    <a16:rowId xmlns:a16="http://schemas.microsoft.com/office/drawing/2014/main" val="10009"/>
                  </a:ext>
                </a:extLst>
              </a:tr>
            </a:tbl>
          </a:graphicData>
        </a:graphic>
      </p:graphicFrame>
      <p:sp>
        <p:nvSpPr>
          <p:cNvPr id="7" name="Slide Number Placeholder 6">
            <a:extLst>
              <a:ext uri="{FF2B5EF4-FFF2-40B4-BE49-F238E27FC236}">
                <a16:creationId xmlns:a16="http://schemas.microsoft.com/office/drawing/2014/main" id="{8EAC710B-B2D8-DE00-06DD-1269AC954526}"/>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1" dirty="0">
                <a:solidFill>
                  <a:srgbClr val="F0F0F5"/>
                </a:solidFill>
                <a:latin typeface="Segoe UI"/>
              </a:rPr>
              <a:t>MIMIC-IV</a:t>
            </a:r>
            <a:r>
              <a:rPr sz="3200" b="1" i="0" dirty="0">
                <a:solidFill>
                  <a:srgbClr val="F0F0F5"/>
                </a:solidFill>
                <a:latin typeface="Segoe UI"/>
              </a:rPr>
              <a:t> Structured Data</a:t>
            </a:r>
          </a:p>
        </p:txBody>
      </p:sp>
      <p:sp>
        <p:nvSpPr>
          <p:cNvPr id="7" name="TextBox 6"/>
          <p:cNvSpPr txBox="1"/>
          <p:nvPr/>
        </p:nvSpPr>
        <p:spPr>
          <a:xfrm>
            <a:off x="822960" y="1645920"/>
            <a:ext cx="1005840" cy="457200"/>
          </a:xfrm>
          <a:prstGeom prst="rect">
            <a:avLst/>
          </a:prstGeom>
          <a:noFill/>
        </p:spPr>
        <p:txBody>
          <a:bodyPr wrap="none">
            <a:spAutoFit/>
          </a:bodyPr>
          <a:lstStyle/>
          <a:p>
            <a:pPr>
              <a:defRPr sz="1600" b="1">
                <a:solidFill>
                  <a:srgbClr val="FFAB40"/>
                </a:solidFill>
                <a:latin typeface="Segoe UI"/>
              </a:defRPr>
            </a:pPr>
            <a:r>
              <a:rPr dirty="0" err="1"/>
              <a:t>hosp</a:t>
            </a:r>
            <a:r>
              <a:rPr dirty="0"/>
              <a:t> module</a:t>
            </a:r>
          </a:p>
        </p:txBody>
      </p:sp>
      <p:graphicFrame>
        <p:nvGraphicFramePr>
          <p:cNvPr id="8" name="Table 7"/>
          <p:cNvGraphicFramePr>
            <a:graphicFrameLocks noGrp="1"/>
          </p:cNvGraphicFramePr>
          <p:nvPr>
            <p:extLst>
              <p:ext uri="{D42A27DB-BD31-4B8C-83A1-F6EECF244321}">
                <p14:modId xmlns:p14="http://schemas.microsoft.com/office/powerpoint/2010/main" val="4017823769"/>
              </p:ext>
            </p:extLst>
          </p:nvPr>
        </p:nvGraphicFramePr>
        <p:xfrm>
          <a:off x="1167720" y="2391787"/>
          <a:ext cx="9826080" cy="2906356"/>
        </p:xfrm>
        <a:graphic>
          <a:graphicData uri="http://schemas.openxmlformats.org/drawingml/2006/table">
            <a:tbl>
              <a:tblPr>
                <a:tableStyleId>{00000000-0000-0000-0000-000000000000}</a:tableStyleId>
              </a:tblPr>
              <a:tblGrid>
                <a:gridCol w="1960789">
                  <a:extLst>
                    <a:ext uri="{9D8B030D-6E8A-4147-A177-3AD203B41FA5}">
                      <a16:colId xmlns:a16="http://schemas.microsoft.com/office/drawing/2014/main" val="20000"/>
                    </a:ext>
                  </a:extLst>
                </a:gridCol>
                <a:gridCol w="4013291">
                  <a:extLst>
                    <a:ext uri="{9D8B030D-6E8A-4147-A177-3AD203B41FA5}">
                      <a16:colId xmlns:a16="http://schemas.microsoft.com/office/drawing/2014/main" val="20001"/>
                    </a:ext>
                  </a:extLst>
                </a:gridCol>
                <a:gridCol w="3852000">
                  <a:extLst>
                    <a:ext uri="{9D8B030D-6E8A-4147-A177-3AD203B41FA5}">
                      <a16:colId xmlns:a16="http://schemas.microsoft.com/office/drawing/2014/main" val="20002"/>
                    </a:ext>
                  </a:extLst>
                </a:gridCol>
              </a:tblGrid>
              <a:tr h="726589">
                <a:tc>
                  <a:txBody>
                    <a:bodyPr/>
                    <a:lstStyle/>
                    <a:p>
                      <a:pPr algn="ctr"/>
                      <a:r>
                        <a:rPr sz="1600" b="1" i="0" dirty="0">
                          <a:solidFill>
                            <a:schemeClr val="bg1"/>
                          </a:solidFill>
                          <a:latin typeface="Segoe UI"/>
                        </a:rPr>
                        <a:t>Table</a:t>
                      </a:r>
                    </a:p>
                  </a:txBody>
                  <a:tcPr anchor="ctr">
                    <a:solidFill>
                      <a:schemeClr val="tx2"/>
                    </a:solidFill>
                  </a:tcPr>
                </a:tc>
                <a:tc>
                  <a:txBody>
                    <a:bodyPr/>
                    <a:lstStyle/>
                    <a:p>
                      <a:pPr algn="ctr"/>
                      <a:r>
                        <a:rPr sz="1600" b="1" i="0" dirty="0">
                          <a:solidFill>
                            <a:schemeClr val="bg1"/>
                          </a:solidFill>
                          <a:latin typeface="Segoe UI"/>
                        </a:rPr>
                        <a:t>Content</a:t>
                      </a:r>
                    </a:p>
                  </a:txBody>
                  <a:tcPr anchor="ctr">
                    <a:solidFill>
                      <a:schemeClr val="tx2"/>
                    </a:solidFill>
                  </a:tcPr>
                </a:tc>
                <a:tc>
                  <a:txBody>
                    <a:bodyPr/>
                    <a:lstStyle/>
                    <a:p>
                      <a:pPr algn="ctr"/>
                      <a:r>
                        <a:rPr sz="1600" b="1" i="0" dirty="0">
                          <a:solidFill>
                            <a:schemeClr val="bg1"/>
                          </a:solidFill>
                          <a:latin typeface="Segoe UI"/>
                        </a:rPr>
                        <a:t>Our use</a:t>
                      </a:r>
                    </a:p>
                  </a:txBody>
                  <a:tcPr anchor="ctr">
                    <a:solidFill>
                      <a:schemeClr val="tx2"/>
                    </a:solidFill>
                  </a:tcPr>
                </a:tc>
                <a:extLst>
                  <a:ext uri="{0D108BD9-81ED-4DB2-BD59-A6C34878D82A}">
                    <a16:rowId xmlns:a16="http://schemas.microsoft.com/office/drawing/2014/main" val="10000"/>
                  </a:ext>
                </a:extLst>
              </a:tr>
              <a:tr h="726589">
                <a:tc>
                  <a:txBody>
                    <a:bodyPr/>
                    <a:lstStyle/>
                    <a:p>
                      <a:pPr algn="l"/>
                      <a:r>
                        <a:rPr sz="1600" b="1" i="0">
                          <a:solidFill>
                            <a:srgbClr val="4F8CFF"/>
                          </a:solidFill>
                          <a:latin typeface="Segoe UI"/>
                        </a:rPr>
                        <a:t>diagnoses_icd</a:t>
                      </a:r>
                    </a:p>
                  </a:txBody>
                  <a:tcPr anchor="ctr">
                    <a:solidFill>
                      <a:srgbClr val="1C212F"/>
                    </a:solidFill>
                  </a:tcPr>
                </a:tc>
                <a:tc>
                  <a:txBody>
                    <a:bodyPr/>
                    <a:lstStyle/>
                    <a:p>
                      <a:pPr algn="l"/>
                      <a:r>
                        <a:rPr sz="1600" b="0" i="0" dirty="0">
                          <a:solidFill>
                            <a:srgbClr val="F0F0F5"/>
                          </a:solidFill>
                          <a:latin typeface="Segoe UI"/>
                        </a:rPr>
                        <a:t>ICD-9/10 codes </a:t>
                      </a:r>
                      <a:r>
                        <a:rPr sz="1600" b="1" i="0" dirty="0">
                          <a:solidFill>
                            <a:srgbClr val="F0F0F5"/>
                          </a:solidFill>
                          <a:latin typeface="Segoe UI"/>
                        </a:rPr>
                        <a:t>per admission</a:t>
                      </a:r>
                      <a:r>
                        <a:rPr sz="1600" b="0" i="0" dirty="0">
                          <a:solidFill>
                            <a:srgbClr val="F0F0F5"/>
                          </a:solidFill>
                          <a:latin typeface="Segoe UI"/>
                        </a:rPr>
                        <a:t>, with </a:t>
                      </a:r>
                      <a:r>
                        <a:rPr sz="1400" b="0" i="0" dirty="0">
                          <a:solidFill>
                            <a:srgbClr val="F0F0F5"/>
                          </a:solidFill>
                          <a:latin typeface="JetBrains Mono" panose="02000009000000000000" pitchFamily="49" charset="0"/>
                          <a:ea typeface="JetBrains Mono" panose="02000009000000000000" pitchFamily="49" charset="0"/>
                          <a:cs typeface="JetBrains Mono" panose="02000009000000000000" pitchFamily="49" charset="0"/>
                        </a:rPr>
                        <a:t>seq_num</a:t>
                      </a:r>
                      <a:r>
                        <a:rPr lang="en-US" sz="1600" b="0" i="0" dirty="0">
                          <a:solidFill>
                            <a:srgbClr val="F0F0F5"/>
                          </a:solidFill>
                          <a:latin typeface="Segoe UI"/>
                        </a:rPr>
                        <a:t> priority</a:t>
                      </a:r>
                      <a:endParaRPr sz="1600" b="0" i="0" dirty="0">
                        <a:solidFill>
                          <a:srgbClr val="F0F0F5"/>
                        </a:solidFill>
                        <a:latin typeface="Segoe UI"/>
                      </a:endParaRPr>
                    </a:p>
                  </a:txBody>
                  <a:tcPr anchor="ctr">
                    <a:solidFill>
                      <a:srgbClr val="1C212F"/>
                    </a:solidFill>
                  </a:tcPr>
                </a:tc>
                <a:tc>
                  <a:txBody>
                    <a:bodyPr/>
                    <a:lstStyle/>
                    <a:p>
                      <a:pPr algn="l"/>
                      <a:r>
                        <a:rPr lang="en-US" sz="1600" b="0" i="0" dirty="0">
                          <a:solidFill>
                            <a:srgbClr val="48C78E"/>
                          </a:solidFill>
                          <a:latin typeface="Segoe UI"/>
                        </a:rPr>
                        <a:t>ICD </a:t>
                      </a:r>
                      <a:r>
                        <a:rPr sz="1600" b="0" i="0" dirty="0">
                          <a:solidFill>
                            <a:srgbClr val="48C78E"/>
                          </a:solidFill>
                          <a:latin typeface="Segoe UI"/>
                        </a:rPr>
                        <a:t>labels + query scaffolding</a:t>
                      </a:r>
                    </a:p>
                  </a:txBody>
                  <a:tcPr anchor="ctr">
                    <a:solidFill>
                      <a:srgbClr val="1C212F"/>
                    </a:solidFill>
                  </a:tcPr>
                </a:tc>
                <a:extLst>
                  <a:ext uri="{0D108BD9-81ED-4DB2-BD59-A6C34878D82A}">
                    <a16:rowId xmlns:a16="http://schemas.microsoft.com/office/drawing/2014/main" val="10001"/>
                  </a:ext>
                </a:extLst>
              </a:tr>
              <a:tr h="726589">
                <a:tc>
                  <a:txBody>
                    <a:bodyPr/>
                    <a:lstStyle/>
                    <a:p>
                      <a:pPr algn="l"/>
                      <a:r>
                        <a:rPr sz="1600" b="1" i="0">
                          <a:solidFill>
                            <a:srgbClr val="4F8CFF"/>
                          </a:solidFill>
                          <a:latin typeface="Segoe UI"/>
                        </a:rPr>
                        <a:t>d_icd_diagnoses</a:t>
                      </a:r>
                    </a:p>
                  </a:txBody>
                  <a:tcPr anchor="ctr">
                    <a:solidFill>
                      <a:srgbClr val="212636"/>
                    </a:solidFill>
                  </a:tcPr>
                </a:tc>
                <a:tc>
                  <a:txBody>
                    <a:bodyPr/>
                    <a:lstStyle/>
                    <a:p>
                      <a:pPr algn="l"/>
                      <a:r>
                        <a:rPr sz="1600" b="0" i="0" dirty="0">
                          <a:solidFill>
                            <a:srgbClr val="F0F0F5"/>
                          </a:solidFill>
                          <a:latin typeface="Segoe UI"/>
                        </a:rPr>
                        <a:t>ICD code definitions (text descriptions)</a:t>
                      </a:r>
                    </a:p>
                  </a:txBody>
                  <a:tcPr anchor="ctr">
                    <a:solidFill>
                      <a:srgbClr val="212636"/>
                    </a:solidFill>
                  </a:tcPr>
                </a:tc>
                <a:tc>
                  <a:txBody>
                    <a:bodyPr/>
                    <a:lstStyle/>
                    <a:p>
                      <a:pPr algn="l"/>
                      <a:r>
                        <a:rPr sz="1600" b="0" i="0" dirty="0">
                          <a:solidFill>
                            <a:srgbClr val="48C78E"/>
                          </a:solidFill>
                          <a:latin typeface="Segoe UI"/>
                        </a:rPr>
                        <a:t>Condition names for query templates</a:t>
                      </a:r>
                    </a:p>
                  </a:txBody>
                  <a:tcPr anchor="ctr">
                    <a:solidFill>
                      <a:srgbClr val="212636"/>
                    </a:solidFill>
                  </a:tcPr>
                </a:tc>
                <a:extLst>
                  <a:ext uri="{0D108BD9-81ED-4DB2-BD59-A6C34878D82A}">
                    <a16:rowId xmlns:a16="http://schemas.microsoft.com/office/drawing/2014/main" val="10002"/>
                  </a:ext>
                </a:extLst>
              </a:tr>
              <a:tr h="726589">
                <a:tc>
                  <a:txBody>
                    <a:bodyPr/>
                    <a:lstStyle/>
                    <a:p>
                      <a:pPr algn="l"/>
                      <a:r>
                        <a:rPr lang="it-IT" sz="1600" b="1" i="0" dirty="0">
                          <a:solidFill>
                            <a:srgbClr val="4F8CFF"/>
                          </a:solidFill>
                          <a:latin typeface="Segoe UI"/>
                        </a:rPr>
                        <a:t>p</a:t>
                      </a:r>
                      <a:r>
                        <a:rPr sz="1600" b="1" i="0" dirty="0" err="1">
                          <a:solidFill>
                            <a:srgbClr val="4F8CFF"/>
                          </a:solidFill>
                          <a:latin typeface="Segoe UI"/>
                        </a:rPr>
                        <a:t>atients</a:t>
                      </a:r>
                      <a:r>
                        <a:rPr lang="en-US" sz="1600" b="1" i="0" dirty="0">
                          <a:solidFill>
                            <a:srgbClr val="4F8CFF"/>
                          </a:solidFill>
                          <a:latin typeface="Segoe UI"/>
                        </a:rPr>
                        <a:t> + </a:t>
                      </a:r>
                      <a:r>
                        <a:rPr lang="it-IT" sz="1600" b="1" i="0" dirty="0">
                          <a:solidFill>
                            <a:srgbClr val="4F8CFF"/>
                          </a:solidFill>
                          <a:latin typeface="Segoe UI"/>
                        </a:rPr>
                        <a:t>admissions</a:t>
                      </a:r>
                      <a:endParaRPr sz="16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sz="1600" b="0" i="0" dirty="0">
                          <a:solidFill>
                            <a:srgbClr val="F0F0F5"/>
                          </a:solidFill>
                          <a:latin typeface="Segoe UI"/>
                        </a:rPr>
                        <a:t>Gender, age, date of death</a:t>
                      </a:r>
                      <a:r>
                        <a:rPr lang="en-US" sz="1600" b="0" i="0" dirty="0">
                          <a:solidFill>
                            <a:srgbClr val="F0F0F5"/>
                          </a:solidFill>
                          <a:latin typeface="Segoe UI"/>
                        </a:rPr>
                        <a:t>, a</a:t>
                      </a:r>
                      <a:r>
                        <a:rPr lang="it-IT" sz="1600" b="0" i="0" dirty="0">
                          <a:solidFill>
                            <a:srgbClr val="F0F0F5"/>
                          </a:solidFill>
                          <a:latin typeface="Segoe UI"/>
                        </a:rPr>
                        <a:t>dmission type, insurance, race, discharge location</a:t>
                      </a:r>
                    </a:p>
                  </a:txBody>
                  <a:tcPr anchor="ctr">
                    <a:solidFill>
                      <a:srgbClr val="1C212F"/>
                    </a:solidFill>
                  </a:tcPr>
                </a:tc>
                <a:tc>
                  <a:txBody>
                    <a:bodyPr/>
                    <a:lstStyle/>
                    <a:p>
                      <a:pPr algn="l"/>
                      <a:r>
                        <a:rPr lang="en-US" sz="1600" b="0" i="0" dirty="0">
                          <a:solidFill>
                            <a:srgbClr val="48C78E"/>
                          </a:solidFill>
                          <a:latin typeface="Segoe UI"/>
                        </a:rPr>
                        <a:t>Patient data for additional context</a:t>
                      </a:r>
                      <a:endParaRPr sz="1600" b="0" i="0" dirty="0">
                        <a:solidFill>
                          <a:srgbClr val="48C78E"/>
                        </a:solidFill>
                        <a:latin typeface="Segoe UI"/>
                      </a:endParaRPr>
                    </a:p>
                  </a:txBody>
                  <a:tcPr anchor="ctr">
                    <a:solidFill>
                      <a:srgbClr val="1C212F"/>
                    </a:solidFill>
                  </a:tcPr>
                </a:tc>
                <a:extLst>
                  <a:ext uri="{0D108BD9-81ED-4DB2-BD59-A6C34878D82A}">
                    <a16:rowId xmlns:a16="http://schemas.microsoft.com/office/drawing/2014/main" val="10003"/>
                  </a:ext>
                </a:extLst>
              </a:tr>
            </a:tbl>
          </a:graphicData>
        </a:graphic>
      </p:graphicFrame>
      <p:sp>
        <p:nvSpPr>
          <p:cNvPr id="12" name="Rectangle 11">
            <a:extLst>
              <a:ext uri="{FF2B5EF4-FFF2-40B4-BE49-F238E27FC236}">
                <a16:creationId xmlns:a16="http://schemas.microsoft.com/office/drawing/2014/main" id="{EE1A17EE-6EEC-DC62-7536-D506F49EAD36}"/>
              </a:ext>
            </a:extLst>
          </p:cNvPr>
          <p:cNvSpPr/>
          <p:nvPr/>
        </p:nvSpPr>
        <p:spPr>
          <a:xfrm>
            <a:off x="0" y="0"/>
            <a:ext cx="73152" cy="685800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a:extLst>
              <a:ext uri="{FF2B5EF4-FFF2-40B4-BE49-F238E27FC236}">
                <a16:creationId xmlns:a16="http://schemas.microsoft.com/office/drawing/2014/main" id="{64CB3E9D-5DEF-67B5-9269-ECACE0D0AE53}"/>
              </a:ext>
            </a:extLst>
          </p:cNvPr>
          <p:cNvSpPr/>
          <p:nvPr/>
        </p:nvSpPr>
        <p:spPr>
          <a:xfrm>
            <a:off x="822960" y="1234440"/>
            <a:ext cx="2286000" cy="31750"/>
          </a:xfrm>
          <a:prstGeom prst="rect">
            <a:avLst/>
          </a:prstGeom>
          <a:solidFill>
            <a:srgbClr val="A0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Number Placeholder 3">
            <a:extLst>
              <a:ext uri="{FF2B5EF4-FFF2-40B4-BE49-F238E27FC236}">
                <a16:creationId xmlns:a16="http://schemas.microsoft.com/office/drawing/2014/main" id="{6A4CD1D3-41DD-82F3-9E39-A9B6A7C0E218}"/>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lang="en-US" sz="3200" b="1" dirty="0">
                <a:solidFill>
                  <a:srgbClr val="F0F0F5"/>
                </a:solidFill>
                <a:latin typeface="Segoe UI"/>
              </a:rPr>
              <a:t>Discharge summaries: w</a:t>
            </a:r>
            <a:r>
              <a:rPr lang="en-US" sz="3200" b="1" i="0" dirty="0">
                <a:solidFill>
                  <a:srgbClr val="F0F0F5"/>
                </a:solidFill>
                <a:latin typeface="Segoe UI"/>
              </a:rPr>
              <a:t>hat data to retain?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554480"/>
            <a:ext cx="10515600" cy="3524042"/>
          </a:xfrm>
          <a:prstGeom prst="rect">
            <a:avLst/>
          </a:prstGeom>
          <a:noFill/>
        </p:spPr>
        <p:txBody>
          <a:bodyPr wrap="square">
            <a:spAutoFit/>
          </a:bodyPr>
          <a:lstStyle/>
          <a:p>
            <a:pPr>
              <a:spcBef>
                <a:spcPts val="1000"/>
              </a:spcBef>
              <a:spcAft>
                <a:spcPts val="400"/>
              </a:spcAft>
            </a:pPr>
            <a:r>
              <a:rPr sz="2000" b="0" i="0" dirty="0">
                <a:solidFill>
                  <a:srgbClr val="4F8CFF"/>
                </a:solidFill>
                <a:latin typeface="Segoe UI"/>
              </a:rPr>
              <a:t>▸  </a:t>
            </a:r>
            <a:r>
              <a:rPr lang="en-US" sz="2000" b="1" i="0" dirty="0">
                <a:solidFill>
                  <a:srgbClr val="4F8CFF"/>
                </a:solidFill>
                <a:latin typeface="Segoe UI"/>
              </a:rPr>
              <a:t>Brief Hospital Course </a:t>
            </a:r>
            <a:r>
              <a:rPr lang="en-US" sz="2000" b="0" i="0" dirty="0">
                <a:solidFill>
                  <a:srgbClr val="F0F0F5"/>
                </a:solidFill>
                <a:latin typeface="Segoe UI"/>
              </a:rPr>
              <a:t>has h</a:t>
            </a:r>
            <a:r>
              <a:rPr sz="2000" b="0" i="0" dirty="0">
                <a:solidFill>
                  <a:srgbClr val="F0F0F5"/>
                </a:solidFill>
                <a:latin typeface="Segoe UI"/>
              </a:rPr>
              <a:t>ighest QA value</a:t>
            </a:r>
            <a:r>
              <a:rPr lang="en-US" sz="2000" dirty="0">
                <a:solidFill>
                  <a:srgbClr val="F0F0F5"/>
                </a:solidFill>
                <a:latin typeface="Segoe UI"/>
              </a:rPr>
              <a:t> </a:t>
            </a:r>
            <a:r>
              <a:rPr sz="2000" b="0" i="0" dirty="0">
                <a:solidFill>
                  <a:srgbClr val="F0F0F5"/>
                </a:solidFill>
                <a:latin typeface="Segoe UI"/>
              </a:rPr>
              <a:t>for complex medicine admissions with # </a:t>
            </a:r>
            <a:r>
              <a:rPr lang="en-US" sz="2000" b="0" i="0" dirty="0">
                <a:solidFill>
                  <a:srgbClr val="F0F0F5"/>
                </a:solidFill>
                <a:latin typeface="Segoe UI"/>
              </a:rPr>
              <a:t>sub-</a:t>
            </a:r>
            <a:r>
              <a:rPr sz="2000" b="0" i="0" dirty="0">
                <a:solidFill>
                  <a:srgbClr val="F0F0F5"/>
                </a:solidFill>
                <a:latin typeface="Segoe UI"/>
              </a:rPr>
              <a:t>problem lists</a:t>
            </a:r>
            <a:endParaRPr lang="en-US" sz="2000" b="0" i="0" dirty="0">
              <a:solidFill>
                <a:srgbClr val="F0F0F5"/>
              </a:solidFill>
              <a:latin typeface="Segoe UI"/>
            </a:endParaRPr>
          </a:p>
          <a:p>
            <a:pPr marL="742950" lvl="1" indent="-285750">
              <a:spcBef>
                <a:spcPts val="200"/>
              </a:spcBef>
              <a:spcAft>
                <a:spcPts val="200"/>
              </a:spcAft>
              <a:buFont typeface="Wingdings" panose="05000000000000000000" pitchFamily="2" charset="2"/>
              <a:buChar char="§"/>
            </a:pPr>
            <a:r>
              <a:rPr lang="en-US" sz="2000" dirty="0">
                <a:solidFill>
                  <a:srgbClr val="B4B9C8"/>
                </a:solidFill>
                <a:latin typeface="Segoe UI"/>
              </a:rPr>
              <a:t>Complex cases: management reasoning, drug choices with justifications, differentials</a:t>
            </a:r>
            <a:endParaRPr sz="2000" dirty="0">
              <a:solidFill>
                <a:srgbClr val="B4B9C8"/>
              </a:solidFill>
              <a:latin typeface="Segoe UI"/>
            </a:endParaRPr>
          </a:p>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Surgical/simple cases: formulaic procedural timelines</a:t>
            </a:r>
            <a:r>
              <a:rPr lang="en-US" sz="2000" b="0" i="0" dirty="0">
                <a:solidFill>
                  <a:srgbClr val="F0F0F5"/>
                </a:solidFill>
                <a:latin typeface="Segoe UI"/>
              </a:rPr>
              <a:t>,</a:t>
            </a:r>
            <a:r>
              <a:rPr sz="2000" b="0" i="0" dirty="0">
                <a:solidFill>
                  <a:srgbClr val="F0F0F5"/>
                </a:solidFill>
                <a:latin typeface="Segoe UI"/>
              </a:rPr>
              <a:t> nearly content-free</a:t>
            </a:r>
          </a:p>
          <a:p>
            <a:pPr marL="742950" lvl="1" indent="-285750">
              <a:spcBef>
                <a:spcPts val="200"/>
              </a:spcBef>
              <a:spcAft>
                <a:spcPts val="200"/>
              </a:spcAft>
              <a:buFont typeface="Wingdings" panose="05000000000000000000" pitchFamily="2" charset="2"/>
              <a:buChar char="§"/>
            </a:pPr>
            <a:r>
              <a:rPr sz="2000" b="0" i="0" dirty="0">
                <a:solidFill>
                  <a:srgbClr val="B4B9C8"/>
                </a:solidFill>
                <a:latin typeface="Segoe UI"/>
              </a:rPr>
              <a:t>These are noise in any candidate pool</a:t>
            </a:r>
            <a:r>
              <a:rPr lang="en-US" sz="2000" b="0" i="0" dirty="0">
                <a:solidFill>
                  <a:srgbClr val="B4B9C8"/>
                </a:solidFill>
                <a:latin typeface="Segoe UI"/>
              </a:rPr>
              <a:t>: </a:t>
            </a:r>
            <a:r>
              <a:rPr sz="2000" b="0" i="0" dirty="0">
                <a:solidFill>
                  <a:srgbClr val="B4B9C8"/>
                </a:solidFill>
                <a:latin typeface="Segoe UI"/>
              </a:rPr>
              <a:t>no clinical reasoning</a:t>
            </a:r>
            <a:endParaRPr lang="en-US" sz="2000" b="0" i="0" dirty="0">
              <a:solidFill>
                <a:srgbClr val="B4B9C8"/>
              </a:solidFill>
              <a:latin typeface="Segoe UI"/>
            </a:endParaRPr>
          </a:p>
          <a:p>
            <a:pPr>
              <a:spcBef>
                <a:spcPts val="200"/>
              </a:spcBef>
              <a:spcAft>
                <a:spcPts val="200"/>
              </a:spcAft>
            </a:pPr>
            <a:endParaRPr sz="2000" b="0" i="0" dirty="0">
              <a:solidFill>
                <a:srgbClr val="B4B9C8"/>
              </a:solidFill>
              <a:latin typeface="Segoe UI"/>
            </a:endParaRPr>
          </a:p>
          <a:p>
            <a:pPr>
              <a:spcBef>
                <a:spcPts val="1000"/>
              </a:spcBef>
              <a:spcAft>
                <a:spcPts val="400"/>
              </a:spcAft>
            </a:pPr>
            <a:r>
              <a:rPr sz="2000" b="0" i="0" dirty="0">
                <a:solidFill>
                  <a:srgbClr val="4F8CFF"/>
                </a:solidFill>
                <a:latin typeface="Segoe UI"/>
              </a:rPr>
              <a:t>▸ </a:t>
            </a:r>
            <a:r>
              <a:rPr lang="en-US" sz="2000" b="1" i="0" dirty="0">
                <a:solidFill>
                  <a:srgbClr val="4F8CFF"/>
                </a:solidFill>
                <a:latin typeface="Segoe UI"/>
              </a:rPr>
              <a:t>History of Present Illnesses </a:t>
            </a:r>
            <a:r>
              <a:rPr sz="2000" b="0" i="0" dirty="0">
                <a:solidFill>
                  <a:srgbClr val="F0F0F5"/>
                </a:solidFill>
                <a:latin typeface="Segoe UI"/>
              </a:rPr>
              <a:t>complements BHC: presentation context, symptom timeline, risk factors that BHC presupposes</a:t>
            </a:r>
          </a:p>
          <a:p>
            <a:pPr>
              <a:spcBef>
                <a:spcPts val="1000"/>
              </a:spcBef>
              <a:spcAft>
                <a:spcPts val="400"/>
              </a:spcAft>
            </a:pPr>
            <a:r>
              <a:rPr sz="2000" b="0" i="0" dirty="0">
                <a:solidFill>
                  <a:srgbClr val="4F8CFF"/>
                </a:solidFill>
                <a:latin typeface="Segoe UI"/>
              </a:rPr>
              <a:t>▸  </a:t>
            </a:r>
            <a:r>
              <a:rPr sz="2000" b="1" dirty="0">
                <a:solidFill>
                  <a:srgbClr val="4F8CFF"/>
                </a:solidFill>
                <a:latin typeface="Segoe UI"/>
              </a:rPr>
              <a:t>Pertinent Results</a:t>
            </a:r>
            <a:r>
              <a:rPr sz="2000" b="0" i="0" dirty="0">
                <a:solidFill>
                  <a:srgbClr val="F0F0F5"/>
                </a:solidFill>
                <a:latin typeface="Segoe UI"/>
              </a:rPr>
              <a:t>: mostly raw lab noise, but imaging interpretations can be high-value</a:t>
            </a:r>
          </a:p>
        </p:txBody>
      </p:sp>
      <p:sp>
        <p:nvSpPr>
          <p:cNvPr id="8" name="Slide Number Placeholder 7">
            <a:extLst>
              <a:ext uri="{FF2B5EF4-FFF2-40B4-BE49-F238E27FC236}">
                <a16:creationId xmlns:a16="http://schemas.microsoft.com/office/drawing/2014/main" id="{90E569A9-5938-8E5E-CA25-F1B86C2AD28A}"/>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1823"/>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286000"/>
            <a:ext cx="10332720" cy="707886"/>
          </a:xfrm>
          <a:prstGeom prst="rect">
            <a:avLst/>
          </a:prstGeom>
          <a:noFill/>
        </p:spPr>
        <p:txBody>
          <a:bodyPr wrap="square">
            <a:spAutoFit/>
          </a:bodyPr>
          <a:lstStyle/>
          <a:p>
            <a:pPr algn="l"/>
            <a:r>
              <a:rPr lang="en-US" sz="4000" b="1" i="0" dirty="0">
                <a:solidFill>
                  <a:srgbClr val="F0F0F5"/>
                </a:solidFill>
                <a:latin typeface="Segoe UI"/>
              </a:rPr>
              <a:t>Experimental </a:t>
            </a:r>
            <a:r>
              <a:rPr sz="4000" b="1" i="0" dirty="0">
                <a:solidFill>
                  <a:srgbClr val="F0F0F5"/>
                </a:solidFill>
                <a:latin typeface="Segoe UI"/>
              </a:rPr>
              <a:t>Pipeline</a:t>
            </a:r>
          </a:p>
        </p:txBody>
      </p:sp>
      <p:sp>
        <p:nvSpPr>
          <p:cNvPr id="4" name="Rectangle 3"/>
          <p:cNvSpPr/>
          <p:nvPr/>
        </p:nvSpPr>
        <p:spPr>
          <a:xfrm>
            <a:off x="914400" y="3474720"/>
            <a:ext cx="54288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3840480"/>
            <a:ext cx="10332720" cy="400110"/>
          </a:xfrm>
          <a:prstGeom prst="rect">
            <a:avLst/>
          </a:prstGeom>
          <a:noFill/>
        </p:spPr>
        <p:txBody>
          <a:bodyPr wrap="square">
            <a:spAutoFit/>
          </a:bodyPr>
          <a:lstStyle/>
          <a:p>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c</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orpus</a:t>
            </a:r>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construction </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embeddings → quer</a:t>
            </a:r>
            <a:r>
              <a:rPr lang="en-US"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y generation</a:t>
            </a:r>
            <a:r>
              <a:rPr sz="20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rPr>
              <a:t> → evaluation</a:t>
            </a:r>
            <a:endParaRPr sz="2400" b="0" i="0" dirty="0">
              <a:solidFill>
                <a:srgbClr val="A0A8BE"/>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7" name="Slide Number Placeholder 6">
            <a:extLst>
              <a:ext uri="{FF2B5EF4-FFF2-40B4-BE49-F238E27FC236}">
                <a16:creationId xmlns:a16="http://schemas.microsoft.com/office/drawing/2014/main" id="{A81CF65C-F89C-AE30-F8B5-5DD0664B93A5}"/>
              </a:ext>
            </a:extLst>
          </p:cNvPr>
          <p:cNvSpPr>
            <a:spLocks noGrp="1"/>
          </p:cNvSpPr>
          <p:nvPr>
            <p:ph type="sldNum" sz="quarter" idx="12"/>
          </p:nvPr>
        </p:nvSpPr>
        <p:spPr/>
        <p:txBody>
          <a:bodyPr/>
          <a:lstStyle/>
          <a:p>
            <a:fld id="{C1FF6DA9-008F-8B48-92A6-B652298478BF}"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117"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dirty="0">
                <a:solidFill>
                  <a:srgbClr val="F0F0F5"/>
                </a:solidFill>
                <a:latin typeface="Segoe UI"/>
              </a:rPr>
              <a:t>Phase 1: Corpus </a:t>
            </a:r>
            <a:r>
              <a:rPr lang="it-IT" sz="3200" b="1" i="0" dirty="0">
                <a:solidFill>
                  <a:srgbClr val="F0F0F5"/>
                </a:solidFill>
                <a:latin typeface="Segoe UI"/>
              </a:rPr>
              <a:t>Construction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8821062" y="2477096"/>
            <a:ext cx="2517498" cy="2044551"/>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800" b="1" i="0" dirty="0">
                <a:solidFill>
                  <a:srgbClr val="48C78E"/>
                </a:solidFill>
                <a:latin typeface="Segoe UI"/>
              </a:rPr>
              <a:t>Output</a:t>
            </a:r>
          </a:p>
          <a:p>
            <a:pPr algn="ctr">
              <a:spcBef>
                <a:spcPts val="500"/>
              </a:spcBef>
              <a:spcAft>
                <a:spcPts val="300"/>
              </a:spcAft>
            </a:pPr>
            <a:r>
              <a:rPr b="1" i="0" dirty="0">
                <a:solidFill>
                  <a:srgbClr val="B4B9C8"/>
                </a:solidFill>
                <a:latin typeface="Segoe UI"/>
              </a:rPr>
              <a:t>Per-condition candidate pool D</a:t>
            </a:r>
          </a:p>
        </p:txBody>
      </p:sp>
      <p:sp>
        <p:nvSpPr>
          <p:cNvPr id="13" name="Arrow: Right 12">
            <a:extLst>
              <a:ext uri="{FF2B5EF4-FFF2-40B4-BE49-F238E27FC236}">
                <a16:creationId xmlns:a16="http://schemas.microsoft.com/office/drawing/2014/main" id="{78B7D3E5-095F-FFB6-C0DA-D67BDAB4BE2D}"/>
              </a:ext>
            </a:extLst>
          </p:cNvPr>
          <p:cNvSpPr/>
          <p:nvPr/>
        </p:nvSpPr>
        <p:spPr>
          <a:xfrm>
            <a:off x="7172094" y="3225949"/>
            <a:ext cx="1178410" cy="546847"/>
          </a:xfrm>
          <a:prstGeom prst="rightArrow">
            <a:avLst/>
          </a:prstGeom>
          <a:solidFill>
            <a:schemeClr val="tx2"/>
          </a:solidFill>
          <a:ln>
            <a:solidFill>
              <a:schemeClr val="tx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LID4096"/>
          </a:p>
        </p:txBody>
      </p:sp>
      <p:sp>
        <p:nvSpPr>
          <p:cNvPr id="15" name="TextBox 14">
            <a:extLst>
              <a:ext uri="{FF2B5EF4-FFF2-40B4-BE49-F238E27FC236}">
                <a16:creationId xmlns:a16="http://schemas.microsoft.com/office/drawing/2014/main" id="{52312BE4-05A6-DA09-C57D-031A3171CF7F}"/>
              </a:ext>
            </a:extLst>
          </p:cNvPr>
          <p:cNvSpPr txBox="1"/>
          <p:nvPr/>
        </p:nvSpPr>
        <p:spPr>
          <a:xfrm>
            <a:off x="822960" y="1797049"/>
            <a:ext cx="6012688" cy="5132174"/>
          </a:xfrm>
          <a:prstGeom prst="rect">
            <a:avLst/>
          </a:prstGeom>
          <a:noFill/>
        </p:spPr>
        <p:txBody>
          <a:bodyPr wrap="square" rtlCol="0">
            <a:spAutoFit/>
          </a:bodyPr>
          <a:lstStyle/>
          <a:p>
            <a:pPr marL="457200" indent="-457200">
              <a:buFont typeface="+mj-lt"/>
              <a:buAutoNum type="arabicPeriod"/>
            </a:pPr>
            <a:r>
              <a:rPr lang="en-US" sz="2000" b="1" dirty="0">
                <a:solidFill>
                  <a:srgbClr val="FFAB40"/>
                </a:solidFill>
                <a:latin typeface="Segoe UI"/>
              </a:rPr>
              <a:t>Select conditions</a:t>
            </a:r>
            <a:br>
              <a:rPr lang="en-US" sz="2000" b="1" dirty="0">
                <a:solidFill>
                  <a:srgbClr val="FFAB40"/>
                </a:solidFill>
                <a:latin typeface="Segoe UI"/>
              </a:rPr>
            </a:br>
            <a:r>
              <a:rPr lang="en-US" sz="2000" dirty="0">
                <a:solidFill>
                  <a:srgbClr val="B4B9C8"/>
                </a:solidFill>
                <a:latin typeface="Segoe UI"/>
              </a:rPr>
              <a:t>Query </a:t>
            </a:r>
            <a:r>
              <a:rPr lang="en-US"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diagnoses_icd</a:t>
            </a:r>
            <a:r>
              <a:rPr lang="en-US" sz="200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lang="en-US" sz="2000" dirty="0">
                <a:solidFill>
                  <a:srgbClr val="B4B9C8"/>
                </a:solidFill>
                <a:latin typeface="Segoe UI"/>
              </a:rPr>
              <a:t>for ICD groups with ≥ N admissions</a:t>
            </a:r>
          </a:p>
          <a:p>
            <a:pPr marL="342900" indent="-342900">
              <a:buFont typeface="+mj-lt"/>
              <a:buAutoNum type="arabicPeriod"/>
            </a:pPr>
            <a:endParaRPr lang="en-US" sz="2000" dirty="0"/>
          </a:p>
          <a:p>
            <a:pPr marL="457200" indent="-457200">
              <a:buFont typeface="+mj-lt"/>
              <a:buAutoNum type="arabicPeriod"/>
            </a:pPr>
            <a:r>
              <a:rPr lang="en-US" sz="2000" b="1" dirty="0">
                <a:solidFill>
                  <a:srgbClr val="FFAB40"/>
                </a:solidFill>
                <a:latin typeface="Segoe UI"/>
              </a:rPr>
              <a:t>Parse and chunk documents</a:t>
            </a:r>
            <a:br>
              <a:rPr lang="en-US" sz="2000" b="1" dirty="0">
                <a:solidFill>
                  <a:srgbClr val="FFAB40"/>
                </a:solidFill>
                <a:latin typeface="Segoe UI"/>
              </a:rPr>
            </a:br>
            <a:r>
              <a:rPr lang="en-US" sz="2000" dirty="0">
                <a:solidFill>
                  <a:srgbClr val="B4B9C8"/>
                </a:solidFill>
                <a:latin typeface="Segoe UI"/>
              </a:rPr>
              <a:t>Split Discharge Summaries by section header</a:t>
            </a:r>
          </a:p>
          <a:p>
            <a:pPr marL="342900" indent="-342900">
              <a:spcBef>
                <a:spcPts val="300"/>
              </a:spcBef>
              <a:buFont typeface="+mj-lt"/>
              <a:buAutoNum type="arabicPeriod"/>
            </a:pPr>
            <a:endParaRPr lang="en-US" sz="2000" dirty="0">
              <a:solidFill>
                <a:srgbClr val="B4B9C8"/>
              </a:solidFill>
              <a:latin typeface="Segoe UI"/>
            </a:endParaRPr>
          </a:p>
          <a:p>
            <a:pPr marL="457200" indent="-457200">
              <a:buFont typeface="+mj-lt"/>
              <a:buAutoNum type="arabicPeriod"/>
            </a:pPr>
            <a:r>
              <a:rPr lang="en-US" sz="2000" b="1" dirty="0">
                <a:solidFill>
                  <a:srgbClr val="FFAB40"/>
                </a:solidFill>
                <a:latin typeface="Segoe UI"/>
              </a:rPr>
              <a:t>Attach metadata</a:t>
            </a:r>
            <a:br>
              <a:rPr lang="en-US" sz="2000" b="1" dirty="0">
                <a:solidFill>
                  <a:srgbClr val="FFAB40"/>
                </a:solidFill>
                <a:latin typeface="Segoe UI"/>
              </a:rPr>
            </a:br>
            <a:r>
              <a:rPr lang="en-US" sz="2000" dirty="0">
                <a:solidFill>
                  <a:srgbClr val="B4B9C8"/>
                </a:solidFill>
                <a:latin typeface="Segoe UI"/>
              </a:rPr>
              <a:t>Per chunk: section name, all ICD codes, demographics, admission type and details</a:t>
            </a:r>
          </a:p>
          <a:p>
            <a:pPr marL="457200" indent="-457200">
              <a:buFont typeface="+mj-lt"/>
              <a:buAutoNum type="arabicPeriod"/>
            </a:pPr>
            <a:endParaRPr lang="en-US" sz="2000" b="1" dirty="0">
              <a:solidFill>
                <a:srgbClr val="B4B9C8"/>
              </a:solidFill>
              <a:latin typeface="Segoe UI"/>
            </a:endParaRPr>
          </a:p>
          <a:p>
            <a:pPr marL="457200" indent="-457200">
              <a:buFont typeface="+mj-lt"/>
              <a:buAutoNum type="arabicPeriod"/>
            </a:pPr>
            <a:r>
              <a:rPr lang="it-IT" sz="2000" b="1" dirty="0">
                <a:solidFill>
                  <a:srgbClr val="FFAB40"/>
                </a:solidFill>
                <a:latin typeface="Segoe UI"/>
              </a:rPr>
              <a:t>Deduplicate</a:t>
            </a:r>
          </a:p>
          <a:p>
            <a:pPr>
              <a:spcBef>
                <a:spcPts val="300"/>
              </a:spcBef>
            </a:pPr>
            <a:endParaRPr lang="en-US" sz="2000" dirty="0">
              <a:solidFill>
                <a:srgbClr val="B4B9C8"/>
              </a:solidFill>
              <a:latin typeface="Segoe UI"/>
            </a:endParaRPr>
          </a:p>
          <a:p>
            <a:pPr>
              <a:spcBef>
                <a:spcPts val="300"/>
              </a:spcBef>
            </a:pPr>
            <a:endParaRPr lang="en-US" sz="2000" dirty="0">
              <a:solidFill>
                <a:srgbClr val="B4B9C8"/>
              </a:solidFill>
              <a:latin typeface="Segoe UI"/>
            </a:endParaRPr>
          </a:p>
          <a:p>
            <a:endParaRPr lang="en-US" sz="2000" dirty="0"/>
          </a:p>
          <a:p>
            <a:endParaRPr lang="LID4096" sz="2000" dirty="0"/>
          </a:p>
        </p:txBody>
      </p:sp>
      <p:sp>
        <p:nvSpPr>
          <p:cNvPr id="7" name="Slide Number Placeholder 6">
            <a:extLst>
              <a:ext uri="{FF2B5EF4-FFF2-40B4-BE49-F238E27FC236}">
                <a16:creationId xmlns:a16="http://schemas.microsoft.com/office/drawing/2014/main" id="{31D18B32-49A2-BAB5-B570-78E1E725A856}"/>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2: Embeddings</a:t>
            </a:r>
            <a:r>
              <a:rPr lang="en-US" sz="3200" b="1" i="0" dirty="0">
                <a:solidFill>
                  <a:srgbClr val="F0F0F5"/>
                </a:solidFill>
                <a:latin typeface="Segoe UI"/>
              </a:rPr>
              <a:t> Generation</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1645920"/>
            <a:ext cx="10657840" cy="1374735"/>
          </a:xfrm>
          <a:prstGeom prst="rect">
            <a:avLst/>
          </a:prstGeom>
          <a:noFill/>
        </p:spPr>
        <p:txBody>
          <a:bodyPr wrap="square">
            <a:spAutoFit/>
          </a:bodyPr>
          <a:lstStyle/>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Raw chunks</a:t>
            </a:r>
            <a:r>
              <a:rPr lang="en-US" sz="2000" b="0" i="0" dirty="0">
                <a:solidFill>
                  <a:srgbClr val="F0F0F5"/>
                </a:solidFill>
                <a:latin typeface="Segoe UI"/>
              </a:rPr>
              <a:t> are</a:t>
            </a:r>
            <a:r>
              <a:rPr sz="2000" b="0" i="0" dirty="0">
                <a:solidFill>
                  <a:srgbClr val="F0F0F5"/>
                </a:solidFill>
                <a:latin typeface="Segoe UI"/>
              </a:rPr>
              <a:t> too patient-specific for condition-level queries</a:t>
            </a:r>
            <a:endParaRPr lang="en-US" sz="2000" b="0" i="0" dirty="0">
              <a:solidFill>
                <a:srgbClr val="F0F0F5"/>
              </a:solidFill>
              <a:latin typeface="Segoe UI"/>
            </a:endParaRPr>
          </a:p>
          <a:p>
            <a:pPr>
              <a:spcBef>
                <a:spcPts val="1000"/>
              </a:spcBef>
              <a:spcAft>
                <a:spcPts val="400"/>
              </a:spcAft>
            </a:pPr>
            <a:r>
              <a:rPr lang="en-US" sz="2000" dirty="0">
                <a:solidFill>
                  <a:srgbClr val="4F8CFF"/>
                </a:solidFill>
                <a:latin typeface="Segoe UI"/>
              </a:rPr>
              <a:t>▸ </a:t>
            </a:r>
            <a:r>
              <a:rPr lang="en-US" sz="2000" b="1" dirty="0">
                <a:solidFill>
                  <a:schemeClr val="bg1"/>
                </a:solidFill>
                <a:latin typeface="Segoe UI"/>
              </a:rPr>
              <a:t>Add context before chunks to capture full semantics</a:t>
            </a:r>
          </a:p>
          <a:p>
            <a:pPr>
              <a:spcBef>
                <a:spcPts val="1000"/>
              </a:spcBef>
              <a:spcAft>
                <a:spcPts val="400"/>
              </a:spcAft>
            </a:pPr>
            <a:r>
              <a:rPr sz="2000" b="0" i="0" dirty="0">
                <a:solidFill>
                  <a:srgbClr val="4F8CFF"/>
                </a:solidFill>
                <a:latin typeface="Segoe UI"/>
              </a:rPr>
              <a:t>▸  </a:t>
            </a:r>
            <a:r>
              <a:rPr sz="2000" b="0" i="0" dirty="0">
                <a:solidFill>
                  <a:srgbClr val="F0F0F5"/>
                </a:solidFill>
                <a:latin typeface="Segoe UI"/>
              </a:rPr>
              <a:t>MIMIC metadata is structured → deterministic template</a:t>
            </a:r>
            <a:r>
              <a:rPr lang="en-US" sz="2000" dirty="0">
                <a:solidFill>
                  <a:srgbClr val="F0F0F5"/>
                </a:solidFill>
                <a:latin typeface="Segoe UI"/>
              </a:rPr>
              <a:t> to build context</a:t>
            </a:r>
            <a:endParaRPr sz="2000" b="0" i="0" dirty="0">
              <a:solidFill>
                <a:srgbClr val="F0F0F5"/>
              </a:solidFill>
              <a:latin typeface="Segoe UI"/>
            </a:endParaRPr>
          </a:p>
        </p:txBody>
      </p:sp>
      <p:sp>
        <p:nvSpPr>
          <p:cNvPr id="7" name="Rectangle 6"/>
          <p:cNvSpPr/>
          <p:nvPr/>
        </p:nvSpPr>
        <p:spPr>
          <a:xfrm>
            <a:off x="838199" y="3493836"/>
            <a:ext cx="6265333" cy="2389331"/>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spcAft>
                <a:spcPts val="1000"/>
              </a:spcAft>
              <a:defRPr sz="1600" b="1">
                <a:solidFill>
                  <a:srgbClr val="FFAB40"/>
                </a:solidFill>
                <a:latin typeface="Segoe UI"/>
              </a:defRPr>
            </a:pPr>
            <a:r>
              <a:rPr lang="en-US" dirty="0">
                <a:solidFill>
                  <a:srgbClr val="FFAB40"/>
                </a:solidFill>
                <a:latin typeface="Segoe UI"/>
              </a:rPr>
              <a:t>Chunk example</a:t>
            </a:r>
          </a:p>
          <a:p>
            <a:pPr>
              <a:spcBef>
                <a:spcPts val="500"/>
              </a:spcBef>
              <a:spcAft>
                <a:spcPts val="300"/>
              </a:spcAft>
            </a:pPr>
            <a:r>
              <a:rPr lang="en-US" sz="140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Elderly male, White, admitted for Sepsis (SOFA 14).</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Chief complaint: fever, hypotension.</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Comorbidities: CHF, CKD, COPD.</a:t>
            </a:r>
          </a:p>
          <a:p>
            <a:pPr>
              <a:spcBef>
                <a:spcPts val="500"/>
              </a:spcBef>
              <a:spcAft>
                <a:spcPts val="300"/>
              </a:spcAft>
            </a:pPr>
            <a:r>
              <a:rPr sz="1400"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Section: Brief Hospital Course</a:t>
            </a:r>
            <a:endParaRPr lang="en-US" sz="1600" b="0" i="0" dirty="0">
              <a:solidFill>
                <a:srgbClr val="B4B9C8"/>
              </a:solidFill>
              <a:latin typeface="Segoe UI"/>
            </a:endParaRPr>
          </a:p>
          <a:p>
            <a:pPr>
              <a:spcBef>
                <a:spcPts val="500"/>
              </a:spcBef>
              <a:spcAft>
                <a:spcPts val="300"/>
              </a:spcAft>
            </a:pPr>
            <a:r>
              <a:rPr lang="it-IT" sz="1400" dirty="0">
                <a:solidFill>
                  <a:srgbClr val="48C78E"/>
                </a:solidFill>
                <a:latin typeface="JetBrains Mono" panose="02000009000000000000" pitchFamily="49" charset="0"/>
                <a:ea typeface="JetBrains Mono" panose="02000009000000000000" pitchFamily="49" charset="0"/>
                <a:cs typeface="JetBrains Mono" panose="02000009000000000000" pitchFamily="49" charset="0"/>
              </a:rPr>
              <a:t>&lt;section_content&gt;</a:t>
            </a:r>
            <a:endParaRPr sz="1400" dirty="0">
              <a:solidFill>
                <a:srgbClr val="48C78E"/>
              </a:solidFill>
              <a:latin typeface="JetBrains Mono" panose="02000009000000000000" pitchFamily="49" charset="0"/>
              <a:ea typeface="JetBrains Mono" panose="02000009000000000000" pitchFamily="49" charset="0"/>
              <a:cs typeface="JetBrains Mono" panose="02000009000000000000" pitchFamily="49" charset="0"/>
            </a:endParaRPr>
          </a:p>
        </p:txBody>
      </p:sp>
      <p:sp>
        <p:nvSpPr>
          <p:cNvPr id="9" name="Slide Number Placeholder 8">
            <a:extLst>
              <a:ext uri="{FF2B5EF4-FFF2-40B4-BE49-F238E27FC236}">
                <a16:creationId xmlns:a16="http://schemas.microsoft.com/office/drawing/2014/main" id="{51808166-BDB1-C16C-86A1-44DEBA1367B9}"/>
              </a:ext>
            </a:extLst>
          </p:cNvPr>
          <p:cNvSpPr>
            <a:spLocks noGrp="1"/>
          </p:cNvSpPr>
          <p:nvPr>
            <p:ph type="sldNum" sz="quarter" idx="12"/>
          </p:nvPr>
        </p:nvSpPr>
        <p:spPr/>
        <p:txBody>
          <a:bodyPr/>
          <a:lstStyle/>
          <a:p>
            <a:fld id="{C1FF6DA9-008F-8B48-92A6-B652298478BF}"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3: Query Generation</a:t>
            </a:r>
            <a:r>
              <a:rPr lang="en-US" sz="3200" b="1" i="0" dirty="0">
                <a:solidFill>
                  <a:srgbClr val="F0F0F5"/>
                </a:solidFill>
                <a:latin typeface="Segoe UI"/>
              </a:rPr>
              <a:t> via LLM</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7" name="TextBox 6"/>
              <p:cNvSpPr txBox="1"/>
              <p:nvPr/>
            </p:nvSpPr>
            <p:spPr>
              <a:xfrm>
                <a:off x="822960" y="1504249"/>
                <a:ext cx="10515600" cy="5199565"/>
              </a:xfrm>
              <a:prstGeom prst="rect">
                <a:avLst/>
              </a:prstGeom>
              <a:noFill/>
            </p:spPr>
            <p:txBody>
              <a:bodyPr wrap="square">
                <a:spAutoFit/>
              </a:bodyPr>
              <a:lstStyle/>
              <a:p>
                <a:pPr>
                  <a:spcBef>
                    <a:spcPts val="1000"/>
                  </a:spcBef>
                  <a:spcAft>
                    <a:spcPts val="400"/>
                  </a:spcAft>
                </a:pPr>
                <a:r>
                  <a:rPr lang="it-IT" b="0" i="0" dirty="0">
                    <a:solidFill>
                      <a:srgbClr val="4F8CFF"/>
                    </a:solidFill>
                    <a:latin typeface="Segoe UI"/>
                  </a:rPr>
                  <a:t>▸  </a:t>
                </a:r>
                <a:r>
                  <a:rPr lang="it-IT" sz="2000" b="0" i="0" dirty="0">
                    <a:solidFill>
                      <a:srgbClr val="F0F0F5"/>
                    </a:solidFill>
                    <a:latin typeface="Segoe UI"/>
                  </a:rPr>
                  <a:t>Pick primary condition + 1–2 </a:t>
                </a:r>
                <a:r>
                  <a:rPr lang="it-IT" sz="2000" b="1" i="0" dirty="0">
                    <a:solidFill>
                      <a:srgbClr val="F0F0F5"/>
                    </a:solidFill>
                    <a:latin typeface="Segoe UI"/>
                  </a:rPr>
                  <a:t>modifier axes </a:t>
                </a:r>
                <a:r>
                  <a:rPr lang="it-IT" sz="2000" i="0" dirty="0">
                    <a:solidFill>
                      <a:srgbClr val="F0F0F5"/>
                    </a:solidFill>
                    <a:latin typeface="Segoe UI"/>
                  </a:rPr>
                  <a:t>to ensure multi-aspect</a:t>
                </a:r>
                <a:endParaRPr lang="it-IT" sz="2000" b="1" i="0" dirty="0">
                  <a:solidFill>
                    <a:srgbClr val="F0F0F5"/>
                  </a:solidFill>
                  <a:latin typeface="Segoe UI"/>
                </a:endParaRP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Comorbidity</a:t>
                </a:r>
                <a:r>
                  <a:rPr lang="it-IT" b="0" i="0" dirty="0">
                    <a:solidFill>
                      <a:srgbClr val="B4B9C8"/>
                    </a:solidFill>
                    <a:latin typeface="Segoe UI"/>
                  </a:rPr>
                  <a:t>: co-occurring ICD codes (e.g. stroke + diabetes)</a:t>
                </a: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Demographic</a:t>
                </a:r>
                <a:r>
                  <a:rPr lang="it-IT" b="0" i="0" dirty="0">
                    <a:solidFill>
                      <a:srgbClr val="B4B9C8"/>
                    </a:solidFill>
                    <a:latin typeface="Segoe UI"/>
                  </a:rPr>
                  <a:t>: age group, gender, race, etc.</a:t>
                </a:r>
              </a:p>
              <a:p>
                <a:pPr marL="742950" lvl="1" indent="-285750">
                  <a:spcBef>
                    <a:spcPts val="200"/>
                  </a:spcBef>
                  <a:spcAft>
                    <a:spcPts val="200"/>
                  </a:spcAft>
                  <a:buFont typeface="Wingdings" panose="05000000000000000000" pitchFamily="2" charset="2"/>
                  <a:buChar char="§"/>
                </a:pPr>
                <a:r>
                  <a:rPr lang="it-IT" i="0" dirty="0">
                    <a:solidFill>
                      <a:srgbClr val="B4B9C8"/>
                    </a:solidFill>
                    <a:latin typeface="Segoe UI"/>
                  </a:rPr>
                  <a:t>Complication</a:t>
                </a:r>
                <a:r>
                  <a:rPr lang="it-IT" b="0" i="0" dirty="0">
                    <a:solidFill>
                      <a:srgbClr val="B4B9C8"/>
                    </a:solidFill>
                    <a:latin typeface="Segoe UI"/>
                  </a:rPr>
                  <a:t>: post-surgical, recurrent, or secondary diagnoses</a:t>
                </a:r>
              </a:p>
              <a:p>
                <a:pPr>
                  <a:spcBef>
                    <a:spcPts val="1000"/>
                  </a:spcBef>
                  <a:spcAft>
                    <a:spcPts val="400"/>
                  </a:spcAft>
                </a:pPr>
                <a:r>
                  <a:rPr lang="it-IT" b="0" i="0" dirty="0">
                    <a:solidFill>
                      <a:srgbClr val="4F8CFF"/>
                    </a:solidFill>
                    <a:latin typeface="Segoe UI"/>
                  </a:rPr>
                  <a:t>▸ </a:t>
                </a:r>
                <a:r>
                  <a:rPr lang="it-IT" i="0" dirty="0">
                    <a:solidFill>
                      <a:srgbClr val="4F8CFF"/>
                    </a:solidFill>
                    <a:latin typeface="Segoe UI"/>
                  </a:rPr>
                  <a:t> </a:t>
                </a:r>
                <a:r>
                  <a:rPr lang="it-IT" sz="2000" i="0" dirty="0">
                    <a:solidFill>
                      <a:srgbClr val="F0F0F5"/>
                    </a:solidFill>
                    <a:latin typeface="Segoe UI"/>
                  </a:rPr>
                  <a:t>LLM prompt</a:t>
                </a:r>
                <a:r>
                  <a:rPr lang="it-IT" sz="2000" b="0" i="0" dirty="0">
                    <a:solidFill>
                      <a:srgbClr val="F0F0F5"/>
                    </a:solidFill>
                    <a:latin typeface="Segoe UI"/>
                  </a:rPr>
                  <a:t>: generate clinical management question requiring modifier knowledge</a:t>
                </a:r>
              </a:p>
              <a:p>
                <a:pPr>
                  <a:spcBef>
                    <a:spcPts val="1000"/>
                  </a:spcBef>
                  <a:spcAft>
                    <a:spcPts val="400"/>
                  </a:spcAft>
                </a:pPr>
                <a:endParaRPr lang="it-IT" sz="2000" b="0" i="0" dirty="0">
                  <a:solidFill>
                    <a:srgbClr val="F0F0F5"/>
                  </a:solidFill>
                  <a:latin typeface="Segoe UI"/>
                </a:endParaRPr>
              </a:p>
              <a:p>
                <a:pPr>
                  <a:spcBef>
                    <a:spcPts val="1000"/>
                  </a:spcBef>
                  <a:spcAft>
                    <a:spcPts val="400"/>
                  </a:spcAft>
                </a:pPr>
                <a:r>
                  <a:rPr lang="it-IT" b="0" i="0" dirty="0">
                    <a:solidFill>
                      <a:srgbClr val="4F8CFF"/>
                    </a:solidFill>
                    <a:latin typeface="Segoe UI"/>
                  </a:rPr>
                  <a:t>▸  </a:t>
                </a:r>
                <a:r>
                  <a:rPr lang="it-IT" sz="2000" b="1" i="0" dirty="0">
                    <a:solidFill>
                      <a:srgbClr val="F0F0F5"/>
                    </a:solidFill>
                    <a:latin typeface="Segoe UI"/>
                  </a:rPr>
                  <a:t>Pre-filter</a:t>
                </a:r>
                <a:r>
                  <a:rPr lang="it-IT" sz="2000" b="0" i="0" dirty="0">
                    <a:solidFill>
                      <a:srgbClr val="F0F0F5"/>
                    </a:solidFill>
                    <a:latin typeface="Segoe UI"/>
                  </a:rPr>
                  <a:t>: only keep queries where </a:t>
                </a:r>
                <a:r>
                  <a:rPr lang="it-IT" sz="2000" b="0" i="1" dirty="0">
                    <a:solidFill>
                      <a:srgbClr val="F0F0F5"/>
                    </a:solidFill>
                    <a:latin typeface="Segoe UI"/>
                  </a:rPr>
                  <a:t>coverage ≠ top-k</a:t>
                </a:r>
              </a:p>
              <a:p>
                <a:pPr marL="742950" lvl="1" indent="-285750">
                  <a:spcBef>
                    <a:spcPts val="200"/>
                  </a:spcBef>
                  <a:spcAft>
                    <a:spcPts val="200"/>
                  </a:spcAft>
                  <a:buFont typeface="Wingdings" panose="05000000000000000000" pitchFamily="2" charset="2"/>
                  <a:buChar char="§"/>
                </a:pPr>
                <a:r>
                  <a:rPr lang="it-IT" dirty="0">
                    <a:solidFill>
                      <a:srgbClr val="B4B9C8"/>
                    </a:solidFill>
                    <a:latin typeface="Segoe UI"/>
                  </a:rPr>
                  <a:t>assess overall suitability of coverage approaches for this dataset with this embedding strategy</a:t>
                </a:r>
                <a:endParaRPr lang="it-IT" dirty="0">
                  <a:solidFill>
                    <a:schemeClr val="bg1">
                      <a:lumMod val="75000"/>
                    </a:schemeClr>
                  </a:solidFill>
                  <a:latin typeface="Cambria Math" panose="02040503050406030204" pitchFamily="18" charset="0"/>
                </a:endParaRPr>
              </a:p>
              <a:p>
                <a:pPr marL="742950" lvl="1" indent="-285750">
                  <a:spcBef>
                    <a:spcPts val="200"/>
                  </a:spcBef>
                  <a:spcAft>
                    <a:spcPts val="200"/>
                  </a:spcAft>
                  <a:buFont typeface="Wingdings" panose="05000000000000000000" pitchFamily="2" charset="2"/>
                  <a:buChar char="§"/>
                </a:pPr>
                <a14:m>
                  <m:oMath xmlns:m="http://schemas.openxmlformats.org/officeDocument/2006/math">
                    <m:r>
                      <a:rPr lang="it-IT" sz="2000" dirty="0">
                        <a:solidFill>
                          <a:schemeClr val="bg1">
                            <a:lumMod val="75000"/>
                          </a:schemeClr>
                        </a:solidFill>
                        <a:latin typeface="Cambria Math" panose="02040503050406030204" pitchFamily="18" charset="0"/>
                      </a:rPr>
                      <m:t>𝐽𝑎𝑐𝑐𝑎𝑟𝑑</m:t>
                    </m:r>
                    <m:r>
                      <a:rPr lang="it-IT" sz="2000" dirty="0">
                        <a:solidFill>
                          <a:schemeClr val="bg1">
                            <a:lumMod val="75000"/>
                          </a:schemeClr>
                        </a:solidFill>
                        <a:latin typeface="Cambria Math" panose="02040503050406030204" pitchFamily="18" charset="0"/>
                      </a:rPr>
                      <m:t>(</m:t>
                    </m:r>
                    <m:sSub>
                      <m:sSubPr>
                        <m:ctrlPr>
                          <a:rPr lang="ar-AE" sz="2000" i="1" dirty="0">
                            <a:solidFill>
                              <a:schemeClr val="bg1">
                                <a:lumMod val="75000"/>
                              </a:schemeClr>
                            </a:solidFill>
                            <a:latin typeface="Cambria Math" panose="02040503050406030204" pitchFamily="18" charset="0"/>
                          </a:rPr>
                        </m:ctrlPr>
                      </m:sSubPr>
                      <m:e>
                        <m:r>
                          <a:rPr lang="ar-AE" sz="2000" dirty="0">
                            <a:solidFill>
                              <a:schemeClr val="bg1">
                                <a:lumMod val="75000"/>
                              </a:schemeClr>
                            </a:solidFill>
                            <a:latin typeface="Cambria Math" panose="02040503050406030204" pitchFamily="18" charset="0"/>
                          </a:rPr>
                          <m:t>𝑆</m:t>
                        </m:r>
                      </m:e>
                      <m:sub>
                        <m:r>
                          <a:rPr lang="ar-AE" sz="2000" dirty="0">
                            <a:solidFill>
                              <a:schemeClr val="bg1">
                                <a:lumMod val="75000"/>
                              </a:schemeClr>
                            </a:solidFill>
                            <a:latin typeface="Cambria Math" panose="02040503050406030204" pitchFamily="18" charset="0"/>
                          </a:rPr>
                          <m:t>𝑐𝑜𝑣</m:t>
                        </m:r>
                      </m:sub>
                    </m:sSub>
                    <m:r>
                      <a:rPr lang="ar-AE" sz="2000" dirty="0">
                        <a:solidFill>
                          <a:schemeClr val="bg1">
                            <a:lumMod val="75000"/>
                          </a:schemeClr>
                        </a:solidFill>
                        <a:latin typeface="Cambria Math" panose="02040503050406030204" pitchFamily="18" charset="0"/>
                      </a:rPr>
                      <m:t> ,</m:t>
                    </m:r>
                    <m:sSub>
                      <m:sSubPr>
                        <m:ctrlPr>
                          <a:rPr lang="ar-AE" sz="2000" i="1" dirty="0">
                            <a:solidFill>
                              <a:schemeClr val="bg1">
                                <a:lumMod val="75000"/>
                              </a:schemeClr>
                            </a:solidFill>
                            <a:latin typeface="Cambria Math" panose="02040503050406030204" pitchFamily="18" charset="0"/>
                          </a:rPr>
                        </m:ctrlPr>
                      </m:sSubPr>
                      <m:e>
                        <m:r>
                          <a:rPr lang="ar-AE" sz="2000" dirty="0">
                            <a:solidFill>
                              <a:schemeClr val="bg1">
                                <a:lumMod val="75000"/>
                              </a:schemeClr>
                            </a:solidFill>
                            <a:latin typeface="Cambria Math" panose="02040503050406030204" pitchFamily="18" charset="0"/>
                          </a:rPr>
                          <m:t> </m:t>
                        </m:r>
                        <m:r>
                          <a:rPr lang="ar-AE" sz="2000" dirty="0">
                            <a:solidFill>
                              <a:schemeClr val="bg1">
                                <a:lumMod val="75000"/>
                              </a:schemeClr>
                            </a:solidFill>
                            <a:latin typeface="Cambria Math" panose="02040503050406030204" pitchFamily="18" charset="0"/>
                          </a:rPr>
                          <m:t>𝑆</m:t>
                        </m:r>
                      </m:e>
                      <m:sub>
                        <m:r>
                          <a:rPr lang="ar-AE" sz="2000" dirty="0">
                            <a:solidFill>
                              <a:schemeClr val="bg1">
                                <a:lumMod val="75000"/>
                              </a:schemeClr>
                            </a:solidFill>
                            <a:latin typeface="Cambria Math" panose="02040503050406030204" pitchFamily="18" charset="0"/>
                          </a:rPr>
                          <m:t>𝑡𝑜𝑝</m:t>
                        </m:r>
                        <m:r>
                          <a:rPr lang="ar-AE" sz="2000" dirty="0">
                            <a:solidFill>
                              <a:schemeClr val="bg1">
                                <a:lumMod val="75000"/>
                              </a:schemeClr>
                            </a:solidFill>
                            <a:latin typeface="Cambria Math" panose="02040503050406030204" pitchFamily="18" charset="0"/>
                          </a:rPr>
                          <m:t>−</m:t>
                        </m:r>
                        <m:r>
                          <a:rPr lang="ar-AE" sz="2000" dirty="0">
                            <a:solidFill>
                              <a:schemeClr val="bg1">
                                <a:lumMod val="75000"/>
                              </a:schemeClr>
                            </a:solidFill>
                            <a:latin typeface="Cambria Math" panose="02040503050406030204" pitchFamily="18" charset="0"/>
                          </a:rPr>
                          <m:t>𝑘</m:t>
                        </m:r>
                      </m:sub>
                    </m:sSub>
                    <m:r>
                      <a:rPr lang="ar-AE" sz="2000" dirty="0">
                        <a:solidFill>
                          <a:schemeClr val="bg1">
                            <a:lumMod val="75000"/>
                          </a:schemeClr>
                        </a:solidFill>
                        <a:latin typeface="Cambria Math" panose="02040503050406030204" pitchFamily="18" charset="0"/>
                      </a:rPr>
                      <m:t>) ≈ </m:t>
                    </m:r>
                    <m:r>
                      <a:rPr lang="ar-AE" sz="2000" dirty="0">
                        <a:solidFill>
                          <a:schemeClr val="bg1">
                            <a:lumMod val="75000"/>
                          </a:schemeClr>
                        </a:solidFill>
                        <a:latin typeface="Cambria Math" panose="02040503050406030204" pitchFamily="18" charset="0"/>
                      </a:rPr>
                      <m:t>1</m:t>
                    </m:r>
                  </m:oMath>
                </a14:m>
                <a:r>
                  <a:rPr lang="ar-AE" sz="2000" dirty="0">
                    <a:solidFill>
                      <a:schemeClr val="bg1">
                        <a:lumMod val="75000"/>
                      </a:schemeClr>
                    </a:solidFill>
                    <a:latin typeface="Segoe UI"/>
                  </a:rPr>
                  <a:t> </a:t>
                </a:r>
                <a:r>
                  <a:rPr lang="ar-AE" b="0" i="0" dirty="0">
                    <a:solidFill>
                      <a:srgbClr val="B4B9C8"/>
                    </a:solidFill>
                    <a:latin typeface="Segoe UI"/>
                  </a:rPr>
                  <a:t>→ </a:t>
                </a:r>
                <a:r>
                  <a:rPr lang="en-US" b="0" i="0" dirty="0">
                    <a:solidFill>
                      <a:srgbClr val="B4B9C8"/>
                    </a:solidFill>
                    <a:latin typeface="Segoe UI"/>
                  </a:rPr>
                  <a:t> </a:t>
                </a:r>
                <a:r>
                  <a:rPr lang="it-IT" b="0" i="0" dirty="0">
                    <a:solidFill>
                      <a:srgbClr val="B4B9C8"/>
                    </a:solidFill>
                    <a:latin typeface="Segoe UI"/>
                  </a:rPr>
                  <a:t>skip</a:t>
                </a:r>
                <a:endParaRPr lang="it-IT" dirty="0">
                  <a:solidFill>
                    <a:srgbClr val="B4B9C8"/>
                  </a:solidFill>
                  <a:latin typeface="Segoe UI"/>
                </a:endParaRPr>
              </a:p>
              <a:p>
                <a:pPr marL="742950" lvl="1" indent="-285750">
                  <a:spcBef>
                    <a:spcPts val="200"/>
                  </a:spcBef>
                  <a:spcAft>
                    <a:spcPts val="200"/>
                  </a:spcAft>
                  <a:buFont typeface="Wingdings" panose="05000000000000000000" pitchFamily="2" charset="2"/>
                  <a:buChar char="§"/>
                </a:pPr>
                <a14:m>
                  <m:oMath xmlns:m="http://schemas.openxmlformats.org/officeDocument/2006/math">
                    <m:r>
                      <a:rPr lang="it-IT" b="0" i="1" dirty="0" smtClean="0">
                        <a:solidFill>
                          <a:srgbClr val="B4B9C8"/>
                        </a:solidFill>
                        <a:latin typeface="Cambria Math" panose="02040503050406030204" pitchFamily="18" charset="0"/>
                      </a:rPr>
                      <m:t>𝑔</m:t>
                    </m:r>
                    <m:d>
                      <m:dPr>
                        <m:ctrlPr>
                          <a:rPr lang="ar-AE" b="0" i="1" dirty="0" smtClean="0">
                            <a:solidFill>
                              <a:srgbClr val="B4B9C8"/>
                            </a:solidFill>
                            <a:latin typeface="Cambria Math" panose="02040503050406030204" pitchFamily="18" charset="0"/>
                          </a:rPr>
                        </m:ctrlPr>
                      </m:dPr>
                      <m:e>
                        <m:sSub>
                          <m:sSubPr>
                            <m:ctrlPr>
                              <a:rPr lang="ar-AE" i="1" dirty="0">
                                <a:solidFill>
                                  <a:schemeClr val="bg1">
                                    <a:lumMod val="75000"/>
                                  </a:schemeClr>
                                </a:solidFill>
                                <a:latin typeface="Cambria Math" panose="02040503050406030204" pitchFamily="18" charset="0"/>
                              </a:rPr>
                            </m:ctrlPr>
                          </m:sSubPr>
                          <m:e>
                            <m:r>
                              <a:rPr lang="ar-AE" dirty="0">
                                <a:solidFill>
                                  <a:schemeClr val="bg1">
                                    <a:lumMod val="75000"/>
                                  </a:schemeClr>
                                </a:solidFill>
                                <a:latin typeface="Cambria Math" panose="02040503050406030204" pitchFamily="18" charset="0"/>
                              </a:rPr>
                              <m:t>𝑆</m:t>
                            </m:r>
                          </m:e>
                          <m:sub>
                            <m:r>
                              <a:rPr lang="ar-AE" dirty="0">
                                <a:solidFill>
                                  <a:schemeClr val="bg1">
                                    <a:lumMod val="75000"/>
                                  </a:schemeClr>
                                </a:solidFill>
                                <a:latin typeface="Cambria Math" panose="02040503050406030204" pitchFamily="18" charset="0"/>
                              </a:rPr>
                              <m:t>𝑐𝑜𝑣</m:t>
                            </m:r>
                          </m:sub>
                        </m:sSub>
                      </m:e>
                    </m:d>
                    <m:r>
                      <a:rPr lang="ar-AE" b="0" i="1" dirty="0">
                        <a:solidFill>
                          <a:srgbClr val="B4B9C8"/>
                        </a:solidFill>
                        <a:latin typeface="Cambria Math" panose="02040503050406030204" pitchFamily="18" charset="0"/>
                      </a:rPr>
                      <m:t>− </m:t>
                    </m:r>
                    <m:r>
                      <a:rPr lang="ar-AE" b="0" i="1" dirty="0">
                        <a:solidFill>
                          <a:srgbClr val="B4B9C8"/>
                        </a:solidFill>
                        <a:latin typeface="Cambria Math" panose="02040503050406030204" pitchFamily="18" charset="0"/>
                      </a:rPr>
                      <m:t>𝑔</m:t>
                    </m:r>
                    <m:d>
                      <m:dPr>
                        <m:ctrlPr>
                          <a:rPr lang="ar-AE" b="0" i="1" dirty="0">
                            <a:solidFill>
                              <a:srgbClr val="B4B9C8"/>
                            </a:solidFill>
                            <a:latin typeface="Cambria Math" panose="02040503050406030204" pitchFamily="18" charset="0"/>
                          </a:rPr>
                        </m:ctrlPr>
                      </m:dPr>
                      <m:e>
                        <m:sSub>
                          <m:sSubPr>
                            <m:ctrlPr>
                              <a:rPr lang="ar-AE" i="1" dirty="0">
                                <a:solidFill>
                                  <a:schemeClr val="bg1">
                                    <a:lumMod val="75000"/>
                                  </a:schemeClr>
                                </a:solidFill>
                                <a:latin typeface="Cambria Math" panose="02040503050406030204" pitchFamily="18" charset="0"/>
                              </a:rPr>
                            </m:ctrlPr>
                          </m:sSubPr>
                          <m:e>
                            <m:r>
                              <a:rPr lang="en-US" b="0" i="1" dirty="0" smtClean="0">
                                <a:solidFill>
                                  <a:schemeClr val="bg1">
                                    <a:lumMod val="75000"/>
                                  </a:schemeClr>
                                </a:solidFill>
                                <a:latin typeface="Cambria Math" panose="02040503050406030204" pitchFamily="18" charset="0"/>
                              </a:rPr>
                              <m:t>𝑆</m:t>
                            </m:r>
                          </m:e>
                          <m:sub>
                            <m:r>
                              <a:rPr lang="ar-AE" dirty="0">
                                <a:solidFill>
                                  <a:schemeClr val="bg1">
                                    <a:lumMod val="75000"/>
                                  </a:schemeClr>
                                </a:solidFill>
                                <a:latin typeface="Cambria Math" panose="02040503050406030204" pitchFamily="18" charset="0"/>
                              </a:rPr>
                              <m:t>𝑡𝑜𝑝</m:t>
                            </m:r>
                            <m:r>
                              <a:rPr lang="ar-AE" dirty="0">
                                <a:solidFill>
                                  <a:schemeClr val="bg1">
                                    <a:lumMod val="75000"/>
                                  </a:schemeClr>
                                </a:solidFill>
                                <a:latin typeface="Cambria Math" panose="02040503050406030204" pitchFamily="18" charset="0"/>
                              </a:rPr>
                              <m:t>−</m:t>
                            </m:r>
                            <m:r>
                              <a:rPr lang="ar-AE" dirty="0">
                                <a:solidFill>
                                  <a:schemeClr val="bg1">
                                    <a:lumMod val="75000"/>
                                  </a:schemeClr>
                                </a:solidFill>
                                <a:latin typeface="Cambria Math" panose="02040503050406030204" pitchFamily="18" charset="0"/>
                              </a:rPr>
                              <m:t>𝑘</m:t>
                            </m:r>
                          </m:sub>
                        </m:sSub>
                      </m:e>
                    </m:d>
                    <m:r>
                      <a:rPr lang="en-US" b="0" i="1" dirty="0" smtClean="0">
                        <a:solidFill>
                          <a:schemeClr val="bg1">
                            <a:lumMod val="75000"/>
                          </a:schemeClr>
                        </a:solidFill>
                        <a:latin typeface="Cambria Math" panose="02040503050406030204" pitchFamily="18" charset="0"/>
                      </a:rPr>
                      <m:t>&lt;</m:t>
                    </m:r>
                    <m:r>
                      <a:rPr lang="en-US" b="0" i="1" dirty="0" smtClean="0">
                        <a:solidFill>
                          <a:schemeClr val="bg1">
                            <a:lumMod val="75000"/>
                          </a:schemeClr>
                        </a:solidFill>
                        <a:latin typeface="Cambria Math" panose="02040503050406030204" pitchFamily="18" charset="0"/>
                      </a:rPr>
                      <m:t>𝑡</m:t>
                    </m:r>
                    <m:r>
                      <a:rPr lang="en-US" b="0" i="1" dirty="0" smtClean="0">
                        <a:solidFill>
                          <a:schemeClr val="bg1">
                            <a:lumMod val="75000"/>
                          </a:schemeClr>
                        </a:solidFill>
                        <a:latin typeface="Cambria Math" panose="02040503050406030204" pitchFamily="18" charset="0"/>
                      </a:rPr>
                      <m:t>h</m:t>
                    </m:r>
                    <m:r>
                      <a:rPr lang="en-US" b="0" i="1" dirty="0" smtClean="0">
                        <a:solidFill>
                          <a:schemeClr val="bg1">
                            <a:lumMod val="75000"/>
                          </a:schemeClr>
                        </a:solidFill>
                        <a:latin typeface="Cambria Math" panose="02040503050406030204" pitchFamily="18" charset="0"/>
                      </a:rPr>
                      <m:t>𝑟𝑒𝑠</m:t>
                    </m:r>
                    <m:r>
                      <a:rPr lang="en-US" b="0" i="1" dirty="0" smtClean="0">
                        <a:solidFill>
                          <a:schemeClr val="bg1">
                            <a:lumMod val="75000"/>
                          </a:schemeClr>
                        </a:solidFill>
                        <a:latin typeface="Cambria Math" panose="02040503050406030204" pitchFamily="18" charset="0"/>
                      </a:rPr>
                      <m:t>h</m:t>
                    </m:r>
                    <m:r>
                      <a:rPr lang="en-US" b="0" i="1" dirty="0" smtClean="0">
                        <a:solidFill>
                          <a:schemeClr val="bg1">
                            <a:lumMod val="75000"/>
                          </a:schemeClr>
                        </a:solidFill>
                        <a:latin typeface="Cambria Math" panose="02040503050406030204" pitchFamily="18" charset="0"/>
                      </a:rPr>
                      <m:t>𝑜𝑙𝑑</m:t>
                    </m:r>
                    <m:r>
                      <a:rPr lang="en-US" b="0" i="1" dirty="0" smtClean="0">
                        <a:solidFill>
                          <a:schemeClr val="bg1">
                            <a:lumMod val="75000"/>
                          </a:schemeClr>
                        </a:solidFill>
                        <a:latin typeface="Cambria Math" panose="02040503050406030204" pitchFamily="18" charset="0"/>
                      </a:rPr>
                      <m:t> </m:t>
                    </m:r>
                  </m:oMath>
                </a14:m>
                <a:r>
                  <a:rPr lang="en-US" b="0" dirty="0">
                    <a:solidFill>
                      <a:srgbClr val="B4B9C8"/>
                    </a:solidFill>
                    <a:latin typeface="Segoe UI"/>
                  </a:rPr>
                  <a:t> </a:t>
                </a:r>
                <a:r>
                  <a:rPr lang="ar-AE" dirty="0">
                    <a:solidFill>
                      <a:srgbClr val="B4B9C8"/>
                    </a:solidFill>
                    <a:latin typeface="Segoe UI"/>
                  </a:rPr>
                  <a:t>→ </a:t>
                </a:r>
                <a:r>
                  <a:rPr lang="it-IT" dirty="0">
                    <a:solidFill>
                      <a:srgbClr val="B4B9C8"/>
                    </a:solidFill>
                    <a:latin typeface="Segoe UI"/>
                  </a:rPr>
                  <a:t>skip</a:t>
                </a:r>
              </a:p>
              <a:p>
                <a:pPr>
                  <a:spcBef>
                    <a:spcPts val="200"/>
                  </a:spcBef>
                  <a:spcAft>
                    <a:spcPts val="200"/>
                  </a:spcAft>
                </a:pPr>
                <a:endParaRPr lang="en-US" sz="1600" b="0" i="0" dirty="0">
                  <a:solidFill>
                    <a:srgbClr val="B4B9C8"/>
                  </a:solidFill>
                  <a:latin typeface="Segoe UI"/>
                </a:endParaRPr>
              </a:p>
              <a:p>
                <a:pPr>
                  <a:spcBef>
                    <a:spcPts val="1000"/>
                  </a:spcBef>
                  <a:spcAft>
                    <a:spcPts val="400"/>
                  </a:spcAft>
                </a:pPr>
                <a:r>
                  <a:rPr lang="it-IT" b="0" i="0" dirty="0">
                    <a:solidFill>
                      <a:srgbClr val="4F8CFF"/>
                    </a:solidFill>
                    <a:latin typeface="Segoe UI"/>
                  </a:rPr>
                  <a:t>▸  </a:t>
                </a:r>
                <a:r>
                  <a:rPr lang="it-IT" sz="2000" b="1" dirty="0">
                    <a:solidFill>
                      <a:srgbClr val="F0F0F5"/>
                    </a:solidFill>
                    <a:latin typeface="Segoe UI"/>
                  </a:rPr>
                  <a:t>Gold answer generation</a:t>
                </a:r>
                <a:r>
                  <a:rPr lang="it-IT" sz="2000" dirty="0">
                    <a:solidFill>
                      <a:srgbClr val="F0F0F5"/>
                    </a:solidFill>
                    <a:latin typeface="Segoe UI"/>
                  </a:rPr>
                  <a:t>: LLM cites source chunks, each tagged with facet label</a:t>
                </a:r>
                <a:endParaRPr lang="it-IT" sz="2000" b="0" i="0" dirty="0">
                  <a:solidFill>
                    <a:srgbClr val="F0F0F5"/>
                  </a:solidFill>
                  <a:latin typeface="Segoe UI"/>
                </a:endParaRPr>
              </a:p>
              <a:p>
                <a:pPr>
                  <a:spcBef>
                    <a:spcPts val="1000"/>
                  </a:spcBef>
                  <a:spcAft>
                    <a:spcPts val="400"/>
                  </a:spcAft>
                </a:pPr>
                <a:endParaRPr sz="2000" b="0" i="0" dirty="0">
                  <a:solidFill>
                    <a:srgbClr val="F0F0F5"/>
                  </a:solidFill>
                  <a:latin typeface="Segoe UI"/>
                </a:endParaRPr>
              </a:p>
            </p:txBody>
          </p:sp>
        </mc:Choice>
        <mc:Fallback xmlns="">
          <p:sp>
            <p:nvSpPr>
              <p:cNvPr id="7" name="TextBox 6"/>
              <p:cNvSpPr txBox="1">
                <a:spLocks noRot="1" noChangeAspect="1" noMove="1" noResize="1" noEditPoints="1" noAdjustHandles="1" noChangeArrowheads="1" noChangeShapeType="1" noTextEdit="1"/>
              </p:cNvSpPr>
              <p:nvPr/>
            </p:nvSpPr>
            <p:spPr>
              <a:xfrm>
                <a:off x="822960" y="1504249"/>
                <a:ext cx="10515600" cy="5199565"/>
              </a:xfrm>
              <a:prstGeom prst="rect">
                <a:avLst/>
              </a:prstGeom>
              <a:blipFill>
                <a:blip r:embed="rId2"/>
                <a:stretch>
                  <a:fillRect l="-464" t="-586"/>
                </a:stretch>
              </a:blipFill>
            </p:spPr>
            <p:txBody>
              <a:bodyPr/>
              <a:lstStyle/>
              <a:p>
                <a:r>
                  <a:rPr lang="LID4096">
                    <a:noFill/>
                  </a:rPr>
                  <a:t> </a:t>
                </a:r>
              </a:p>
            </p:txBody>
          </p:sp>
        </mc:Fallback>
      </mc:AlternateContent>
      <p:sp>
        <p:nvSpPr>
          <p:cNvPr id="9" name="Slide Number Placeholder 8">
            <a:extLst>
              <a:ext uri="{FF2B5EF4-FFF2-40B4-BE49-F238E27FC236}">
                <a16:creationId xmlns:a16="http://schemas.microsoft.com/office/drawing/2014/main" id="{FD0D9183-5DC2-D50C-A7E3-5E2818DF348B}"/>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56F52-25A1-873A-EF4D-F8284BCB69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190937C-E0C8-E674-5AA6-0C72C59221DE}"/>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295243BA-5246-108A-33C3-D41602114AC2}"/>
              </a:ext>
            </a:extLst>
          </p:cNvPr>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85764E43-0D05-9F93-8309-5324F062B692}"/>
              </a:ext>
            </a:extLst>
          </p:cNvPr>
          <p:cNvSpPr txBox="1"/>
          <p:nvPr/>
        </p:nvSpPr>
        <p:spPr>
          <a:xfrm>
            <a:off x="538327" y="401248"/>
            <a:ext cx="11115040" cy="6055504"/>
          </a:xfrm>
          <a:prstGeom prst="rect">
            <a:avLst/>
          </a:prstGeom>
          <a:noFill/>
        </p:spPr>
        <p:txBody>
          <a:bodyPr wrap="square">
            <a:spAutoFit/>
          </a:bodyPr>
          <a:lstStyle/>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r>
              <a:rPr lang="en-US" sz="1250" dirty="0">
                <a:solidFill>
                  <a:schemeClr val="accent3">
                    <a:lumMod val="40000"/>
                    <a:lumOff val="60000"/>
                  </a:schemeClr>
                </a:solidFill>
                <a:latin typeface="JetBrains Mono" panose="02000009000000000000" pitchFamily="49" charset="0"/>
                <a:ea typeface="JetBrains Mono" panose="02000009000000000000" pitchFamily="49" charset="0"/>
                <a:cs typeface="JetBrains Mono" panose="02000009000000000000" pitchFamily="49" charset="0"/>
              </a:rPr>
              <a:t>In patients with Type 2 diabetes and advanced kidney disease, how do clinicians manage the transition between pharmacological management of glycemic control and the initiation of renal replacement therapy, such as dialysis, and what specific lab values or symptoms typically trigger these changes?",</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"Clinicians discontinue or hold oral hypoglycemics like metformin and glipizide in the setting of renal failure or decreased renal clearance to avoid complications such as lactic acidosis or hypoglycemia.",</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"pharmacological_transition_renal_failure",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50962, 101542, 32657…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"Insulin doses are downtitrated or reduced when renal failure is present due to decreased renal clearance of insulin, which increases the risk of hypoglycemia.",</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"insulin_dose_adjustment_renal_failure",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"Some patients completely cease the use of insulin or other diabetes medications upon the initiation of dialysis.",</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"dialysis_impact_on_glycemic_management",</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"fact": "Specific triggers for adjusting diabetes medications include severe hypoglycemia (e.g., BG 27-40), acute kidney injury (elevated creatinine), and the initiation of renal replacement therapy.",</a:t>
            </a:r>
          </a:p>
          <a:p>
            <a:r>
              <a:rPr lang="en-US" sz="1250" dirty="0">
                <a:solidFill>
                  <a:schemeClr val="accent6">
                    <a:lumMod val="60000"/>
                    <a:lumOff val="40000"/>
                  </a:schemeClr>
                </a:solidFill>
                <a:latin typeface="JetBrains Mono" panose="02000009000000000000" pitchFamily="49" charset="0"/>
                <a:ea typeface="JetBrains Mono" panose="02000009000000000000" pitchFamily="49" charset="0"/>
                <a:cs typeface="JetBrains Mono" panose="02000009000000000000" pitchFamily="49" charset="0"/>
              </a:rPr>
              <a:t>		"facet_label": "triggers_for_medication_change",</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"chunk_ids": [ …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	}</a:t>
            </a:r>
          </a:p>
          <a:p>
            <a:r>
              <a:rPr lang="en-US" sz="1250" dirty="0">
                <a:solidFill>
                  <a:schemeClr val="bg1">
                    <a:lumMod val="85000"/>
                  </a:schemeClr>
                </a:solidFill>
                <a:latin typeface="JetBrains Mono" panose="02000009000000000000" pitchFamily="49" charset="0"/>
                <a:ea typeface="JetBrains Mono" panose="02000009000000000000" pitchFamily="49" charset="0"/>
                <a:cs typeface="JetBrains Mono" panose="02000009000000000000" pitchFamily="49" charset="0"/>
              </a:rPr>
              <a:t>]</a:t>
            </a:r>
          </a:p>
        </p:txBody>
      </p:sp>
      <p:sp>
        <p:nvSpPr>
          <p:cNvPr id="9" name="Slide Number Placeholder 8">
            <a:extLst>
              <a:ext uri="{FF2B5EF4-FFF2-40B4-BE49-F238E27FC236}">
                <a16:creationId xmlns:a16="http://schemas.microsoft.com/office/drawing/2014/main" id="{BD0FF4A5-5E6D-DF75-AA10-00A21947DD68}"/>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2828234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dirty="0">
                <a:solidFill>
                  <a:srgbClr val="F0F0F5"/>
                </a:solidFill>
                <a:latin typeface="Segoe UI"/>
              </a:rPr>
              <a:t>Phase 4: Evaluation</a:t>
            </a: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3214388658"/>
                  </p:ext>
                </p:extLst>
              </p:nvPr>
            </p:nvGraphicFramePr>
            <p:xfrm>
              <a:off x="1046480" y="1645919"/>
              <a:ext cx="10099040" cy="4652879"/>
            </p:xfrm>
            <a:graphic>
              <a:graphicData uri="http://schemas.openxmlformats.org/drawingml/2006/table">
                <a:tbl>
                  <a:tblPr>
                    <a:tableStyleId>{00000000-0000-0000-0000-000000000000}</a:tableStyleId>
                  </a:tblPr>
                  <a:tblGrid>
                    <a:gridCol w="1828800">
                      <a:extLst>
                        <a:ext uri="{9D8B030D-6E8A-4147-A177-3AD203B41FA5}">
                          <a16:colId xmlns:a16="http://schemas.microsoft.com/office/drawing/2014/main" val="20000"/>
                        </a:ext>
                      </a:extLst>
                    </a:gridCol>
                    <a:gridCol w="4421393">
                      <a:extLst>
                        <a:ext uri="{9D8B030D-6E8A-4147-A177-3AD203B41FA5}">
                          <a16:colId xmlns:a16="http://schemas.microsoft.com/office/drawing/2014/main" val="20001"/>
                        </a:ext>
                      </a:extLst>
                    </a:gridCol>
                    <a:gridCol w="3848847">
                      <a:extLst>
                        <a:ext uri="{9D8B030D-6E8A-4147-A177-3AD203B41FA5}">
                          <a16:colId xmlns:a16="http://schemas.microsoft.com/office/drawing/2014/main" val="20002"/>
                        </a:ext>
                      </a:extLst>
                    </a:gridCol>
                  </a:tblGrid>
                  <a:tr h="483715">
                    <a:tc>
                      <a:txBody>
                        <a:bodyPr/>
                        <a:lstStyle/>
                        <a:p>
                          <a:pPr algn="ctr"/>
                          <a:r>
                            <a:rPr sz="1500" b="1" i="0" dirty="0">
                              <a:solidFill>
                                <a:schemeClr val="bg1"/>
                              </a:solidFill>
                              <a:latin typeface="Segoe UI"/>
                            </a:rPr>
                            <a:t>Metric</a:t>
                          </a:r>
                        </a:p>
                      </a:txBody>
                      <a:tcPr anchor="ctr">
                        <a:solidFill>
                          <a:schemeClr val="tx2"/>
                        </a:solidFill>
                      </a:tcPr>
                    </a:tc>
                    <a:tc>
                      <a:txBody>
                        <a:bodyPr/>
                        <a:lstStyle/>
                        <a:p>
                          <a:pPr algn="ctr"/>
                          <a:r>
                            <a:rPr sz="1500" b="1" i="0" dirty="0">
                              <a:solidFill>
                                <a:schemeClr val="bg1"/>
                              </a:solidFill>
                              <a:latin typeface="Segoe UI"/>
                            </a:rPr>
                            <a:t>Definition</a:t>
                          </a:r>
                        </a:p>
                      </a:txBody>
                      <a:tcPr anchor="ctr">
                        <a:solidFill>
                          <a:schemeClr val="tx2"/>
                        </a:solidFill>
                      </a:tcPr>
                    </a:tc>
                    <a:tc>
                      <a:txBody>
                        <a:bodyPr/>
                        <a:lstStyle/>
                        <a:p>
                          <a:pPr algn="ctr"/>
                          <a:r>
                            <a:rPr sz="1500" b="1" i="0" dirty="0">
                              <a:solidFill>
                                <a:schemeClr val="bg1"/>
                              </a:solidFill>
                              <a:latin typeface="Segoe UI"/>
                            </a:rPr>
                            <a:t>Measures</a:t>
                          </a:r>
                        </a:p>
                      </a:txBody>
                      <a:tcPr anchor="ctr">
                        <a:solidFill>
                          <a:schemeClr val="tx2"/>
                        </a:solidFill>
                      </a:tcPr>
                    </a:tc>
                    <a:extLst>
                      <a:ext uri="{0D108BD9-81ED-4DB2-BD59-A6C34878D82A}">
                        <a16:rowId xmlns:a16="http://schemas.microsoft.com/office/drawing/2014/main" val="10000"/>
                      </a:ext>
                    </a:extLst>
                  </a:tr>
                  <a:tr h="875294">
                    <a:tc>
                      <a:txBody>
                        <a:bodyPr/>
                        <a:lstStyle/>
                        <a:p>
                          <a:pPr algn="l"/>
                          <a:r>
                            <a:rPr sz="1400" b="1" i="0">
                              <a:solidFill>
                                <a:srgbClr val="4F8CFF"/>
                              </a:solidFill>
                              <a:latin typeface="Segoe UI"/>
                            </a:rPr>
                            <a:t>Aspect Recall</a:t>
                          </a:r>
                        </a:p>
                      </a:txBody>
                      <a:tcPr anchor="ctr">
                        <a:solidFill>
                          <a:srgbClr val="1C212F"/>
                        </a:solidFill>
                      </a:tcPr>
                    </a:tc>
                    <a:tc>
                      <a:txBody>
                        <a:bodyPr/>
                        <a:lstStyle/>
                        <a:p>
                          <a:pPr algn="l"/>
                          <a14:m>
                            <m:oMathPara xmlns:m="http://schemas.openxmlformats.org/officeDocument/2006/math">
                              <m:oMathParaPr>
                                <m:jc m:val="left"/>
                              </m:oMathParaPr>
                              <m:oMath xmlns:m="http://schemas.openxmlformats.org/officeDocument/2006/math">
                                <m:r>
                                  <a:rPr lang="en-001" sz="1600" b="0" i="1" dirty="0" smtClean="0">
                                    <a:solidFill>
                                      <a:srgbClr val="F0F0F5"/>
                                    </a:solidFill>
                                    <a:latin typeface="Cambria Math" panose="02040503050406030204" pitchFamily="18" charset="0"/>
                                  </a:rPr>
                                  <m:t>𝐴𝑅</m:t>
                                </m:r>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𝑆</m:t>
                                </m:r>
                                <m:r>
                                  <a:rPr lang="en-001" sz="1600" b="0" i="1" dirty="0" smtClean="0">
                                    <a:solidFill>
                                      <a:srgbClr val="F0F0F5"/>
                                    </a:solidFill>
                                    <a:latin typeface="Cambria Math" panose="02040503050406030204" pitchFamily="18" charset="0"/>
                                  </a:rPr>
                                  <m:t>) = </m:t>
                                </m:r>
                                <m:f>
                                  <m:fPr>
                                    <m:ctrlPr>
                                      <a:rPr lang="en-001" sz="1600" b="0" i="1" dirty="0" smtClean="0">
                                        <a:solidFill>
                                          <a:srgbClr val="F0F0F5"/>
                                        </a:solidFill>
                                        <a:latin typeface="Cambria Math" panose="02040503050406030204" pitchFamily="18" charset="0"/>
                                      </a:rPr>
                                    </m:ctrlPr>
                                  </m:fPr>
                                  <m:num>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𝑓</m:t>
                                    </m:r>
                                    <m:r>
                                      <a:rPr lang="en-001" sz="1600" b="0" i="1" dirty="0" smtClean="0">
                                        <a:solidFill>
                                          <a:srgbClr val="F0F0F5"/>
                                        </a:solidFill>
                                        <a:latin typeface="Cambria Math" panose="02040503050406030204" pitchFamily="18" charset="0"/>
                                      </a:rPr>
                                      <m:t>∈</m:t>
                                    </m:r>
                                    <m:sSub>
                                      <m:sSubPr>
                                        <m:ctrlPr>
                                          <a:rPr lang="en-001" sz="1600" b="0" i="1" dirty="0" smtClean="0">
                                            <a:solidFill>
                                              <a:srgbClr val="F0F0F5"/>
                                            </a:solidFill>
                                            <a:latin typeface="Cambria Math" panose="02040503050406030204" pitchFamily="18" charset="0"/>
                                          </a:rPr>
                                        </m:ctrlPr>
                                      </m:sSubPr>
                                      <m:e>
                                        <m:r>
                                          <a:rPr lang="en-US" sz="1600" b="0" i="1" dirty="0" smtClean="0">
                                            <a:solidFill>
                                              <a:srgbClr val="F0F0F5"/>
                                            </a:solidFill>
                                            <a:latin typeface="Cambria Math" panose="02040503050406030204" pitchFamily="18" charset="0"/>
                                          </a:rPr>
                                          <m:t>𝐹</m:t>
                                        </m:r>
                                      </m:e>
                                      <m:sub>
                                        <m:r>
                                          <a:rPr lang="en-US" sz="1600" b="0" i="1" dirty="0" smtClean="0">
                                            <a:solidFill>
                                              <a:srgbClr val="F0F0F5"/>
                                            </a:solidFill>
                                            <a:latin typeface="Cambria Math" panose="02040503050406030204" pitchFamily="18" charset="0"/>
                                          </a:rPr>
                                          <m:t>𝑞𝑢𝑒𝑟𝑦</m:t>
                                        </m:r>
                                      </m:sub>
                                    </m:sSub>
                                    <m:r>
                                      <a:rPr lang="en-001"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rPr>
                                      <m:t>𝑑𝑜𝑐</m:t>
                                    </m:r>
                                    <m:r>
                                      <a:rPr lang="en-001" sz="1600" b="0" i="1" dirty="0" smtClean="0">
                                        <a:solidFill>
                                          <a:srgbClr val="F0F0F5"/>
                                        </a:solidFill>
                                        <a:latin typeface="Cambria Math" panose="02040503050406030204" pitchFamily="18" charset="0"/>
                                      </a:rPr>
                                      <m:t>∈</m:t>
                                    </m:r>
                                    <m:r>
                                      <a:rPr lang="en-001" sz="1600" b="0" i="1" dirty="0" smtClean="0">
                                        <a:solidFill>
                                          <a:srgbClr val="F0F0F5"/>
                                        </a:solidFill>
                                        <a:latin typeface="Cambria Math" panose="02040503050406030204" pitchFamily="18" charset="0"/>
                                      </a:rPr>
                                      <m:t>𝑆</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𝑤𝑖𝑡h</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𝑓𝑎𝑐𝑒𝑡</m:t>
                                    </m:r>
                                    <m:r>
                                      <a:rPr lang="en-001" sz="1600" b="0" i="1" dirty="0" smtClean="0">
                                        <a:solidFill>
                                          <a:srgbClr val="F0F0F5"/>
                                        </a:solidFill>
                                        <a:latin typeface="Cambria Math" panose="02040503050406030204" pitchFamily="18" charset="0"/>
                                      </a:rPr>
                                      <m:t> </m:t>
                                    </m:r>
                                    <m:r>
                                      <a:rPr lang="en-001" sz="1600" b="0" i="1" dirty="0" smtClean="0">
                                        <a:solidFill>
                                          <a:srgbClr val="F0F0F5"/>
                                        </a:solidFill>
                                        <a:latin typeface="Cambria Math" panose="02040503050406030204" pitchFamily="18" charset="0"/>
                                      </a:rPr>
                                      <m:t>𝑓</m:t>
                                    </m:r>
                                    <m:r>
                                      <a:rPr lang="en-001" sz="1600" b="0" i="1" dirty="0" smtClean="0">
                                        <a:solidFill>
                                          <a:srgbClr val="F0F0F5"/>
                                        </a:solidFill>
                                        <a:latin typeface="Cambria Math" panose="02040503050406030204" pitchFamily="18" charset="0"/>
                                      </a:rPr>
                                      <m:t>}|</m:t>
                                    </m:r>
                                  </m:num>
                                  <m:den>
                                    <m:r>
                                      <a:rPr lang="en-001" sz="1600" b="0" i="1" dirty="0" smtClean="0">
                                        <a:solidFill>
                                          <a:srgbClr val="F0F0F5"/>
                                        </a:solidFill>
                                        <a:latin typeface="Cambria Math" panose="02040503050406030204" pitchFamily="18" charset="0"/>
                                      </a:rPr>
                                      <m:t>|</m:t>
                                    </m:r>
                                    <m:sSub>
                                      <m:sSubPr>
                                        <m:ctrlPr>
                                          <a:rPr lang="en-001" sz="1600" b="0" i="1" dirty="0" smtClean="0">
                                            <a:solidFill>
                                              <a:srgbClr val="F0F0F5"/>
                                            </a:solidFill>
                                            <a:latin typeface="Cambria Math" panose="02040503050406030204" pitchFamily="18" charset="0"/>
                                          </a:rPr>
                                        </m:ctrlPr>
                                      </m:sSubPr>
                                      <m:e>
                                        <m:r>
                                          <a:rPr lang="en-US" sz="1600" b="0" i="1" dirty="0" smtClean="0">
                                            <a:solidFill>
                                              <a:srgbClr val="F0F0F5"/>
                                            </a:solidFill>
                                            <a:latin typeface="Cambria Math" panose="02040503050406030204" pitchFamily="18" charset="0"/>
                                          </a:rPr>
                                          <m:t>𝐹</m:t>
                                        </m:r>
                                      </m:e>
                                      <m:sub>
                                        <m:r>
                                          <a:rPr lang="en-US" sz="1600" b="0" i="1" dirty="0" smtClean="0">
                                            <a:solidFill>
                                              <a:srgbClr val="F0F0F5"/>
                                            </a:solidFill>
                                            <a:latin typeface="Cambria Math" panose="02040503050406030204" pitchFamily="18" charset="0"/>
                                          </a:rPr>
                                          <m:t>𝑞𝑢𝑒𝑟𝑦</m:t>
                                        </m:r>
                                      </m:sub>
                                    </m:sSub>
                                    <m:r>
                                      <a:rPr lang="en-001" sz="1600" b="0" i="1" dirty="0" smtClean="0">
                                        <a:solidFill>
                                          <a:srgbClr val="F0F0F5"/>
                                        </a:solidFill>
                                        <a:latin typeface="Cambria Math" panose="02040503050406030204" pitchFamily="18" charset="0"/>
                                      </a:rPr>
                                      <m:t>|</m:t>
                                    </m:r>
                                  </m:den>
                                </m:f>
                              </m:oMath>
                            </m:oMathPara>
                          </a14:m>
                          <a:endParaRPr dirty="0"/>
                        </a:p>
                      </a:txBody>
                      <a:tcPr anchor="ctr">
                        <a:solidFill>
                          <a:srgbClr val="1C212F"/>
                        </a:solidFill>
                      </a:tcPr>
                    </a:tc>
                    <a:tc>
                      <a:txBody>
                        <a:bodyPr/>
                        <a:lstStyle/>
                        <a:p>
                          <a:pPr algn="l"/>
                          <a:r>
                            <a:rPr sz="1600" b="0" i="0" dirty="0">
                              <a:solidFill>
                                <a:srgbClr val="F0F0F5"/>
                              </a:solidFill>
                              <a:latin typeface="Segoe UI"/>
                            </a:rPr>
                            <a:t>Fraction of annotated facets covered by selected k chunks</a:t>
                          </a:r>
                        </a:p>
                      </a:txBody>
                      <a:tcPr anchor="ctr">
                        <a:solidFill>
                          <a:srgbClr val="1C212F"/>
                        </a:solidFill>
                      </a:tcPr>
                    </a:tc>
                    <a:extLst>
                      <a:ext uri="{0D108BD9-81ED-4DB2-BD59-A6C34878D82A}">
                        <a16:rowId xmlns:a16="http://schemas.microsoft.com/office/drawing/2014/main" val="10001"/>
                      </a:ext>
                    </a:extLst>
                  </a:tr>
                  <a:tr h="875294">
                    <a:tc>
                      <a:txBody>
                        <a:bodyPr/>
                        <a:lstStyle/>
                        <a:p>
                          <a:pPr algn="l"/>
                          <a:r>
                            <a:rPr lang="en-US" sz="1400" b="1" i="0" dirty="0">
                              <a:solidFill>
                                <a:srgbClr val="4F8CFF"/>
                              </a:solidFill>
                              <a:latin typeface="Segoe UI"/>
                            </a:rPr>
                            <a:t>Weighted Aspect Recall</a:t>
                          </a:r>
                          <a:endParaRPr sz="14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F0F0F5"/>
                              </a:solidFill>
                              <a:latin typeface="Segoe UI"/>
                            </a:rPr>
                            <a:t>retrieved gold chunks / total gold chunks for a facet</a:t>
                          </a:r>
                          <a:endParaRPr sz="1600" dirty="0"/>
                        </a:p>
                      </a:txBody>
                      <a:tcPr anchor="ctr">
                        <a:solidFill>
                          <a:srgbClr val="1C212F"/>
                        </a:solidFill>
                      </a:tcPr>
                    </a:tc>
                    <a:tc>
                      <a:txBody>
                        <a:bodyPr/>
                        <a:lstStyle/>
                        <a:p>
                          <a:pPr algn="l"/>
                          <a:r>
                            <a:rPr lang="en-US" sz="1600" b="0" i="0" dirty="0">
                              <a:solidFill>
                                <a:srgbClr val="F0F0F5"/>
                              </a:solidFill>
                              <a:latin typeface="Segoe UI"/>
                            </a:rPr>
                            <a:t>measures how completely each facet is covered</a:t>
                          </a:r>
                          <a:endParaRPr sz="1600" b="0" i="0" dirty="0">
                            <a:solidFill>
                              <a:srgbClr val="F0F0F5"/>
                            </a:solidFill>
                            <a:latin typeface="Segoe UI"/>
                          </a:endParaRPr>
                        </a:p>
                      </a:txBody>
                      <a:tcPr anchor="ctr">
                        <a:solidFill>
                          <a:srgbClr val="1C212F"/>
                        </a:solidFill>
                      </a:tcPr>
                    </a:tc>
                    <a:extLst>
                      <a:ext uri="{0D108BD9-81ED-4DB2-BD59-A6C34878D82A}">
                        <a16:rowId xmlns:a16="http://schemas.microsoft.com/office/drawing/2014/main" val="3597994416"/>
                      </a:ext>
                    </a:extLst>
                  </a:tr>
                  <a:tr h="829226">
                    <a:tc>
                      <a:txBody>
                        <a:bodyPr/>
                        <a:lstStyle/>
                        <a:p>
                          <a:pPr algn="l"/>
                          <a:r>
                            <a:rPr sz="1400" b="1" i="0" dirty="0">
                              <a:solidFill>
                                <a:srgbClr val="4F8CFF"/>
                              </a:solidFill>
                              <a:latin typeface="Segoe UI"/>
                            </a:rPr>
                            <a:t>Fac</a:t>
                          </a:r>
                          <a:r>
                            <a:rPr lang="en-US" sz="1400" b="1" i="0" dirty="0">
                              <a:solidFill>
                                <a:srgbClr val="4F8CFF"/>
                              </a:solidFill>
                              <a:latin typeface="Segoe UI"/>
                            </a:rPr>
                            <a:t>-Loc</a:t>
                          </a:r>
                          <a:r>
                            <a:rPr sz="1400" b="1" i="0" dirty="0">
                              <a:solidFill>
                                <a:srgbClr val="4F8CFF"/>
                              </a:solidFill>
                              <a:latin typeface="Segoe UI"/>
                            </a:rPr>
                            <a:t> Score</a:t>
                          </a:r>
                        </a:p>
                      </a:txBody>
                      <a:tcPr anchor="ctr">
                        <a:solidFill>
                          <a:srgbClr val="212636"/>
                        </a:solidFill>
                      </a:tcPr>
                    </a:tc>
                    <a:tc>
                      <a:txBody>
                        <a:bodyPr/>
                        <a:lstStyle/>
                        <a:p>
                          <a:pPr algn="l"/>
                          <a14:m>
                            <m:oMathPara xmlns:m="http://schemas.openxmlformats.org/officeDocument/2006/math">
                              <m:oMathParaPr>
                                <m:jc m:val="left"/>
                              </m:oMathParaPr>
                              <m:oMath xmlns:m="http://schemas.openxmlformats.org/officeDocument/2006/math">
                                <m:r>
                                  <a:rPr lang="el-GR" sz="1600" b="0" i="1" dirty="0" smtClean="0">
                                    <a:solidFill>
                                      <a:srgbClr val="F0F0F5"/>
                                    </a:solidFill>
                                    <a:latin typeface="Cambria Math" panose="02040503050406030204" pitchFamily="18" charset="0"/>
                                  </a:rPr>
                                  <m:t>𝑔</m:t>
                                </m:r>
                                <m:r>
                                  <a:rPr lang="el-GR" sz="1600" b="0" i="1" dirty="0" smtClean="0">
                                    <a:solidFill>
                                      <a:srgbClr val="F0F0F5"/>
                                    </a:solidFill>
                                    <a:latin typeface="Cambria Math" panose="02040503050406030204" pitchFamily="18" charset="0"/>
                                  </a:rPr>
                                  <m:t>(</m:t>
                                </m:r>
                                <m:r>
                                  <a:rPr lang="el-GR" sz="1600" b="0" i="1" dirty="0" smtClean="0">
                                    <a:solidFill>
                                      <a:srgbClr val="F0F0F5"/>
                                    </a:solidFill>
                                    <a:latin typeface="Cambria Math" panose="02040503050406030204" pitchFamily="18" charset="0"/>
                                  </a:rPr>
                                  <m:t>𝑆</m:t>
                                </m:r>
                                <m:r>
                                  <a:rPr lang="el-GR" sz="1600" b="0" i="1" dirty="0" smtClean="0">
                                    <a:solidFill>
                                      <a:srgbClr val="F0F0F5"/>
                                    </a:solidFill>
                                    <a:latin typeface="Cambria Math" panose="02040503050406030204" pitchFamily="18" charset="0"/>
                                  </a:rPr>
                                  <m:t>) = </m:t>
                                </m:r>
                                <m:nary>
                                  <m:naryPr>
                                    <m:chr m:val="∑"/>
                                    <m:supHide m:val="on"/>
                                    <m:ctrlPr>
                                      <a:rPr lang="el-GR" sz="1600" b="0" i="1" dirty="0" smtClean="0">
                                        <a:solidFill>
                                          <a:srgbClr val="F0F0F5"/>
                                        </a:solidFill>
                                        <a:latin typeface="Cambria Math" panose="02040503050406030204" pitchFamily="18" charset="0"/>
                                      </a:rPr>
                                    </m:ctrlPr>
                                  </m:naryPr>
                                  <m:sub>
                                    <m:r>
                                      <m:rPr>
                                        <m:brk m:alnAt="7"/>
                                      </m:rPr>
                                      <a:rPr lang="en-US" sz="1600" b="0" i="1" dirty="0" smtClean="0">
                                        <a:solidFill>
                                          <a:srgbClr val="F0F0F5"/>
                                        </a:solidFill>
                                        <a:latin typeface="Cambria Math" panose="02040503050406030204" pitchFamily="18" charset="0"/>
                                      </a:rPr>
                                      <m:t>𝑖</m:t>
                                    </m:r>
                                    <m:r>
                                      <a:rPr lang="en-US"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ea typeface="Cambria Math" panose="02040503050406030204" pitchFamily="18" charset="0"/>
                                      </a:rPr>
                                      <m:t>𝐷</m:t>
                                    </m:r>
                                  </m:sub>
                                  <m:sup/>
                                  <m:e>
                                    <m:func>
                                      <m:funcPr>
                                        <m:ctrlPr>
                                          <a:rPr lang="it-IT" sz="1600" b="0" i="1" dirty="0" smtClean="0">
                                            <a:solidFill>
                                              <a:srgbClr val="F0F0F5"/>
                                            </a:solidFill>
                                            <a:latin typeface="Cambria Math" panose="02040503050406030204" pitchFamily="18" charset="0"/>
                                          </a:rPr>
                                        </m:ctrlPr>
                                      </m:funcPr>
                                      <m:fName>
                                        <m:limLow>
                                          <m:limLowPr>
                                            <m:ctrlPr>
                                              <a:rPr lang="it-IT" sz="1600" b="0" i="1" dirty="0" smtClean="0">
                                                <a:solidFill>
                                                  <a:srgbClr val="F0F0F5"/>
                                                </a:solidFill>
                                                <a:latin typeface="Cambria Math" panose="02040503050406030204" pitchFamily="18" charset="0"/>
                                              </a:rPr>
                                            </m:ctrlPr>
                                          </m:limLowPr>
                                          <m:e>
                                            <m:r>
                                              <m:rPr>
                                                <m:sty m:val="p"/>
                                              </m:rPr>
                                              <a:rPr lang="it-IT" sz="1600" b="0" i="0" dirty="0" smtClean="0">
                                                <a:solidFill>
                                                  <a:srgbClr val="F0F0F5"/>
                                                </a:solidFill>
                                                <a:latin typeface="Cambria Math" panose="02040503050406030204" pitchFamily="18" charset="0"/>
                                              </a:rPr>
                                              <m:t>max</m:t>
                                            </m:r>
                                          </m:e>
                                          <m:lim>
                                            <m:r>
                                              <a:rPr lang="en-US" sz="1600" b="0" i="1" dirty="0" smtClean="0">
                                                <a:solidFill>
                                                  <a:srgbClr val="F0F0F5"/>
                                                </a:solidFill>
                                                <a:latin typeface="Cambria Math" panose="02040503050406030204" pitchFamily="18" charset="0"/>
                                              </a:rPr>
                                              <m:t>𝑗</m:t>
                                            </m:r>
                                            <m:r>
                                              <a:rPr lang="en-US" sz="1600" b="0" i="1" dirty="0" smtClean="0">
                                                <a:solidFill>
                                                  <a:srgbClr val="F0F0F5"/>
                                                </a:solidFill>
                                                <a:latin typeface="Cambria Math" panose="02040503050406030204" pitchFamily="18" charset="0"/>
                                              </a:rPr>
                                              <m:t> ∈ </m:t>
                                            </m:r>
                                            <m:r>
                                              <a:rPr lang="en-US" sz="1600" b="0" i="1" dirty="0" smtClean="0">
                                                <a:solidFill>
                                                  <a:srgbClr val="F0F0F5"/>
                                                </a:solidFill>
                                                <a:latin typeface="Cambria Math" panose="02040503050406030204" pitchFamily="18" charset="0"/>
                                                <a:ea typeface="Cambria Math" panose="02040503050406030204" pitchFamily="18" charset="0"/>
                                              </a:rPr>
                                              <m:t>𝑆</m:t>
                                            </m:r>
                                          </m:lim>
                                        </m:limLow>
                                      </m:fName>
                                      <m:e>
                                        <m:r>
                                          <a:rPr lang="en-US" sz="1600" b="0" i="1" dirty="0" smtClean="0">
                                            <a:solidFill>
                                              <a:srgbClr val="F0F0F5"/>
                                            </a:solidFill>
                                            <a:latin typeface="Cambria Math" panose="02040503050406030204" pitchFamily="18" charset="0"/>
                                          </a:rPr>
                                          <m:t>𝑠𝑖𝑚</m:t>
                                        </m:r>
                                        <m:r>
                                          <a:rPr lang="en-US" sz="1600" b="0" i="1" dirty="0" smtClean="0">
                                            <a:solidFill>
                                              <a:srgbClr val="F0F0F5"/>
                                            </a:solidFill>
                                            <a:latin typeface="Cambria Math" panose="02040503050406030204" pitchFamily="18" charset="0"/>
                                          </a:rPr>
                                          <m:t>(</m:t>
                                        </m:r>
                                        <m:r>
                                          <a:rPr lang="en-US" sz="1600" b="0" i="1" dirty="0" smtClean="0">
                                            <a:solidFill>
                                              <a:srgbClr val="F0F0F5"/>
                                            </a:solidFill>
                                            <a:latin typeface="Cambria Math" panose="02040503050406030204" pitchFamily="18" charset="0"/>
                                          </a:rPr>
                                          <m:t>𝑖</m:t>
                                        </m:r>
                                        <m:r>
                                          <a:rPr lang="en-US" sz="1600" b="0" i="1" dirty="0" smtClean="0">
                                            <a:solidFill>
                                              <a:srgbClr val="F0F0F5"/>
                                            </a:solidFill>
                                            <a:latin typeface="Cambria Math" panose="02040503050406030204" pitchFamily="18" charset="0"/>
                                          </a:rPr>
                                          <m:t>, </m:t>
                                        </m:r>
                                        <m:r>
                                          <a:rPr lang="en-US" sz="1600" b="0" i="1" dirty="0" smtClean="0">
                                            <a:solidFill>
                                              <a:srgbClr val="F0F0F5"/>
                                            </a:solidFill>
                                            <a:latin typeface="Cambria Math" panose="02040503050406030204" pitchFamily="18" charset="0"/>
                                          </a:rPr>
                                          <m:t>𝑗</m:t>
                                        </m:r>
                                        <m:r>
                                          <a:rPr lang="en-US" sz="1600" b="0" i="1" dirty="0" smtClean="0">
                                            <a:solidFill>
                                              <a:srgbClr val="F0F0F5"/>
                                            </a:solidFill>
                                            <a:latin typeface="Cambria Math" panose="02040503050406030204" pitchFamily="18" charset="0"/>
                                          </a:rPr>
                                          <m:t>)</m:t>
                                        </m:r>
                                      </m:e>
                                    </m:func>
                                  </m:e>
                                </m:nary>
                              </m:oMath>
                            </m:oMathPara>
                          </a14:m>
                          <a:endParaRPr sz="2000" dirty="0"/>
                        </a:p>
                      </a:txBody>
                      <a:tcPr anchor="ctr">
                        <a:solidFill>
                          <a:srgbClr val="212636"/>
                        </a:solidFill>
                      </a:tcPr>
                    </a:tc>
                    <a:tc>
                      <a:txBody>
                        <a:bodyPr/>
                        <a:lstStyle/>
                        <a:p>
                          <a:pPr algn="l"/>
                          <a:r>
                            <a:rPr sz="1600" b="0" i="0">
                              <a:solidFill>
                                <a:srgbClr val="F0F0F5"/>
                              </a:solidFill>
                              <a:latin typeface="Segoe UI"/>
                            </a:rPr>
                            <a:t>Representativeness of S over candidate pool D</a:t>
                          </a:r>
                        </a:p>
                      </a:txBody>
                      <a:tcPr anchor="ctr">
                        <a:solidFill>
                          <a:srgbClr val="212636"/>
                        </a:solidFill>
                      </a:tcPr>
                    </a:tc>
                    <a:extLst>
                      <a:ext uri="{0D108BD9-81ED-4DB2-BD59-A6C34878D82A}">
                        <a16:rowId xmlns:a16="http://schemas.microsoft.com/office/drawing/2014/main" val="10002"/>
                      </a:ext>
                    </a:extLst>
                  </a:tr>
                  <a:tr h="863777">
                    <a:tc>
                      <a:txBody>
                        <a:bodyPr/>
                        <a:lstStyle/>
                        <a:p>
                          <a:pPr algn="l"/>
                          <a:r>
                            <a:rPr sz="1400" b="1" i="0">
                              <a:solidFill>
                                <a:srgbClr val="4F8CFF"/>
                              </a:solidFill>
                              <a:latin typeface="Segoe UI"/>
                            </a:rPr>
                            <a:t>Jaccard</a:t>
                          </a:r>
                        </a:p>
                      </a:txBody>
                      <a:tcPr anchor="ctr">
                        <a:solidFill>
                          <a:srgbClr val="1C212F"/>
                        </a:solidFill>
                      </a:tcPr>
                    </a:tc>
                    <a:tc>
                      <a:txBody>
                        <a:bodyPr/>
                        <a:lstStyle/>
                        <a:p>
                          <a:pPr algn="l"/>
                          <a14:m>
                            <m:oMathPara xmlns:m="http://schemas.openxmlformats.org/officeDocument/2006/math">
                              <m:oMathParaPr>
                                <m:jc m:val="left"/>
                              </m:oMathParaPr>
                              <m:oMath xmlns:m="http://schemas.openxmlformats.org/officeDocument/2006/math">
                                <m:r>
                                  <a:rPr lang="en-001" sz="1800" b="0" i="1" dirty="0" smtClean="0">
                                    <a:solidFill>
                                      <a:srgbClr val="F0F0F5"/>
                                    </a:solidFill>
                                    <a:latin typeface="Cambria Math" panose="02040503050406030204" pitchFamily="18" charset="0"/>
                                  </a:rPr>
                                  <m:t>𝐽</m:t>
                                </m:r>
                                <m:r>
                                  <a:rPr lang="en-001" sz="1800" b="0" i="1" dirty="0" smtClean="0">
                                    <a:solidFill>
                                      <a:srgbClr val="F0F0F5"/>
                                    </a:solidFill>
                                    <a:latin typeface="Cambria Math" panose="02040503050406030204" pitchFamily="18" charset="0"/>
                                  </a:rPr>
                                  <m:t>(</m:t>
                                </m:r>
                                <m:sSub>
                                  <m:sSubPr>
                                    <m:ctrlPr>
                                      <a:rPr lang="en-001" sz="1800" b="0" i="1" dirty="0" smtClean="0">
                                        <a:solidFill>
                                          <a:srgbClr val="F0F0F5"/>
                                        </a:solidFill>
                                        <a:latin typeface="Cambria Math" panose="02040503050406030204" pitchFamily="18" charset="0"/>
                                      </a:rPr>
                                    </m:ctrlPr>
                                  </m:sSubPr>
                                  <m:e>
                                    <m:r>
                                      <a:rPr lang="en-US" sz="1800" b="0" i="1" dirty="0" smtClean="0">
                                        <a:solidFill>
                                          <a:srgbClr val="F0F0F5"/>
                                        </a:solidFill>
                                        <a:latin typeface="Cambria Math" panose="02040503050406030204" pitchFamily="18" charset="0"/>
                                      </a:rPr>
                                      <m:t>𝑆</m:t>
                                    </m:r>
                                  </m:e>
                                  <m:sub>
                                    <m:r>
                                      <a:rPr lang="en-US" sz="1800" b="0" i="1" dirty="0" smtClean="0">
                                        <a:solidFill>
                                          <a:srgbClr val="F0F0F5"/>
                                        </a:solidFill>
                                        <a:latin typeface="Cambria Math" panose="02040503050406030204" pitchFamily="18" charset="0"/>
                                      </a:rPr>
                                      <m:t>𝑐𝑜𝑣</m:t>
                                    </m:r>
                                  </m:sub>
                                </m:sSub>
                                <m:r>
                                  <a:rPr lang="en-US" sz="1800" b="0" i="1" dirty="0" smtClean="0">
                                    <a:solidFill>
                                      <a:srgbClr val="F0F0F5"/>
                                    </a:solidFill>
                                    <a:latin typeface="Cambria Math" panose="02040503050406030204" pitchFamily="18" charset="0"/>
                                  </a:rPr>
                                  <m:t> </m:t>
                                </m:r>
                                <m:r>
                                  <a:rPr lang="en-001" sz="1800" b="0" i="1" dirty="0" smtClean="0">
                                    <a:solidFill>
                                      <a:srgbClr val="F0F0F5"/>
                                    </a:solidFill>
                                    <a:latin typeface="Cambria Math" panose="02040503050406030204" pitchFamily="18" charset="0"/>
                                  </a:rPr>
                                  <m:t>,</m:t>
                                </m:r>
                                <m:sSub>
                                  <m:sSubPr>
                                    <m:ctrlPr>
                                      <a:rPr lang="en-001" sz="1800" b="0" i="1" dirty="0" smtClean="0">
                                        <a:solidFill>
                                          <a:srgbClr val="F0F0F5"/>
                                        </a:solidFill>
                                        <a:latin typeface="Cambria Math" panose="02040503050406030204" pitchFamily="18" charset="0"/>
                                      </a:rPr>
                                    </m:ctrlPr>
                                  </m:sSubPr>
                                  <m:e>
                                    <m:r>
                                      <a:rPr lang="en-US" sz="1800" b="0" i="1" dirty="0" smtClean="0">
                                        <a:solidFill>
                                          <a:srgbClr val="F0F0F5"/>
                                        </a:solidFill>
                                        <a:latin typeface="Cambria Math" panose="02040503050406030204" pitchFamily="18" charset="0"/>
                                      </a:rPr>
                                      <m:t> </m:t>
                                    </m:r>
                                    <m:r>
                                      <a:rPr lang="en-US" sz="1800" b="0" i="1" dirty="0" smtClean="0">
                                        <a:solidFill>
                                          <a:srgbClr val="F0F0F5"/>
                                        </a:solidFill>
                                        <a:latin typeface="Cambria Math" panose="02040503050406030204" pitchFamily="18" charset="0"/>
                                      </a:rPr>
                                      <m:t>𝑆</m:t>
                                    </m:r>
                                  </m:e>
                                  <m:sub>
                                    <m:r>
                                      <a:rPr lang="en-US" sz="1800" b="0" i="1" dirty="0" smtClean="0">
                                        <a:solidFill>
                                          <a:srgbClr val="F0F0F5"/>
                                        </a:solidFill>
                                        <a:latin typeface="Cambria Math" panose="02040503050406030204" pitchFamily="18" charset="0"/>
                                      </a:rPr>
                                      <m:t>𝑡𝑜𝑝</m:t>
                                    </m:r>
                                    <m:r>
                                      <a:rPr lang="en-US" sz="1800" b="0" i="1" dirty="0" smtClean="0">
                                        <a:solidFill>
                                          <a:srgbClr val="F0F0F5"/>
                                        </a:solidFill>
                                        <a:latin typeface="Cambria Math" panose="02040503050406030204" pitchFamily="18" charset="0"/>
                                      </a:rPr>
                                      <m:t>−</m:t>
                                    </m:r>
                                    <m:r>
                                      <a:rPr lang="en-US" sz="1800" b="0" i="1" dirty="0" smtClean="0">
                                        <a:solidFill>
                                          <a:srgbClr val="F0F0F5"/>
                                        </a:solidFill>
                                        <a:latin typeface="Cambria Math" panose="02040503050406030204" pitchFamily="18" charset="0"/>
                                      </a:rPr>
                                      <m:t>𝑘</m:t>
                                    </m:r>
                                  </m:sub>
                                </m:sSub>
                                <m:r>
                                  <a:rPr lang="en-001" sz="1800" b="0" i="1" dirty="0" smtClean="0">
                                    <a:solidFill>
                                      <a:srgbClr val="F0F0F5"/>
                                    </a:solidFill>
                                    <a:latin typeface="Cambria Math" panose="02040503050406030204" pitchFamily="18" charset="0"/>
                                  </a:rPr>
                                  <m:t>)</m:t>
                                </m:r>
                              </m:oMath>
                            </m:oMathPara>
                          </a14:m>
                          <a:endParaRPr sz="2400" dirty="0"/>
                        </a:p>
                      </a:txBody>
                      <a:tcPr anchor="ctr">
                        <a:solidFill>
                          <a:srgbClr val="1C212F"/>
                        </a:solidFill>
                      </a:tcPr>
                    </a:tc>
                    <a:tc>
                      <a:txBody>
                        <a:bodyPr/>
                        <a:lstStyle/>
                        <a:p>
                          <a:pPr algn="l"/>
                          <a:r>
                            <a:rPr sz="1600" b="0" i="0" dirty="0">
                              <a:solidFill>
                                <a:srgbClr val="F0F0F5"/>
                              </a:solidFill>
                              <a:latin typeface="Segoe UI"/>
                            </a:rPr>
                            <a:t>Overlap with baseline</a:t>
                          </a:r>
                          <a:r>
                            <a:rPr lang="en-US" sz="1600" b="0" i="0" dirty="0">
                              <a:solidFill>
                                <a:srgbClr val="F0F0F5"/>
                              </a:solidFill>
                              <a:latin typeface="Segoe UI"/>
                            </a:rPr>
                            <a:t>. </a:t>
                          </a:r>
                          <a:r>
                            <a:rPr sz="1600" b="0" i="0" dirty="0">
                              <a:solidFill>
                                <a:srgbClr val="F0F0F5"/>
                              </a:solidFill>
                              <a:latin typeface="Segoe UI"/>
                            </a:rPr>
                            <a:t>J≈1: no change</a:t>
                          </a:r>
                        </a:p>
                      </a:txBody>
                      <a:tcPr anchor="ctr">
                        <a:solidFill>
                          <a:srgbClr val="1C212F"/>
                        </a:solidFill>
                      </a:tcPr>
                    </a:tc>
                    <a:extLst>
                      <a:ext uri="{0D108BD9-81ED-4DB2-BD59-A6C34878D82A}">
                        <a16:rowId xmlns:a16="http://schemas.microsoft.com/office/drawing/2014/main" val="10003"/>
                      </a:ext>
                    </a:extLst>
                  </a:tr>
                  <a:tr h="725573">
                    <a:tc>
                      <a:txBody>
                        <a:bodyPr/>
                        <a:lstStyle/>
                        <a:p>
                          <a:pPr algn="l"/>
                          <a:r>
                            <a:rPr lang="en-US" sz="1400" b="1" i="0" dirty="0" err="1">
                              <a:solidFill>
                                <a:srgbClr val="4F8CFF"/>
                              </a:solidFill>
                              <a:latin typeface="Segoe UI"/>
                            </a:rPr>
                            <a:t>GoldRecall</a:t>
                          </a:r>
                          <a:endParaRPr sz="1400" b="1" i="0" dirty="0">
                            <a:solidFill>
                              <a:srgbClr val="4F8CFF"/>
                            </a:solidFill>
                            <a:latin typeface="Segoe UI"/>
                          </a:endParaRPr>
                        </a:p>
                      </a:txBody>
                      <a:tcPr anchor="ctr">
                        <a:solidFill>
                          <a:srgbClr val="212636"/>
                        </a:solidFill>
                      </a:tcPr>
                    </a:tc>
                    <a:tc>
                      <a:txBody>
                        <a:bodyPr/>
                        <a:lstStyle/>
                        <a:p>
                          <a:pPr algn="l"/>
                          <a:r>
                            <a:rPr sz="1600" b="0" i="0" dirty="0">
                              <a:solidFill>
                                <a:srgbClr val="F0F0F5"/>
                              </a:solidFill>
                              <a:latin typeface="Segoe UI"/>
                            </a:rPr>
                            <a:t>Gold doc fraction recovered</a:t>
                          </a:r>
                        </a:p>
                      </a:txBody>
                      <a:tcPr anchor="ctr">
                        <a:solidFill>
                          <a:srgbClr val="212636"/>
                        </a:solidFill>
                      </a:tcPr>
                    </a:tc>
                    <a:tc>
                      <a:txBody>
                        <a:bodyPr/>
                        <a:lstStyle/>
                        <a:p>
                          <a:pPr algn="l"/>
                          <a:r>
                            <a:rPr sz="1600" b="0" i="0" dirty="0">
                              <a:solidFill>
                                <a:srgbClr val="F0F0F5"/>
                              </a:solidFill>
                              <a:latin typeface="Segoe UI"/>
                            </a:rPr>
                            <a:t>How many gold documents/facts are in the selection</a:t>
                          </a:r>
                        </a:p>
                      </a:txBody>
                      <a:tcPr anchor="ctr">
                        <a:solidFill>
                          <a:srgbClr val="212636"/>
                        </a:solidFill>
                      </a:tcPr>
                    </a:tc>
                    <a:extLst>
                      <a:ext uri="{0D108BD9-81ED-4DB2-BD59-A6C34878D82A}">
                        <a16:rowId xmlns:a16="http://schemas.microsoft.com/office/drawing/2014/main" val="10004"/>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3214388658"/>
                  </p:ext>
                </p:extLst>
              </p:nvPr>
            </p:nvGraphicFramePr>
            <p:xfrm>
              <a:off x="1046480" y="1645919"/>
              <a:ext cx="10099040" cy="4652879"/>
            </p:xfrm>
            <a:graphic>
              <a:graphicData uri="http://schemas.openxmlformats.org/drawingml/2006/table">
                <a:tbl>
                  <a:tblPr>
                    <a:tableStyleId>{00000000-0000-0000-0000-000000000000}</a:tableStyleId>
                  </a:tblPr>
                  <a:tblGrid>
                    <a:gridCol w="1828800">
                      <a:extLst>
                        <a:ext uri="{9D8B030D-6E8A-4147-A177-3AD203B41FA5}">
                          <a16:colId xmlns:a16="http://schemas.microsoft.com/office/drawing/2014/main" val="20000"/>
                        </a:ext>
                      </a:extLst>
                    </a:gridCol>
                    <a:gridCol w="4421393">
                      <a:extLst>
                        <a:ext uri="{9D8B030D-6E8A-4147-A177-3AD203B41FA5}">
                          <a16:colId xmlns:a16="http://schemas.microsoft.com/office/drawing/2014/main" val="20001"/>
                        </a:ext>
                      </a:extLst>
                    </a:gridCol>
                    <a:gridCol w="3848847">
                      <a:extLst>
                        <a:ext uri="{9D8B030D-6E8A-4147-A177-3AD203B41FA5}">
                          <a16:colId xmlns:a16="http://schemas.microsoft.com/office/drawing/2014/main" val="20002"/>
                        </a:ext>
                      </a:extLst>
                    </a:gridCol>
                  </a:tblGrid>
                  <a:tr h="483715">
                    <a:tc>
                      <a:txBody>
                        <a:bodyPr/>
                        <a:lstStyle/>
                        <a:p>
                          <a:pPr algn="ctr"/>
                          <a:r>
                            <a:rPr sz="1500" b="1" i="0" dirty="0">
                              <a:solidFill>
                                <a:schemeClr val="bg1"/>
                              </a:solidFill>
                              <a:latin typeface="Segoe UI"/>
                            </a:rPr>
                            <a:t>Metric</a:t>
                          </a:r>
                        </a:p>
                      </a:txBody>
                      <a:tcPr anchor="ctr">
                        <a:solidFill>
                          <a:schemeClr val="tx2"/>
                        </a:solidFill>
                      </a:tcPr>
                    </a:tc>
                    <a:tc>
                      <a:txBody>
                        <a:bodyPr/>
                        <a:lstStyle/>
                        <a:p>
                          <a:pPr algn="ctr"/>
                          <a:r>
                            <a:rPr sz="1500" b="1" i="0" dirty="0">
                              <a:solidFill>
                                <a:schemeClr val="bg1"/>
                              </a:solidFill>
                              <a:latin typeface="Segoe UI"/>
                            </a:rPr>
                            <a:t>Definition</a:t>
                          </a:r>
                        </a:p>
                      </a:txBody>
                      <a:tcPr anchor="ctr">
                        <a:solidFill>
                          <a:schemeClr val="tx2"/>
                        </a:solidFill>
                      </a:tcPr>
                    </a:tc>
                    <a:tc>
                      <a:txBody>
                        <a:bodyPr/>
                        <a:lstStyle/>
                        <a:p>
                          <a:pPr algn="ctr"/>
                          <a:r>
                            <a:rPr sz="1500" b="1" i="0" dirty="0">
                              <a:solidFill>
                                <a:schemeClr val="bg1"/>
                              </a:solidFill>
                              <a:latin typeface="Segoe UI"/>
                            </a:rPr>
                            <a:t>Measures</a:t>
                          </a:r>
                        </a:p>
                      </a:txBody>
                      <a:tcPr anchor="ctr">
                        <a:solidFill>
                          <a:schemeClr val="tx2"/>
                        </a:solidFill>
                      </a:tcPr>
                    </a:tc>
                    <a:extLst>
                      <a:ext uri="{0D108BD9-81ED-4DB2-BD59-A6C34878D82A}">
                        <a16:rowId xmlns:a16="http://schemas.microsoft.com/office/drawing/2014/main" val="10000"/>
                      </a:ext>
                    </a:extLst>
                  </a:tr>
                  <a:tr h="875294">
                    <a:tc>
                      <a:txBody>
                        <a:bodyPr/>
                        <a:lstStyle/>
                        <a:p>
                          <a:pPr algn="l"/>
                          <a:r>
                            <a:rPr sz="1400" b="1" i="0">
                              <a:solidFill>
                                <a:srgbClr val="4F8CFF"/>
                              </a:solidFill>
                              <a:latin typeface="Segoe UI"/>
                            </a:rPr>
                            <a:t>Aspect Recall</a:t>
                          </a:r>
                        </a:p>
                      </a:txBody>
                      <a:tcPr anchor="ctr">
                        <a:solidFill>
                          <a:srgbClr val="1C212F"/>
                        </a:solidFill>
                      </a:tcPr>
                    </a:tc>
                    <a:tc>
                      <a:txBody>
                        <a:bodyPr/>
                        <a:lstStyle/>
                        <a:p>
                          <a:endParaRPr lang="LID4096"/>
                        </a:p>
                      </a:txBody>
                      <a:tcPr anchor="ctr">
                        <a:blipFill>
                          <a:blip r:embed="rId2"/>
                          <a:stretch>
                            <a:fillRect l="-41460" t="-56643" r="-87328" b="-380420"/>
                          </a:stretch>
                        </a:blipFill>
                      </a:tcPr>
                    </a:tc>
                    <a:tc>
                      <a:txBody>
                        <a:bodyPr/>
                        <a:lstStyle/>
                        <a:p>
                          <a:pPr algn="l"/>
                          <a:r>
                            <a:rPr sz="1600" b="0" i="0" dirty="0">
                              <a:solidFill>
                                <a:srgbClr val="F0F0F5"/>
                              </a:solidFill>
                              <a:latin typeface="Segoe UI"/>
                            </a:rPr>
                            <a:t>Fraction of annotated facets covered by selected k chunks</a:t>
                          </a:r>
                        </a:p>
                      </a:txBody>
                      <a:tcPr anchor="ctr">
                        <a:solidFill>
                          <a:srgbClr val="1C212F"/>
                        </a:solidFill>
                      </a:tcPr>
                    </a:tc>
                    <a:extLst>
                      <a:ext uri="{0D108BD9-81ED-4DB2-BD59-A6C34878D82A}">
                        <a16:rowId xmlns:a16="http://schemas.microsoft.com/office/drawing/2014/main" val="10001"/>
                      </a:ext>
                    </a:extLst>
                  </a:tr>
                  <a:tr h="875294">
                    <a:tc>
                      <a:txBody>
                        <a:bodyPr/>
                        <a:lstStyle/>
                        <a:p>
                          <a:pPr algn="l"/>
                          <a:r>
                            <a:rPr lang="en-US" sz="1400" b="1" i="0" dirty="0">
                              <a:solidFill>
                                <a:srgbClr val="4F8CFF"/>
                              </a:solidFill>
                              <a:latin typeface="Segoe UI"/>
                            </a:rPr>
                            <a:t>Weighted Aspect Recall</a:t>
                          </a:r>
                          <a:endParaRPr sz="1400" b="1" i="0" dirty="0">
                            <a:solidFill>
                              <a:srgbClr val="4F8CFF"/>
                            </a:solidFill>
                            <a:latin typeface="Segoe UI"/>
                          </a:endParaRPr>
                        </a:p>
                      </a:txBody>
                      <a:tcPr anchor="ctr">
                        <a:solidFill>
                          <a:srgbClr val="1C212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600" b="0" i="0" dirty="0">
                              <a:solidFill>
                                <a:srgbClr val="F0F0F5"/>
                              </a:solidFill>
                              <a:latin typeface="Segoe UI"/>
                            </a:rPr>
                            <a:t>retrieved gold chunks / total gold chunks for a facet</a:t>
                          </a:r>
                          <a:endParaRPr sz="1600" dirty="0"/>
                        </a:p>
                      </a:txBody>
                      <a:tcPr anchor="ctr">
                        <a:solidFill>
                          <a:srgbClr val="1C212F"/>
                        </a:solidFill>
                      </a:tcPr>
                    </a:tc>
                    <a:tc>
                      <a:txBody>
                        <a:bodyPr/>
                        <a:lstStyle/>
                        <a:p>
                          <a:pPr algn="l"/>
                          <a:r>
                            <a:rPr lang="en-US" sz="1600" b="0" i="0" dirty="0">
                              <a:solidFill>
                                <a:srgbClr val="F0F0F5"/>
                              </a:solidFill>
                              <a:latin typeface="Segoe UI"/>
                            </a:rPr>
                            <a:t>measures how completely each facet is covered</a:t>
                          </a:r>
                          <a:endParaRPr sz="1600" b="0" i="0" dirty="0">
                            <a:solidFill>
                              <a:srgbClr val="F0F0F5"/>
                            </a:solidFill>
                            <a:latin typeface="Segoe UI"/>
                          </a:endParaRPr>
                        </a:p>
                      </a:txBody>
                      <a:tcPr anchor="ctr">
                        <a:solidFill>
                          <a:srgbClr val="1C212F"/>
                        </a:solidFill>
                      </a:tcPr>
                    </a:tc>
                    <a:extLst>
                      <a:ext uri="{0D108BD9-81ED-4DB2-BD59-A6C34878D82A}">
                        <a16:rowId xmlns:a16="http://schemas.microsoft.com/office/drawing/2014/main" val="3597994416"/>
                      </a:ext>
                    </a:extLst>
                  </a:tr>
                  <a:tr h="829226">
                    <a:tc>
                      <a:txBody>
                        <a:bodyPr/>
                        <a:lstStyle/>
                        <a:p>
                          <a:pPr algn="l"/>
                          <a:r>
                            <a:rPr sz="1400" b="1" i="0" dirty="0">
                              <a:solidFill>
                                <a:srgbClr val="4F8CFF"/>
                              </a:solidFill>
                              <a:latin typeface="Segoe UI"/>
                            </a:rPr>
                            <a:t>Fac</a:t>
                          </a:r>
                          <a:r>
                            <a:rPr lang="en-US" sz="1400" b="1" i="0" dirty="0">
                              <a:solidFill>
                                <a:srgbClr val="4F8CFF"/>
                              </a:solidFill>
                              <a:latin typeface="Segoe UI"/>
                            </a:rPr>
                            <a:t>-Loc</a:t>
                          </a:r>
                          <a:r>
                            <a:rPr sz="1400" b="1" i="0" dirty="0">
                              <a:solidFill>
                                <a:srgbClr val="4F8CFF"/>
                              </a:solidFill>
                              <a:latin typeface="Segoe UI"/>
                            </a:rPr>
                            <a:t> Score</a:t>
                          </a:r>
                        </a:p>
                      </a:txBody>
                      <a:tcPr anchor="ctr">
                        <a:solidFill>
                          <a:srgbClr val="212636"/>
                        </a:solidFill>
                      </a:tcPr>
                    </a:tc>
                    <a:tc>
                      <a:txBody>
                        <a:bodyPr/>
                        <a:lstStyle/>
                        <a:p>
                          <a:endParaRPr lang="LID4096"/>
                        </a:p>
                      </a:txBody>
                      <a:tcPr anchor="ctr">
                        <a:blipFill>
                          <a:blip r:embed="rId2"/>
                          <a:stretch>
                            <a:fillRect l="-41460" t="-268613" r="-87328" b="-191971"/>
                          </a:stretch>
                        </a:blipFill>
                      </a:tcPr>
                    </a:tc>
                    <a:tc>
                      <a:txBody>
                        <a:bodyPr/>
                        <a:lstStyle/>
                        <a:p>
                          <a:pPr algn="l"/>
                          <a:r>
                            <a:rPr sz="1600" b="0" i="0">
                              <a:solidFill>
                                <a:srgbClr val="F0F0F5"/>
                              </a:solidFill>
                              <a:latin typeface="Segoe UI"/>
                            </a:rPr>
                            <a:t>Representativeness of S over candidate pool D</a:t>
                          </a:r>
                        </a:p>
                      </a:txBody>
                      <a:tcPr anchor="ctr">
                        <a:solidFill>
                          <a:srgbClr val="212636"/>
                        </a:solidFill>
                      </a:tcPr>
                    </a:tc>
                    <a:extLst>
                      <a:ext uri="{0D108BD9-81ED-4DB2-BD59-A6C34878D82A}">
                        <a16:rowId xmlns:a16="http://schemas.microsoft.com/office/drawing/2014/main" val="10002"/>
                      </a:ext>
                    </a:extLst>
                  </a:tr>
                  <a:tr h="863777">
                    <a:tc>
                      <a:txBody>
                        <a:bodyPr/>
                        <a:lstStyle/>
                        <a:p>
                          <a:pPr algn="l"/>
                          <a:r>
                            <a:rPr sz="1400" b="1" i="0">
                              <a:solidFill>
                                <a:srgbClr val="4F8CFF"/>
                              </a:solidFill>
                              <a:latin typeface="Segoe UI"/>
                            </a:rPr>
                            <a:t>Jaccard</a:t>
                          </a:r>
                        </a:p>
                      </a:txBody>
                      <a:tcPr anchor="ctr">
                        <a:solidFill>
                          <a:srgbClr val="1C212F"/>
                        </a:solidFill>
                      </a:tcPr>
                    </a:tc>
                    <a:tc>
                      <a:txBody>
                        <a:bodyPr/>
                        <a:lstStyle/>
                        <a:p>
                          <a:endParaRPr lang="LID4096"/>
                        </a:p>
                      </a:txBody>
                      <a:tcPr anchor="ctr">
                        <a:blipFill>
                          <a:blip r:embed="rId2"/>
                          <a:stretch>
                            <a:fillRect l="-41460" t="-355634" r="-87328" b="-85211"/>
                          </a:stretch>
                        </a:blipFill>
                      </a:tcPr>
                    </a:tc>
                    <a:tc>
                      <a:txBody>
                        <a:bodyPr/>
                        <a:lstStyle/>
                        <a:p>
                          <a:pPr algn="l"/>
                          <a:r>
                            <a:rPr sz="1600" b="0" i="0" dirty="0">
                              <a:solidFill>
                                <a:srgbClr val="F0F0F5"/>
                              </a:solidFill>
                              <a:latin typeface="Segoe UI"/>
                            </a:rPr>
                            <a:t>Overlap with baseline</a:t>
                          </a:r>
                          <a:r>
                            <a:rPr lang="en-US" sz="1600" b="0" i="0" dirty="0">
                              <a:solidFill>
                                <a:srgbClr val="F0F0F5"/>
                              </a:solidFill>
                              <a:latin typeface="Segoe UI"/>
                            </a:rPr>
                            <a:t>. </a:t>
                          </a:r>
                          <a:r>
                            <a:rPr sz="1600" b="0" i="0" dirty="0">
                              <a:solidFill>
                                <a:srgbClr val="F0F0F5"/>
                              </a:solidFill>
                              <a:latin typeface="Segoe UI"/>
                            </a:rPr>
                            <a:t>J≈1: no change</a:t>
                          </a:r>
                        </a:p>
                      </a:txBody>
                      <a:tcPr anchor="ctr">
                        <a:solidFill>
                          <a:srgbClr val="1C212F"/>
                        </a:solidFill>
                      </a:tcPr>
                    </a:tc>
                    <a:extLst>
                      <a:ext uri="{0D108BD9-81ED-4DB2-BD59-A6C34878D82A}">
                        <a16:rowId xmlns:a16="http://schemas.microsoft.com/office/drawing/2014/main" val="10003"/>
                      </a:ext>
                    </a:extLst>
                  </a:tr>
                  <a:tr h="725573">
                    <a:tc>
                      <a:txBody>
                        <a:bodyPr/>
                        <a:lstStyle/>
                        <a:p>
                          <a:pPr algn="l"/>
                          <a:r>
                            <a:rPr lang="en-US" sz="1400" b="1" i="0" dirty="0" err="1">
                              <a:solidFill>
                                <a:srgbClr val="4F8CFF"/>
                              </a:solidFill>
                              <a:latin typeface="Segoe UI"/>
                            </a:rPr>
                            <a:t>GoldRecall</a:t>
                          </a:r>
                          <a:endParaRPr sz="1400" b="1" i="0" dirty="0">
                            <a:solidFill>
                              <a:srgbClr val="4F8CFF"/>
                            </a:solidFill>
                            <a:latin typeface="Segoe UI"/>
                          </a:endParaRPr>
                        </a:p>
                      </a:txBody>
                      <a:tcPr anchor="ctr">
                        <a:solidFill>
                          <a:srgbClr val="212636"/>
                        </a:solidFill>
                      </a:tcPr>
                    </a:tc>
                    <a:tc>
                      <a:txBody>
                        <a:bodyPr/>
                        <a:lstStyle/>
                        <a:p>
                          <a:pPr algn="l"/>
                          <a:r>
                            <a:rPr sz="1600" b="0" i="0" dirty="0">
                              <a:solidFill>
                                <a:srgbClr val="F0F0F5"/>
                              </a:solidFill>
                              <a:latin typeface="Segoe UI"/>
                            </a:rPr>
                            <a:t>Gold doc fraction recovered</a:t>
                          </a:r>
                        </a:p>
                      </a:txBody>
                      <a:tcPr anchor="ctr">
                        <a:solidFill>
                          <a:srgbClr val="212636"/>
                        </a:solidFill>
                      </a:tcPr>
                    </a:tc>
                    <a:tc>
                      <a:txBody>
                        <a:bodyPr/>
                        <a:lstStyle/>
                        <a:p>
                          <a:pPr algn="l"/>
                          <a:r>
                            <a:rPr sz="1600" b="0" i="0" dirty="0">
                              <a:solidFill>
                                <a:srgbClr val="F0F0F5"/>
                              </a:solidFill>
                              <a:latin typeface="Segoe UI"/>
                            </a:rPr>
                            <a:t>How many gold documents/facts are in the selection</a:t>
                          </a:r>
                        </a:p>
                      </a:txBody>
                      <a:tcPr anchor="ctr">
                        <a:solidFill>
                          <a:srgbClr val="212636"/>
                        </a:solidFill>
                      </a:tcPr>
                    </a:tc>
                    <a:extLst>
                      <a:ext uri="{0D108BD9-81ED-4DB2-BD59-A6C34878D82A}">
                        <a16:rowId xmlns:a16="http://schemas.microsoft.com/office/drawing/2014/main" val="10004"/>
                      </a:ext>
                    </a:extLst>
                  </a:tr>
                </a:tbl>
              </a:graphicData>
            </a:graphic>
          </p:graphicFrame>
        </mc:Fallback>
      </mc:AlternateContent>
      <p:sp>
        <p:nvSpPr>
          <p:cNvPr id="7" name="TextBox 6"/>
          <p:cNvSpPr txBox="1"/>
          <p:nvPr/>
        </p:nvSpPr>
        <p:spPr>
          <a:xfrm>
            <a:off x="4895427" y="443350"/>
            <a:ext cx="6796476" cy="400110"/>
          </a:xfrm>
          <a:prstGeom prst="rect">
            <a:avLst/>
          </a:prstGeom>
          <a:noFill/>
        </p:spPr>
        <p:txBody>
          <a:bodyPr wrap="none">
            <a:spAutoFit/>
          </a:bodyPr>
          <a:lstStyle/>
          <a:p>
            <a:r>
              <a:rPr sz="2000" b="1" i="0" dirty="0">
                <a:solidFill>
                  <a:schemeClr val="bg1"/>
                </a:solidFill>
                <a:latin typeface="Segoe UI"/>
              </a:rPr>
              <a:t>Methods: </a:t>
            </a:r>
            <a:r>
              <a:rPr sz="2000" b="0" i="0" dirty="0">
                <a:solidFill>
                  <a:schemeClr val="bg1"/>
                </a:solidFill>
                <a:latin typeface="Segoe UI"/>
              </a:rPr>
              <a:t>top-k (baseline)</a:t>
            </a:r>
            <a:r>
              <a:rPr lang="en-US" sz="2000" b="0" i="0" dirty="0">
                <a:solidFill>
                  <a:schemeClr val="bg1"/>
                </a:solidFill>
                <a:latin typeface="Segoe UI"/>
              </a:rPr>
              <a:t>, </a:t>
            </a:r>
            <a:r>
              <a:rPr sz="2000" b="0" i="0" dirty="0">
                <a:solidFill>
                  <a:srgbClr val="FFAB40"/>
                </a:solidFill>
                <a:latin typeface="Segoe UI"/>
              </a:rPr>
              <a:t>MMR</a:t>
            </a:r>
            <a:r>
              <a:rPr lang="en-US" sz="2000" dirty="0">
                <a:solidFill>
                  <a:srgbClr val="FFAB40"/>
                </a:solidFill>
                <a:latin typeface="Segoe UI"/>
              </a:rPr>
              <a:t>, </a:t>
            </a:r>
            <a:r>
              <a:rPr sz="2000" b="0" i="0" dirty="0" err="1">
                <a:solidFill>
                  <a:srgbClr val="FFAB40"/>
                </a:solidFill>
                <a:latin typeface="Segoe UI"/>
              </a:rPr>
              <a:t>gMMR</a:t>
            </a:r>
            <a:r>
              <a:rPr lang="en-US" sz="2000" dirty="0">
                <a:solidFill>
                  <a:srgbClr val="FFAB40"/>
                </a:solidFill>
                <a:latin typeface="Segoe UI"/>
              </a:rPr>
              <a:t>, </a:t>
            </a:r>
            <a:r>
              <a:rPr sz="2000" b="0" i="0" dirty="0">
                <a:solidFill>
                  <a:srgbClr val="48C78E"/>
                </a:solidFill>
                <a:latin typeface="Segoe UI"/>
              </a:rPr>
              <a:t>facility-location  </a:t>
            </a:r>
          </a:p>
        </p:txBody>
      </p:sp>
      <p:sp>
        <p:nvSpPr>
          <p:cNvPr id="8" name="Slide Number Placeholder 7">
            <a:extLst>
              <a:ext uri="{FF2B5EF4-FFF2-40B4-BE49-F238E27FC236}">
                <a16:creationId xmlns:a16="http://schemas.microsoft.com/office/drawing/2014/main" id="{1F173B3C-97BE-4147-7F6C-D9BCF4C9B38F}"/>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81C27"/>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584775"/>
          </a:xfrm>
          <a:prstGeom prst="rect">
            <a:avLst/>
          </a:prstGeom>
          <a:noFill/>
        </p:spPr>
        <p:txBody>
          <a:bodyPr wrap="square">
            <a:spAutoFit/>
          </a:bodyPr>
          <a:lstStyle/>
          <a:p>
            <a:r>
              <a:rPr lang="en-US" sz="3200" b="1" i="0" dirty="0">
                <a:solidFill>
                  <a:srgbClr val="F0F0F5"/>
                </a:solidFill>
                <a:latin typeface="Segoe UI"/>
              </a:rPr>
              <a:t>Pros &amp; Cons</a:t>
            </a:r>
            <a:endParaRPr sz="3200" b="1" i="0" dirty="0">
              <a:solidFill>
                <a:srgbClr val="F0F0F5"/>
              </a:solidFill>
              <a:latin typeface="Segoe UI"/>
            </a:endParaRPr>
          </a:p>
        </p:txBody>
      </p:sp>
      <p:sp>
        <p:nvSpPr>
          <p:cNvPr id="5" name="Rectangle 4"/>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22960" y="1427554"/>
            <a:ext cx="5212080" cy="2709284"/>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lang="it-IT" sz="2400" i="0" dirty="0">
                <a:solidFill>
                  <a:srgbClr val="48C78E"/>
                </a:solidFill>
                <a:latin typeface="Segoe UI"/>
              </a:rPr>
              <a:t>Pros</a:t>
            </a:r>
            <a:endParaRPr lang="en-001" sz="2800" i="0" dirty="0">
              <a:solidFill>
                <a:srgbClr val="48C78E"/>
              </a:solidFill>
              <a:latin typeface="Segoe UI"/>
            </a:endParaRPr>
          </a:p>
          <a:p>
            <a:pPr marL="285750" indent="-285750">
              <a:spcBef>
                <a:spcPts val="500"/>
              </a:spcBef>
              <a:spcAft>
                <a:spcPts val="300"/>
              </a:spcAft>
              <a:buFont typeface="Wingdings" panose="05000000000000000000" pitchFamily="2" charset="2"/>
              <a:buChar char="q"/>
            </a:pPr>
            <a:r>
              <a:rPr b="0" i="0" dirty="0">
                <a:solidFill>
                  <a:schemeClr val="bg1">
                    <a:lumMod val="95000"/>
                  </a:schemeClr>
                </a:solidFill>
                <a:latin typeface="Segoe UI"/>
              </a:rPr>
              <a:t>Multi-aspect queries tailored to coverage hypothesis</a:t>
            </a:r>
            <a:endParaRPr lang="en-US"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dirty="0">
                <a:solidFill>
                  <a:schemeClr val="bg1">
                    <a:lumMod val="95000"/>
                  </a:schemeClr>
                </a:solidFill>
                <a:latin typeface="Segoe UI"/>
              </a:rPr>
              <a:t>Dataset seems suitable for coverage</a:t>
            </a:r>
            <a:endParaRPr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b="0" i="0" dirty="0">
                <a:solidFill>
                  <a:schemeClr val="bg1">
                    <a:lumMod val="95000"/>
                  </a:schemeClr>
                </a:solidFill>
                <a:latin typeface="Segoe UI"/>
              </a:rPr>
              <a:t>Gold sets with facet labels enable </a:t>
            </a:r>
            <a:r>
              <a:rPr lang="en-US" b="0" i="0" dirty="0">
                <a:solidFill>
                  <a:schemeClr val="bg1">
                    <a:lumMod val="95000"/>
                  </a:schemeClr>
                </a:solidFill>
                <a:latin typeface="Segoe UI"/>
              </a:rPr>
              <a:t>granular evaluation metrics</a:t>
            </a:r>
            <a:endParaRPr b="0" i="0" dirty="0">
              <a:solidFill>
                <a:schemeClr val="bg1">
                  <a:lumMod val="95000"/>
                </a:schemeClr>
              </a:solidFill>
              <a:latin typeface="Segoe UI"/>
            </a:endParaRPr>
          </a:p>
        </p:txBody>
      </p:sp>
      <p:sp>
        <p:nvSpPr>
          <p:cNvPr id="7" name="Rectangle 6"/>
          <p:cNvSpPr/>
          <p:nvPr/>
        </p:nvSpPr>
        <p:spPr>
          <a:xfrm>
            <a:off x="6156962" y="1427554"/>
            <a:ext cx="5212080" cy="5156126"/>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lang="en-US" sz="2400" i="0" dirty="0">
                <a:solidFill>
                  <a:srgbClr val="EB5757"/>
                </a:solidFill>
                <a:latin typeface="Segoe UI"/>
              </a:rPr>
              <a:t>Cons</a:t>
            </a:r>
            <a:endParaRPr sz="1700" i="0" dirty="0">
              <a:solidFill>
                <a:srgbClr val="EB5757"/>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Discharge notes may be complex to parse and interpret</a:t>
            </a: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De-identification detrimental for semantics</a:t>
            </a:r>
            <a:endParaRPr lang="it-IT"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No guarantee about embedding distribution with the contextual prefix</a:t>
            </a: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Query is still LLM-generated</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b="0" i="0" dirty="0">
                <a:solidFill>
                  <a:schemeClr val="bg1">
                    <a:lumMod val="95000"/>
                  </a:schemeClr>
                </a:solidFill>
                <a:latin typeface="Segoe UI"/>
              </a:rPr>
              <a:t>LLM g</a:t>
            </a:r>
            <a:r>
              <a:rPr sz="1700" b="0" i="0" dirty="0">
                <a:solidFill>
                  <a:schemeClr val="bg1">
                    <a:lumMod val="95000"/>
                  </a:schemeClr>
                </a:solidFill>
                <a:latin typeface="Segoe UI"/>
              </a:rPr>
              <a:t>old annotation is expensive and noisy</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Facet labels depend on LLM judgment</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Local inference (DUA)</a:t>
            </a:r>
            <a:r>
              <a:rPr lang="en-US" sz="1700" b="0" i="0" dirty="0">
                <a:solidFill>
                  <a:schemeClr val="bg1">
                    <a:lumMod val="95000"/>
                  </a:schemeClr>
                </a:solidFill>
                <a:latin typeface="Segoe UI"/>
              </a:rPr>
              <a:t>. S</a:t>
            </a:r>
            <a:r>
              <a:rPr sz="1700" b="0" i="0" dirty="0">
                <a:solidFill>
                  <a:schemeClr val="bg1">
                    <a:lumMod val="95000"/>
                  </a:schemeClr>
                </a:solidFill>
                <a:latin typeface="Segoe UI"/>
              </a:rPr>
              <a:t>lower, smaller models</a:t>
            </a: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Many moving parts before first result</a:t>
            </a:r>
          </a:p>
          <a:p>
            <a:pPr marL="285750" indent="-285750">
              <a:spcBef>
                <a:spcPts val="500"/>
              </a:spcBef>
              <a:spcAft>
                <a:spcPts val="300"/>
              </a:spcAft>
              <a:buFont typeface="Wingdings" panose="05000000000000000000" pitchFamily="2" charset="2"/>
              <a:buChar char="q"/>
            </a:pPr>
            <a:r>
              <a:rPr sz="1700" b="0" i="0" dirty="0">
                <a:solidFill>
                  <a:schemeClr val="bg1">
                    <a:lumMod val="95000"/>
                  </a:schemeClr>
                </a:solidFill>
                <a:latin typeface="Segoe UI"/>
              </a:rPr>
              <a:t>No existing benchmark to compare against</a:t>
            </a:r>
            <a:endParaRPr lang="en-US" sz="1700" b="0" i="0" dirty="0">
              <a:solidFill>
                <a:schemeClr val="bg1">
                  <a:lumMod val="95000"/>
                </a:schemeClr>
              </a:solidFill>
              <a:latin typeface="Segoe UI"/>
            </a:endParaRPr>
          </a:p>
          <a:p>
            <a:pPr marL="285750" indent="-285750">
              <a:spcBef>
                <a:spcPts val="500"/>
              </a:spcBef>
              <a:spcAft>
                <a:spcPts val="300"/>
              </a:spcAft>
              <a:buFont typeface="Wingdings" panose="05000000000000000000" pitchFamily="2" charset="2"/>
              <a:buChar char="q"/>
            </a:pPr>
            <a:r>
              <a:rPr lang="it-IT" sz="1700" dirty="0">
                <a:solidFill>
                  <a:schemeClr val="bg1">
                    <a:lumMod val="95000"/>
                  </a:schemeClr>
                </a:solidFill>
                <a:latin typeface="Segoe UI"/>
              </a:rPr>
              <a:t>human validation?</a:t>
            </a:r>
            <a:endParaRPr sz="1700" dirty="0">
              <a:solidFill>
                <a:schemeClr val="bg1">
                  <a:lumMod val="95000"/>
                </a:schemeClr>
              </a:solidFill>
              <a:latin typeface="Segoe UI"/>
            </a:endParaRPr>
          </a:p>
        </p:txBody>
      </p:sp>
      <p:sp>
        <p:nvSpPr>
          <p:cNvPr id="8" name="Slide Number Placeholder 7">
            <a:extLst>
              <a:ext uri="{FF2B5EF4-FFF2-40B4-BE49-F238E27FC236}">
                <a16:creationId xmlns:a16="http://schemas.microsoft.com/office/drawing/2014/main" id="{387F070C-A8AA-4873-B4E4-9823FCA0F5A7}"/>
              </a:ext>
            </a:extLst>
          </p:cNvPr>
          <p:cNvSpPr>
            <a:spLocks noGrp="1"/>
          </p:cNvSpPr>
          <p:nvPr>
            <p:ph type="sldNum" sz="quarter" idx="12"/>
          </p:nvPr>
        </p:nvSpPr>
        <p:spPr/>
        <p:txBody>
          <a:bodyPr/>
          <a:lstStyle/>
          <a:p>
            <a:fld id="{C1FF6DA9-008F-8B48-92A6-B652298478BF}" type="slidenum">
              <a:rPr lang="en-US" smtClean="0"/>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18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286000"/>
            <a:ext cx="10332720" cy="707886"/>
          </a:xfrm>
          <a:prstGeom prst="rect">
            <a:avLst/>
          </a:prstGeom>
          <a:noFill/>
        </p:spPr>
        <p:txBody>
          <a:bodyPr wrap="square">
            <a:spAutoFit/>
          </a:bodyPr>
          <a:lstStyle/>
          <a:p>
            <a:pPr algn="l"/>
            <a:r>
              <a:rPr lang="en-US" sz="4000" b="1" i="0" dirty="0">
                <a:solidFill>
                  <a:srgbClr val="F0F0F5"/>
                </a:solidFill>
                <a:latin typeface="Segoe UI"/>
              </a:rPr>
              <a:t>End</a:t>
            </a:r>
            <a:endParaRPr sz="4000" b="1" i="0" dirty="0">
              <a:solidFill>
                <a:srgbClr val="F0F0F5"/>
              </a:solidFill>
              <a:latin typeface="Segoe UI"/>
            </a:endParaRPr>
          </a:p>
        </p:txBody>
      </p:sp>
      <p:sp>
        <p:nvSpPr>
          <p:cNvPr id="5" name="Rectangle 4"/>
          <p:cNvSpPr/>
          <p:nvPr/>
        </p:nvSpPr>
        <p:spPr>
          <a:xfrm>
            <a:off x="914400" y="3474720"/>
            <a:ext cx="1828800" cy="3810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Slide Number Placeholder 6">
            <a:extLst>
              <a:ext uri="{FF2B5EF4-FFF2-40B4-BE49-F238E27FC236}">
                <a16:creationId xmlns:a16="http://schemas.microsoft.com/office/drawing/2014/main" id="{87BB3AB3-DCF1-540C-C288-5BCA0E55725C}"/>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9C5F4-8223-E9FB-EB8A-8F57B746257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701B64-9C40-D0A3-AB0C-37DB0A227954}"/>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a:extLst>
              <a:ext uri="{FF2B5EF4-FFF2-40B4-BE49-F238E27FC236}">
                <a16:creationId xmlns:a16="http://schemas.microsoft.com/office/drawing/2014/main" id="{529D8355-DAF8-1591-12A0-7DAF2B7BCF15}"/>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40A02DE-5CD0-86E1-2DA1-119D8D1795C6}"/>
              </a:ext>
            </a:extLst>
          </p:cNvPr>
          <p:cNvSpPr txBox="1"/>
          <p:nvPr/>
        </p:nvSpPr>
        <p:spPr>
          <a:xfrm>
            <a:off x="874623" y="2689860"/>
            <a:ext cx="10515600" cy="584775"/>
          </a:xfrm>
          <a:prstGeom prst="rect">
            <a:avLst/>
          </a:prstGeom>
          <a:noFill/>
        </p:spPr>
        <p:txBody>
          <a:bodyPr wrap="square">
            <a:spAutoFit/>
          </a:bodyPr>
          <a:lstStyle/>
          <a:p>
            <a:r>
              <a:rPr lang="en-US" sz="3200" b="1" i="0" dirty="0">
                <a:solidFill>
                  <a:srgbClr val="F0F0F5"/>
                </a:solidFill>
                <a:latin typeface="Segoe UI"/>
              </a:rPr>
              <a:t>Extras</a:t>
            </a:r>
            <a:endParaRPr sz="3200" b="1" i="0" dirty="0">
              <a:solidFill>
                <a:srgbClr val="F0F0F5"/>
              </a:solidFill>
              <a:latin typeface="Segoe UI"/>
            </a:endParaRPr>
          </a:p>
        </p:txBody>
      </p:sp>
      <p:sp>
        <p:nvSpPr>
          <p:cNvPr id="6" name="Rectangle 5">
            <a:extLst>
              <a:ext uri="{FF2B5EF4-FFF2-40B4-BE49-F238E27FC236}">
                <a16:creationId xmlns:a16="http://schemas.microsoft.com/office/drawing/2014/main" id="{7D765DF7-D919-2F92-345E-A32C313FECE2}"/>
              </a:ext>
            </a:extLst>
          </p:cNvPr>
          <p:cNvSpPr/>
          <p:nvPr/>
        </p:nvSpPr>
        <p:spPr>
          <a:xfrm>
            <a:off x="995680" y="348107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Slide Number Placeholder 6">
            <a:extLst>
              <a:ext uri="{FF2B5EF4-FFF2-40B4-BE49-F238E27FC236}">
                <a16:creationId xmlns:a16="http://schemas.microsoft.com/office/drawing/2014/main" id="{3A0A71D0-EE7F-6BF3-1188-83C5839594F2}"/>
              </a:ext>
            </a:extLst>
          </p:cNvPr>
          <p:cNvSpPr>
            <a:spLocks noGrp="1"/>
          </p:cNvSpPr>
          <p:nvPr>
            <p:ph type="sldNum" sz="quarter" idx="12"/>
          </p:nvPr>
        </p:nvSpPr>
        <p:spPr/>
        <p:txBody>
          <a:bodyPr/>
          <a:lstStyle/>
          <a:p>
            <a:fld id="{C1FF6DA9-008F-8B48-92A6-B652298478BF}" type="slidenum">
              <a:rPr lang="en-US" smtClean="0"/>
              <a:t>19</a:t>
            </a:fld>
            <a:endParaRPr lang="en-US"/>
          </a:p>
        </p:txBody>
      </p:sp>
    </p:spTree>
    <p:extLst>
      <p:ext uri="{BB962C8B-B14F-4D97-AF65-F5344CB8AC3E}">
        <p14:creationId xmlns:p14="http://schemas.microsoft.com/office/powerpoint/2010/main" val="17765297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Pipeline Overview</a:t>
            </a:r>
          </a:p>
        </p:txBody>
      </p:sp>
      <p:sp>
        <p:nvSpPr>
          <p:cNvPr id="6" name="Rectangle 5"/>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7" name="Table 6"/>
          <p:cNvGraphicFramePr>
            <a:graphicFrameLocks noGrp="1"/>
          </p:cNvGraphicFramePr>
          <p:nvPr/>
        </p:nvGraphicFramePr>
        <p:xfrm>
          <a:off x="822960" y="1645920"/>
          <a:ext cx="10515600" cy="4338320"/>
        </p:xfrm>
        <a:graphic>
          <a:graphicData uri="http://schemas.openxmlformats.org/drawingml/2006/table">
            <a:tbl>
              <a:tblPr>
                <a:tableStyleId>{00000000-0000-0000-0000-000000000000}</a:tableStyleId>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4754880">
                  <a:extLst>
                    <a:ext uri="{9D8B030D-6E8A-4147-A177-3AD203B41FA5}">
                      <a16:colId xmlns:a16="http://schemas.microsoft.com/office/drawing/2014/main" val="20002"/>
                    </a:ext>
                  </a:extLst>
                </a:gridCol>
                <a:gridCol w="3017520">
                  <a:extLst>
                    <a:ext uri="{9D8B030D-6E8A-4147-A177-3AD203B41FA5}">
                      <a16:colId xmlns:a16="http://schemas.microsoft.com/office/drawing/2014/main" val="20003"/>
                    </a:ext>
                  </a:extLst>
                </a:gridCol>
              </a:tblGrid>
              <a:tr h="867664">
                <a:tc>
                  <a:txBody>
                    <a:bodyPr/>
                    <a:lstStyle/>
                    <a:p>
                      <a:pPr algn="l"/>
                      <a:r>
                        <a:rPr sz="1600" b="1" i="0">
                          <a:solidFill>
                            <a:srgbClr val="FFAB40"/>
                          </a:solidFill>
                          <a:latin typeface="Segoe UI"/>
                        </a:rPr>
                        <a:t>Phase</a:t>
                      </a:r>
                    </a:p>
                  </a:txBody>
                  <a:tcPr anchor="ctr">
                    <a:solidFill>
                      <a:srgbClr val="262D41"/>
                    </a:solidFill>
                  </a:tcPr>
                </a:tc>
                <a:tc>
                  <a:txBody>
                    <a:bodyPr/>
                    <a:lstStyle/>
                    <a:p>
                      <a:pPr algn="l"/>
                      <a:r>
                        <a:rPr sz="1600" b="1" i="0">
                          <a:solidFill>
                            <a:srgbClr val="FFAB40"/>
                          </a:solidFill>
                          <a:latin typeface="Segoe UI"/>
                        </a:rPr>
                        <a:t>Name</a:t>
                      </a:r>
                    </a:p>
                  </a:txBody>
                  <a:tcPr anchor="ctr">
                    <a:solidFill>
                      <a:srgbClr val="262D41"/>
                    </a:solidFill>
                  </a:tcPr>
                </a:tc>
                <a:tc>
                  <a:txBody>
                    <a:bodyPr/>
                    <a:lstStyle/>
                    <a:p>
                      <a:pPr algn="l"/>
                      <a:r>
                        <a:rPr sz="1600" b="1" i="0">
                          <a:solidFill>
                            <a:srgbClr val="FFAB40"/>
                          </a:solidFill>
                          <a:latin typeface="Segoe UI"/>
                        </a:rPr>
                        <a:t>Key Actions</a:t>
                      </a:r>
                    </a:p>
                  </a:txBody>
                  <a:tcPr anchor="ctr">
                    <a:solidFill>
                      <a:srgbClr val="262D41"/>
                    </a:solidFill>
                  </a:tcPr>
                </a:tc>
                <a:tc>
                  <a:txBody>
                    <a:bodyPr/>
                    <a:lstStyle/>
                    <a:p>
                      <a:pPr algn="l"/>
                      <a:r>
                        <a:rPr sz="1600" b="1" i="0">
                          <a:solidFill>
                            <a:srgbClr val="FFAB40"/>
                          </a:solidFill>
                          <a:latin typeface="Segoe UI"/>
                        </a:rPr>
                        <a:t>Output</a:t>
                      </a:r>
                    </a:p>
                  </a:txBody>
                  <a:tcPr anchor="ctr">
                    <a:solidFill>
                      <a:srgbClr val="262D41"/>
                    </a:solidFill>
                  </a:tcPr>
                </a:tc>
                <a:extLst>
                  <a:ext uri="{0D108BD9-81ED-4DB2-BD59-A6C34878D82A}">
                    <a16:rowId xmlns:a16="http://schemas.microsoft.com/office/drawing/2014/main" val="10000"/>
                  </a:ext>
                </a:extLst>
              </a:tr>
              <a:tr h="867664">
                <a:tc>
                  <a:txBody>
                    <a:bodyPr/>
                    <a:lstStyle/>
                    <a:p>
                      <a:pPr algn="l"/>
                      <a:r>
                        <a:rPr sz="1600" b="1" i="0">
                          <a:solidFill>
                            <a:srgbClr val="FFAB40"/>
                          </a:solidFill>
                          <a:latin typeface="Segoe UI"/>
                        </a:rPr>
                        <a:t>1</a:t>
                      </a:r>
                    </a:p>
                  </a:txBody>
                  <a:tcPr anchor="ctr">
                    <a:solidFill>
                      <a:srgbClr val="1C212F"/>
                    </a:solidFill>
                  </a:tcPr>
                </a:tc>
                <a:tc>
                  <a:txBody>
                    <a:bodyPr/>
                    <a:lstStyle/>
                    <a:p>
                      <a:pPr algn="l"/>
                      <a:r>
                        <a:rPr sz="1600" b="0" i="0">
                          <a:solidFill>
                            <a:srgbClr val="F0F0F5"/>
                          </a:solidFill>
                          <a:latin typeface="Segoe UI"/>
                        </a:rPr>
                        <a:t>Corpus Construction</a:t>
                      </a:r>
                    </a:p>
                  </a:txBody>
                  <a:tcPr anchor="ctr">
                    <a:solidFill>
                      <a:srgbClr val="1C212F"/>
                    </a:solidFill>
                  </a:tcPr>
                </a:tc>
                <a:tc>
                  <a:txBody>
                    <a:bodyPr/>
                    <a:lstStyle/>
                    <a:p>
                      <a:pPr algn="l"/>
                      <a:r>
                        <a:rPr sz="1600" b="0" i="0" dirty="0">
                          <a:solidFill>
                            <a:srgbClr val="F0F0F5"/>
                          </a:solidFill>
                          <a:latin typeface="Segoe UI"/>
                        </a:rPr>
                        <a:t>Select ICD conditions, chunk notes by section, attach metadata, deduplicate</a:t>
                      </a:r>
                    </a:p>
                  </a:txBody>
                  <a:tcPr anchor="ctr">
                    <a:solidFill>
                      <a:srgbClr val="1C212F"/>
                    </a:solidFill>
                  </a:tcPr>
                </a:tc>
                <a:tc>
                  <a:txBody>
                    <a:bodyPr/>
                    <a:lstStyle/>
                    <a:p>
                      <a:pPr algn="l"/>
                      <a:r>
                        <a:rPr sz="1600" b="0" i="0" dirty="0">
                          <a:solidFill>
                            <a:srgbClr val="F0F0F5"/>
                          </a:solidFill>
                          <a:latin typeface="Segoe UI"/>
                        </a:rPr>
                        <a:t>Per-condition candidate pools with metadata</a:t>
                      </a:r>
                    </a:p>
                  </a:txBody>
                  <a:tcPr anchor="ctr">
                    <a:solidFill>
                      <a:srgbClr val="1C212F"/>
                    </a:solidFill>
                  </a:tcPr>
                </a:tc>
                <a:extLst>
                  <a:ext uri="{0D108BD9-81ED-4DB2-BD59-A6C34878D82A}">
                    <a16:rowId xmlns:a16="http://schemas.microsoft.com/office/drawing/2014/main" val="10001"/>
                  </a:ext>
                </a:extLst>
              </a:tr>
              <a:tr h="867664">
                <a:tc>
                  <a:txBody>
                    <a:bodyPr/>
                    <a:lstStyle/>
                    <a:p>
                      <a:pPr algn="l"/>
                      <a:r>
                        <a:rPr sz="1600" b="1" i="0">
                          <a:solidFill>
                            <a:srgbClr val="FFAB40"/>
                          </a:solidFill>
                          <a:latin typeface="Segoe UI"/>
                        </a:rPr>
                        <a:t>2</a:t>
                      </a:r>
                    </a:p>
                  </a:txBody>
                  <a:tcPr anchor="ctr">
                    <a:solidFill>
                      <a:srgbClr val="212636"/>
                    </a:solidFill>
                  </a:tcPr>
                </a:tc>
                <a:tc>
                  <a:txBody>
                    <a:bodyPr/>
                    <a:lstStyle/>
                    <a:p>
                      <a:pPr algn="l"/>
                      <a:r>
                        <a:rPr sz="1600" b="0" i="0" dirty="0">
                          <a:solidFill>
                            <a:srgbClr val="F0F0F5"/>
                          </a:solidFill>
                          <a:latin typeface="Segoe UI"/>
                        </a:rPr>
                        <a:t>Embeddings</a:t>
                      </a:r>
                      <a:r>
                        <a:rPr lang="en-US" sz="1600" b="0" i="0" dirty="0">
                          <a:solidFill>
                            <a:srgbClr val="F0F0F5"/>
                          </a:solidFill>
                          <a:latin typeface="Segoe UI"/>
                        </a:rPr>
                        <a:t> Generation</a:t>
                      </a:r>
                      <a:endParaRPr sz="1600" b="0" i="0" dirty="0">
                        <a:solidFill>
                          <a:srgbClr val="F0F0F5"/>
                        </a:solidFill>
                        <a:latin typeface="Segoe UI"/>
                      </a:endParaRPr>
                    </a:p>
                  </a:txBody>
                  <a:tcPr anchor="ctr">
                    <a:solidFill>
                      <a:srgbClr val="212636"/>
                    </a:solidFill>
                  </a:tcPr>
                </a:tc>
                <a:tc>
                  <a:txBody>
                    <a:bodyPr/>
                    <a:lstStyle/>
                    <a:p>
                      <a:pPr algn="l"/>
                      <a:r>
                        <a:rPr sz="1600" b="0" i="0" dirty="0">
                          <a:solidFill>
                            <a:srgbClr val="F0F0F5"/>
                          </a:solidFill>
                          <a:latin typeface="Segoe UI"/>
                        </a:rPr>
                        <a:t>Prepend metadata prefix before embedding</a:t>
                      </a:r>
                    </a:p>
                  </a:txBody>
                  <a:tcPr anchor="ctr">
                    <a:solidFill>
                      <a:srgbClr val="212636"/>
                    </a:solidFill>
                  </a:tcPr>
                </a:tc>
                <a:tc>
                  <a:txBody>
                    <a:bodyPr/>
                    <a:lstStyle/>
                    <a:p>
                      <a:pPr algn="l"/>
                      <a:r>
                        <a:rPr sz="1600" b="0" i="0" dirty="0">
                          <a:solidFill>
                            <a:srgbClr val="F0F0F5"/>
                          </a:solidFill>
                          <a:latin typeface="Segoe UI"/>
                        </a:rPr>
                        <a:t>Contextualized chunk vectors</a:t>
                      </a:r>
                    </a:p>
                  </a:txBody>
                  <a:tcPr anchor="ctr">
                    <a:solidFill>
                      <a:srgbClr val="212636"/>
                    </a:solidFill>
                  </a:tcPr>
                </a:tc>
                <a:extLst>
                  <a:ext uri="{0D108BD9-81ED-4DB2-BD59-A6C34878D82A}">
                    <a16:rowId xmlns:a16="http://schemas.microsoft.com/office/drawing/2014/main" val="10002"/>
                  </a:ext>
                </a:extLst>
              </a:tr>
              <a:tr h="867664">
                <a:tc>
                  <a:txBody>
                    <a:bodyPr/>
                    <a:lstStyle/>
                    <a:p>
                      <a:pPr algn="l"/>
                      <a:r>
                        <a:rPr sz="1600" b="1" i="0" dirty="0">
                          <a:solidFill>
                            <a:srgbClr val="FFAB40"/>
                          </a:solidFill>
                          <a:latin typeface="Segoe UI"/>
                        </a:rPr>
                        <a:t>3</a:t>
                      </a:r>
                    </a:p>
                  </a:txBody>
                  <a:tcPr anchor="ctr">
                    <a:solidFill>
                      <a:srgbClr val="212636"/>
                    </a:solidFill>
                  </a:tcPr>
                </a:tc>
                <a:tc>
                  <a:txBody>
                    <a:bodyPr/>
                    <a:lstStyle/>
                    <a:p>
                      <a:pPr algn="l"/>
                      <a:r>
                        <a:rPr sz="1600" b="0" i="0" dirty="0">
                          <a:solidFill>
                            <a:srgbClr val="F0F0F5"/>
                          </a:solidFill>
                          <a:latin typeface="Segoe UI"/>
                        </a:rPr>
                        <a:t>Query Generation</a:t>
                      </a:r>
                      <a:r>
                        <a:rPr lang="en-US" sz="1600" b="0" i="0" dirty="0">
                          <a:solidFill>
                            <a:srgbClr val="F0F0F5"/>
                          </a:solidFill>
                          <a:latin typeface="Segoe UI"/>
                        </a:rPr>
                        <a:t> via LLM</a:t>
                      </a:r>
                      <a:endParaRPr sz="1600" b="0" i="0" dirty="0">
                        <a:solidFill>
                          <a:srgbClr val="F0F0F5"/>
                        </a:solidFill>
                        <a:latin typeface="Segoe UI"/>
                      </a:endParaRPr>
                    </a:p>
                  </a:txBody>
                  <a:tcPr anchor="ctr">
                    <a:solidFill>
                      <a:srgbClr val="212636"/>
                    </a:solidFill>
                  </a:tcPr>
                </a:tc>
                <a:tc>
                  <a:txBody>
                    <a:bodyPr/>
                    <a:lstStyle/>
                    <a:p>
                      <a:pPr algn="l"/>
                      <a:r>
                        <a:rPr sz="1600" b="0" i="0" dirty="0">
                          <a:solidFill>
                            <a:srgbClr val="F0F0F5"/>
                          </a:solidFill>
                          <a:latin typeface="Segoe UI"/>
                        </a:rPr>
                        <a:t>LLM generates multi-aspect clinical questions; gold </a:t>
                      </a:r>
                      <a:r>
                        <a:rPr lang="it-IT" sz="1600" b="0" i="0" dirty="0">
                          <a:solidFill>
                            <a:srgbClr val="F0F0F5"/>
                          </a:solidFill>
                          <a:latin typeface="Segoe UI"/>
                        </a:rPr>
                        <a:t>answers </a:t>
                      </a:r>
                      <a:r>
                        <a:rPr sz="1600" b="0" i="0" dirty="0">
                          <a:solidFill>
                            <a:srgbClr val="F0F0F5"/>
                          </a:solidFill>
                          <a:latin typeface="Segoe UI"/>
                        </a:rPr>
                        <a:t>with facet labels</a:t>
                      </a:r>
                    </a:p>
                  </a:txBody>
                  <a:tcPr anchor="ctr">
                    <a:solidFill>
                      <a:srgbClr val="212636"/>
                    </a:solidFill>
                  </a:tcPr>
                </a:tc>
                <a:tc>
                  <a:txBody>
                    <a:bodyPr/>
                    <a:lstStyle/>
                    <a:p>
                      <a:pPr algn="l"/>
                      <a:r>
                        <a:rPr sz="1600" b="0" i="0" dirty="0">
                          <a:solidFill>
                            <a:srgbClr val="F0F0F5"/>
                          </a:solidFill>
                          <a:latin typeface="Segoe UI"/>
                        </a:rPr>
                        <a:t>QA pairs with gold chunk sets</a:t>
                      </a:r>
                    </a:p>
                  </a:txBody>
                  <a:tcPr anchor="ctr">
                    <a:solidFill>
                      <a:srgbClr val="212636"/>
                    </a:solidFill>
                  </a:tcPr>
                </a:tc>
                <a:extLst>
                  <a:ext uri="{0D108BD9-81ED-4DB2-BD59-A6C34878D82A}">
                    <a16:rowId xmlns:a16="http://schemas.microsoft.com/office/drawing/2014/main" val="10004"/>
                  </a:ext>
                </a:extLst>
              </a:tr>
              <a:tr h="867664">
                <a:tc>
                  <a:txBody>
                    <a:bodyPr/>
                    <a:lstStyle/>
                    <a:p>
                      <a:pPr algn="l"/>
                      <a:r>
                        <a:rPr sz="1600" b="1" i="0">
                          <a:solidFill>
                            <a:srgbClr val="FFAB40"/>
                          </a:solidFill>
                          <a:latin typeface="Segoe UI"/>
                        </a:rPr>
                        <a:t>4</a:t>
                      </a:r>
                    </a:p>
                  </a:txBody>
                  <a:tcPr anchor="ctr">
                    <a:solidFill>
                      <a:srgbClr val="1C212F"/>
                    </a:solidFill>
                  </a:tcPr>
                </a:tc>
                <a:tc>
                  <a:txBody>
                    <a:bodyPr/>
                    <a:lstStyle/>
                    <a:p>
                      <a:pPr algn="l"/>
                      <a:r>
                        <a:rPr sz="1600" b="0" i="0">
                          <a:solidFill>
                            <a:srgbClr val="F0F0F5"/>
                          </a:solidFill>
                          <a:latin typeface="Segoe UI"/>
                        </a:rPr>
                        <a:t>Evaluation</a:t>
                      </a:r>
                    </a:p>
                  </a:txBody>
                  <a:tcPr anchor="ctr">
                    <a:solidFill>
                      <a:srgbClr val="1C212F"/>
                    </a:solidFill>
                  </a:tcPr>
                </a:tc>
                <a:tc>
                  <a:txBody>
                    <a:bodyPr/>
                    <a:lstStyle/>
                    <a:p>
                      <a:pPr algn="l"/>
                      <a:r>
                        <a:rPr sz="1600" b="0" i="0" dirty="0">
                          <a:solidFill>
                            <a:srgbClr val="F0F0F5"/>
                          </a:solidFill>
                          <a:latin typeface="Segoe UI"/>
                        </a:rPr>
                        <a:t>Aspect recall, Fac score, Jaccard, </a:t>
                      </a:r>
                      <a:r>
                        <a:rPr sz="1600" b="0" i="0" dirty="0" err="1">
                          <a:solidFill>
                            <a:srgbClr val="F0F0F5"/>
                          </a:solidFill>
                          <a:latin typeface="Segoe UI"/>
                        </a:rPr>
                        <a:t>DocRec</a:t>
                      </a:r>
                      <a:r>
                        <a:rPr sz="1600" b="0" i="0" dirty="0">
                          <a:solidFill>
                            <a:srgbClr val="F0F0F5"/>
                          </a:solidFill>
                          <a:latin typeface="Segoe UI"/>
                        </a:rPr>
                        <a:t>/</a:t>
                      </a:r>
                      <a:r>
                        <a:rPr sz="1600" b="0" i="0" dirty="0" err="1">
                          <a:solidFill>
                            <a:srgbClr val="F0F0F5"/>
                          </a:solidFill>
                          <a:latin typeface="Segoe UI"/>
                        </a:rPr>
                        <a:t>FactRec</a:t>
                      </a:r>
                      <a:endParaRPr sz="1600" b="0" i="0" dirty="0">
                        <a:solidFill>
                          <a:srgbClr val="F0F0F5"/>
                        </a:solidFill>
                        <a:latin typeface="Segoe UI"/>
                      </a:endParaRPr>
                    </a:p>
                  </a:txBody>
                  <a:tcPr anchor="ctr">
                    <a:solidFill>
                      <a:srgbClr val="1C212F"/>
                    </a:solidFill>
                  </a:tcPr>
                </a:tc>
                <a:tc>
                  <a:txBody>
                    <a:bodyPr/>
                    <a:lstStyle/>
                    <a:p>
                      <a:pPr algn="l"/>
                      <a:r>
                        <a:rPr sz="1600" b="0" i="0" dirty="0">
                          <a:solidFill>
                            <a:srgbClr val="F0F0F5"/>
                          </a:solidFill>
                          <a:latin typeface="Segoe UI"/>
                        </a:rPr>
                        <a:t>Coverage vs. dispersion comparison</a:t>
                      </a:r>
                    </a:p>
                  </a:txBody>
                  <a:tcPr anchor="ctr">
                    <a:solidFill>
                      <a:srgbClr val="1C212F"/>
                    </a:solidFill>
                  </a:tcPr>
                </a:tc>
                <a:extLst>
                  <a:ext uri="{0D108BD9-81ED-4DB2-BD59-A6C34878D82A}">
                    <a16:rowId xmlns:a16="http://schemas.microsoft.com/office/drawing/2014/main" val="10005"/>
                  </a:ext>
                </a:extLst>
              </a:tr>
            </a:tbl>
          </a:graphicData>
        </a:graphic>
      </p:graphicFrame>
      <p:sp>
        <p:nvSpPr>
          <p:cNvPr id="8" name="Slide Number Placeholder 7">
            <a:extLst>
              <a:ext uri="{FF2B5EF4-FFF2-40B4-BE49-F238E27FC236}">
                <a16:creationId xmlns:a16="http://schemas.microsoft.com/office/drawing/2014/main" id="{364A7F40-B30D-FC68-7F91-097AF699C985}"/>
              </a:ext>
            </a:extLst>
          </p:cNvPr>
          <p:cNvSpPr>
            <a:spLocks noGrp="1"/>
          </p:cNvSpPr>
          <p:nvPr>
            <p:ph type="sldNum" sz="quarter" idx="12"/>
          </p:nvPr>
        </p:nvSpPr>
        <p:spPr/>
        <p:txBody>
          <a:bodyPr/>
          <a:lstStyle/>
          <a:p>
            <a:fld id="{C1FF6DA9-008F-8B48-92A6-B652298478BF}"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97C3E05-247D-38D9-2728-44A2EA44AE83}"/>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Key Parameters</a:t>
            </a:r>
          </a:p>
        </p:txBody>
      </p:sp>
      <p:graphicFrame>
        <p:nvGraphicFramePr>
          <p:cNvPr id="6" name="Table 5"/>
          <p:cNvGraphicFramePr>
            <a:graphicFrameLocks noGrp="1"/>
          </p:cNvGraphicFramePr>
          <p:nvPr/>
        </p:nvGraphicFramePr>
        <p:xfrm>
          <a:off x="822960" y="1645920"/>
          <a:ext cx="10515600" cy="4429758"/>
        </p:xfrm>
        <a:graphic>
          <a:graphicData uri="http://schemas.openxmlformats.org/drawingml/2006/table">
            <a:tbl>
              <a:tblPr>
                <a:tableStyleId>{00000000-0000-0000-0000-000000000000}</a:tableStyleId>
              </a:tblPr>
              <a:tblGrid>
                <a:gridCol w="20116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738293">
                <a:tc>
                  <a:txBody>
                    <a:bodyPr/>
                    <a:lstStyle/>
                    <a:p>
                      <a:pPr algn="ctr"/>
                      <a:r>
                        <a:rPr sz="1800" b="1" i="0">
                          <a:solidFill>
                            <a:schemeClr val="bg1"/>
                          </a:solidFill>
                          <a:latin typeface="Segoe UI"/>
                        </a:rPr>
                        <a:t>Parameter</a:t>
                      </a:r>
                    </a:p>
                  </a:txBody>
                  <a:tcPr anchor="ctr">
                    <a:solidFill>
                      <a:schemeClr val="tx2"/>
                    </a:solidFill>
                  </a:tcPr>
                </a:tc>
                <a:tc>
                  <a:txBody>
                    <a:bodyPr/>
                    <a:lstStyle/>
                    <a:p>
                      <a:pPr algn="ctr"/>
                      <a:r>
                        <a:rPr sz="1800" b="1" i="0">
                          <a:solidFill>
                            <a:schemeClr val="bg1"/>
                          </a:solidFill>
                          <a:latin typeface="Segoe UI"/>
                        </a:rPr>
                        <a:t>Meaning</a:t>
                      </a:r>
                    </a:p>
                  </a:txBody>
                  <a:tcPr anchor="ctr">
                    <a:solidFill>
                      <a:schemeClr val="tx2"/>
                    </a:solidFill>
                  </a:tcPr>
                </a:tc>
                <a:tc>
                  <a:txBody>
                    <a:bodyPr/>
                    <a:lstStyle/>
                    <a:p>
                      <a:pPr algn="ctr"/>
                      <a:r>
                        <a:rPr sz="1800" b="1" i="0" dirty="0">
                          <a:solidFill>
                            <a:schemeClr val="bg1"/>
                          </a:solidFill>
                          <a:latin typeface="Segoe UI"/>
                        </a:rPr>
                        <a:t>Notes</a:t>
                      </a:r>
                    </a:p>
                  </a:txBody>
                  <a:tcPr anchor="ctr">
                    <a:solidFill>
                      <a:schemeClr val="tx2"/>
                    </a:solidFill>
                  </a:tcPr>
                </a:tc>
                <a:extLst>
                  <a:ext uri="{0D108BD9-81ED-4DB2-BD59-A6C34878D82A}">
                    <a16:rowId xmlns:a16="http://schemas.microsoft.com/office/drawing/2014/main" val="10000"/>
                  </a:ext>
                </a:extLst>
              </a:tr>
              <a:tr h="738293">
                <a:tc>
                  <a:txBody>
                    <a:bodyPr/>
                    <a:lstStyle/>
                    <a:p>
                      <a:pPr algn="l"/>
                      <a:r>
                        <a:rPr sz="1800" b="1" i="0" dirty="0">
                          <a:solidFill>
                            <a:srgbClr val="4F8CFF"/>
                          </a:solidFill>
                          <a:latin typeface="Segoe UI"/>
                        </a:rPr>
                        <a:t>λ</a:t>
                      </a:r>
                    </a:p>
                  </a:txBody>
                  <a:tcPr anchor="ctr">
                    <a:solidFill>
                      <a:srgbClr val="1C212F"/>
                    </a:solidFill>
                  </a:tcPr>
                </a:tc>
                <a:tc>
                  <a:txBody>
                    <a:bodyPr/>
                    <a:lstStyle/>
                    <a:p>
                      <a:pPr algn="l"/>
                      <a:r>
                        <a:rPr sz="1800" b="0" i="0">
                          <a:solidFill>
                            <a:srgbClr val="F0F0F5"/>
                          </a:solidFill>
                          <a:latin typeface="Segoe UI"/>
                        </a:rPr>
                        <a:t>Relevance–diversity tradeoff</a:t>
                      </a:r>
                    </a:p>
                  </a:txBody>
                  <a:tcPr anchor="ctr">
                    <a:solidFill>
                      <a:srgbClr val="1C212F"/>
                    </a:solidFill>
                  </a:tcPr>
                </a:tc>
                <a:tc>
                  <a:txBody>
                    <a:bodyPr/>
                    <a:lstStyle/>
                    <a:p>
                      <a:pPr algn="l"/>
                      <a:r>
                        <a:rPr sz="1800" b="0" i="0">
                          <a:solidFill>
                            <a:srgbClr val="F0F0F5"/>
                          </a:solidFill>
                          <a:latin typeface="Segoe UI"/>
                        </a:rPr>
                        <a:t>λ=1: pure top-k, λ=0: pure coverage</a:t>
                      </a:r>
                    </a:p>
                  </a:txBody>
                  <a:tcPr anchor="ctr">
                    <a:solidFill>
                      <a:srgbClr val="1C212F"/>
                    </a:solidFill>
                  </a:tcPr>
                </a:tc>
                <a:extLst>
                  <a:ext uri="{0D108BD9-81ED-4DB2-BD59-A6C34878D82A}">
                    <a16:rowId xmlns:a16="http://schemas.microsoft.com/office/drawing/2014/main" val="10001"/>
                  </a:ext>
                </a:extLst>
              </a:tr>
              <a:tr h="738293">
                <a:tc>
                  <a:txBody>
                    <a:bodyPr/>
                    <a:lstStyle/>
                    <a:p>
                      <a:pPr algn="l"/>
                      <a:r>
                        <a:rPr sz="1800" b="1" i="0">
                          <a:solidFill>
                            <a:srgbClr val="4F8CFF"/>
                          </a:solidFill>
                          <a:latin typeface="Segoe UI"/>
                        </a:rPr>
                        <a:t>N</a:t>
                      </a:r>
                    </a:p>
                  </a:txBody>
                  <a:tcPr anchor="ctr">
                    <a:solidFill>
                      <a:srgbClr val="212636"/>
                    </a:solidFill>
                  </a:tcPr>
                </a:tc>
                <a:tc>
                  <a:txBody>
                    <a:bodyPr/>
                    <a:lstStyle/>
                    <a:p>
                      <a:pPr algn="l"/>
                      <a:r>
                        <a:rPr sz="1800" b="0" i="0">
                          <a:solidFill>
                            <a:srgbClr val="F0F0F5"/>
                          </a:solidFill>
                          <a:latin typeface="Segoe UI"/>
                        </a:rPr>
                        <a:t>Candidate pool size for re-ranking</a:t>
                      </a:r>
                    </a:p>
                  </a:txBody>
                  <a:tcPr anchor="ctr">
                    <a:solidFill>
                      <a:srgbClr val="212636"/>
                    </a:solidFill>
                  </a:tcPr>
                </a:tc>
                <a:tc>
                  <a:txBody>
                    <a:bodyPr/>
                    <a:lstStyle/>
                    <a:p>
                      <a:pPr algn="l"/>
                      <a:r>
                        <a:rPr sz="1800" b="0" i="0">
                          <a:solidFill>
                            <a:srgbClr val="F0F0F5"/>
                          </a:solidFill>
                          <a:latin typeface="Segoe UI"/>
                        </a:rPr>
                        <a:t>Too small: no room to diversify; too large: noise enters</a:t>
                      </a:r>
                    </a:p>
                  </a:txBody>
                  <a:tcPr anchor="ctr">
                    <a:solidFill>
                      <a:srgbClr val="212636"/>
                    </a:solidFill>
                  </a:tcPr>
                </a:tc>
                <a:extLst>
                  <a:ext uri="{0D108BD9-81ED-4DB2-BD59-A6C34878D82A}">
                    <a16:rowId xmlns:a16="http://schemas.microsoft.com/office/drawing/2014/main" val="10002"/>
                  </a:ext>
                </a:extLst>
              </a:tr>
              <a:tr h="738293">
                <a:tc>
                  <a:txBody>
                    <a:bodyPr/>
                    <a:lstStyle/>
                    <a:p>
                      <a:pPr algn="l"/>
                      <a:r>
                        <a:rPr sz="1800" b="1" i="0">
                          <a:solidFill>
                            <a:srgbClr val="4F8CFF"/>
                          </a:solidFill>
                          <a:latin typeface="Segoe UI"/>
                        </a:rPr>
                        <a:t>k</a:t>
                      </a:r>
                    </a:p>
                  </a:txBody>
                  <a:tcPr anchor="ctr">
                    <a:solidFill>
                      <a:srgbClr val="1C212F"/>
                    </a:solidFill>
                  </a:tcPr>
                </a:tc>
                <a:tc>
                  <a:txBody>
                    <a:bodyPr/>
                    <a:lstStyle/>
                    <a:p>
                      <a:pPr algn="l"/>
                      <a:r>
                        <a:rPr sz="1800" b="0" i="0">
                          <a:solidFill>
                            <a:srgbClr val="F0F0F5"/>
                          </a:solidFill>
                          <a:latin typeface="Segoe UI"/>
                        </a:rPr>
                        <a:t>Number of chunks to select</a:t>
                      </a:r>
                    </a:p>
                  </a:txBody>
                  <a:tcPr anchor="ctr">
                    <a:solidFill>
                      <a:srgbClr val="1C212F"/>
                    </a:solidFill>
                  </a:tcPr>
                </a:tc>
                <a:tc>
                  <a:txBody>
                    <a:bodyPr/>
                    <a:lstStyle/>
                    <a:p>
                      <a:pPr algn="l"/>
                      <a:r>
                        <a:rPr sz="1800" b="0" i="0" dirty="0">
                          <a:solidFill>
                            <a:srgbClr val="F0F0F5"/>
                          </a:solidFill>
                          <a:latin typeface="Segoe UI"/>
                        </a:rPr>
                        <a:t>Final selection size</a:t>
                      </a:r>
                    </a:p>
                  </a:txBody>
                  <a:tcPr anchor="ctr">
                    <a:solidFill>
                      <a:srgbClr val="1C212F"/>
                    </a:solidFill>
                  </a:tcPr>
                </a:tc>
                <a:extLst>
                  <a:ext uri="{0D108BD9-81ED-4DB2-BD59-A6C34878D82A}">
                    <a16:rowId xmlns:a16="http://schemas.microsoft.com/office/drawing/2014/main" val="10003"/>
                  </a:ext>
                </a:extLst>
              </a:tr>
              <a:tr h="738293">
                <a:tc>
                  <a:txBody>
                    <a:bodyPr/>
                    <a:lstStyle/>
                    <a:p>
                      <a:pPr algn="l"/>
                      <a:r>
                        <a:rPr sz="1800" b="1" i="0" dirty="0">
                          <a:solidFill>
                            <a:srgbClr val="4F8CFF"/>
                          </a:solidFill>
                          <a:latin typeface="Segoe UI"/>
                        </a:rPr>
                        <a:t>T_max</a:t>
                      </a:r>
                    </a:p>
                  </a:txBody>
                  <a:tcPr anchor="ctr">
                    <a:solidFill>
                      <a:srgbClr val="212636"/>
                    </a:solidFill>
                  </a:tcPr>
                </a:tc>
                <a:tc>
                  <a:txBody>
                    <a:bodyPr/>
                    <a:lstStyle/>
                    <a:p>
                      <a:pPr algn="l"/>
                      <a:r>
                        <a:rPr sz="1800" b="0" i="0">
                          <a:solidFill>
                            <a:srgbClr val="F0F0F5"/>
                          </a:solidFill>
                          <a:latin typeface="Segoe UI"/>
                        </a:rPr>
                        <a:t>Token budget</a:t>
                      </a:r>
                    </a:p>
                  </a:txBody>
                  <a:tcPr anchor="ctr">
                    <a:solidFill>
                      <a:srgbClr val="212636"/>
                    </a:solidFill>
                  </a:tcPr>
                </a:tc>
                <a:tc>
                  <a:txBody>
                    <a:bodyPr/>
                    <a:lstStyle/>
                    <a:p>
                      <a:pPr algn="l"/>
                      <a:r>
                        <a:rPr sz="1800" b="0" i="0" dirty="0">
                          <a:solidFill>
                            <a:srgbClr val="F0F0F5"/>
                          </a:solidFill>
                          <a:latin typeface="Segoe UI"/>
                        </a:rPr>
                        <a:t>Constrains total context length for LLM</a:t>
                      </a:r>
                    </a:p>
                  </a:txBody>
                  <a:tcPr anchor="ctr">
                    <a:solidFill>
                      <a:srgbClr val="212636"/>
                    </a:solidFill>
                  </a:tcPr>
                </a:tc>
                <a:extLst>
                  <a:ext uri="{0D108BD9-81ED-4DB2-BD59-A6C34878D82A}">
                    <a16:rowId xmlns:a16="http://schemas.microsoft.com/office/drawing/2014/main" val="10004"/>
                  </a:ext>
                </a:extLst>
              </a:tr>
              <a:tr h="738293">
                <a:tc>
                  <a:txBody>
                    <a:bodyPr/>
                    <a:lstStyle/>
                    <a:p>
                      <a:pPr algn="l"/>
                      <a:r>
                        <a:rPr sz="1800" b="1" i="0">
                          <a:solidFill>
                            <a:srgbClr val="4F8CFF"/>
                          </a:solidFill>
                          <a:latin typeface="Segoe UI"/>
                        </a:rPr>
                        <a:t>chunk_tokens / stride</a:t>
                      </a:r>
                    </a:p>
                  </a:txBody>
                  <a:tcPr anchor="ctr">
                    <a:solidFill>
                      <a:srgbClr val="1C212F"/>
                    </a:solidFill>
                  </a:tcPr>
                </a:tc>
                <a:tc>
                  <a:txBody>
                    <a:bodyPr/>
                    <a:lstStyle/>
                    <a:p>
                      <a:pPr algn="l"/>
                      <a:r>
                        <a:rPr sz="1800" b="0" i="0">
                          <a:solidFill>
                            <a:srgbClr val="F0F0F5"/>
                          </a:solidFill>
                          <a:latin typeface="Segoe UI"/>
                        </a:rPr>
                        <a:t>Chunk size and overlap</a:t>
                      </a:r>
                    </a:p>
                  </a:txBody>
                  <a:tcPr anchor="ctr">
                    <a:solidFill>
                      <a:srgbClr val="1C212F"/>
                    </a:solidFill>
                  </a:tcPr>
                </a:tc>
                <a:tc>
                  <a:txBody>
                    <a:bodyPr/>
                    <a:lstStyle/>
                    <a:p>
                      <a:pPr algn="l"/>
                      <a:r>
                        <a:rPr sz="1800" b="0" i="0" dirty="0">
                          <a:solidFill>
                            <a:srgbClr val="F0F0F5"/>
                          </a:solidFill>
                          <a:latin typeface="Segoe UI"/>
                        </a:rPr>
                        <a:t>Controls granularity of information units</a:t>
                      </a:r>
                    </a:p>
                  </a:txBody>
                  <a:tcPr anchor="ctr">
                    <a:solidFill>
                      <a:srgbClr val="1C212F"/>
                    </a:solidFill>
                  </a:tcPr>
                </a:tc>
                <a:extLst>
                  <a:ext uri="{0D108BD9-81ED-4DB2-BD59-A6C34878D82A}">
                    <a16:rowId xmlns:a16="http://schemas.microsoft.com/office/drawing/2014/main" val="10005"/>
                  </a:ext>
                </a:extLst>
              </a:tr>
            </a:tbl>
          </a:graphicData>
        </a:graphic>
      </p:graphicFrame>
      <p:sp>
        <p:nvSpPr>
          <p:cNvPr id="7" name="Slide Number Placeholder 6">
            <a:extLst>
              <a:ext uri="{FF2B5EF4-FFF2-40B4-BE49-F238E27FC236}">
                <a16:creationId xmlns:a16="http://schemas.microsoft.com/office/drawing/2014/main" id="{C15238BF-1E6B-DE96-C7DD-522D8D40A2C9}"/>
              </a:ext>
            </a:extLst>
          </p:cNvPr>
          <p:cNvSpPr>
            <a:spLocks noGrp="1"/>
          </p:cNvSpPr>
          <p:nvPr>
            <p:ph type="sldNum" sz="quarter" idx="12"/>
          </p:nvPr>
        </p:nvSpPr>
        <p:spPr/>
        <p:txBody>
          <a:bodyPr/>
          <a:lstStyle/>
          <a:p>
            <a:fld id="{C1FF6DA9-008F-8B48-92A6-B652298478BF}" type="slidenum">
              <a:rPr lang="en-US" smtClean="0"/>
              <a:t>21</a:t>
            </a:fld>
            <a:endParaRPr lang="en-US"/>
          </a:p>
        </p:txBody>
      </p:sp>
      <p:sp>
        <p:nvSpPr>
          <p:cNvPr id="3" name="Rectangle 2">
            <a:extLst>
              <a:ext uri="{FF2B5EF4-FFF2-40B4-BE49-F238E27FC236}">
                <a16:creationId xmlns:a16="http://schemas.microsoft.com/office/drawing/2014/main" id="{6A992665-2B3B-F013-B84B-13D4A9B7A455}"/>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4B004645-83A6-0AFD-2887-EBB24F78BA44}"/>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Gold Response Generation via LLMs</a:t>
            </a:r>
          </a:p>
        </p:txBody>
      </p:sp>
      <p:sp>
        <p:nvSpPr>
          <p:cNvPr id="7" name="Rectangle 6"/>
          <p:cNvSpPr/>
          <p:nvPr/>
        </p:nvSpPr>
        <p:spPr>
          <a:xfrm>
            <a:off x="822960" y="1645920"/>
            <a:ext cx="5029200" cy="2743200"/>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400" b="1" i="0" dirty="0">
                <a:solidFill>
                  <a:srgbClr val="FFAB40"/>
                </a:solidFill>
                <a:latin typeface="Segoe UI"/>
              </a:rPr>
              <a:t>Map</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Split candidate pool into batches of ~50 chunks (~10K tokens)</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LLM extracts facts relevant to the query from each batch</a:t>
            </a:r>
          </a:p>
          <a:p>
            <a:pPr>
              <a:spcBef>
                <a:spcPts val="500"/>
              </a:spcBef>
              <a:spcAft>
                <a:spcPts val="300"/>
              </a:spcAft>
            </a:pPr>
            <a:r>
              <a:rPr sz="1600" b="0" i="0" dirty="0">
                <a:solidFill>
                  <a:srgbClr val="FFAB40"/>
                </a:solidFill>
                <a:latin typeface="Segoe UI"/>
              </a:rPr>
              <a:t>▸  </a:t>
            </a:r>
            <a:r>
              <a:rPr sz="1600" b="0" i="0" dirty="0">
                <a:solidFill>
                  <a:srgbClr val="B4B9C8"/>
                </a:solidFill>
                <a:latin typeface="Segoe UI"/>
              </a:rPr>
              <a:t>Each fact is cited back to its source chunk(s)</a:t>
            </a:r>
          </a:p>
        </p:txBody>
      </p:sp>
      <p:sp>
        <p:nvSpPr>
          <p:cNvPr id="8" name="Rectangle 7"/>
          <p:cNvSpPr/>
          <p:nvPr/>
        </p:nvSpPr>
        <p:spPr>
          <a:xfrm>
            <a:off x="6217920" y="1645920"/>
            <a:ext cx="5212080" cy="2743200"/>
          </a:xfrm>
          <a:prstGeom prst="roundRect">
            <a:avLst>
              <a:gd name="adj" fmla="val 5000"/>
            </a:avLst>
          </a:prstGeom>
          <a:solidFill>
            <a:srgbClr val="202534"/>
          </a:solidFill>
          <a:ln>
            <a:noFill/>
          </a:ln>
        </p:spPr>
        <p:style>
          <a:lnRef idx="1">
            <a:schemeClr val="accent1"/>
          </a:lnRef>
          <a:fillRef idx="3">
            <a:schemeClr val="accent1"/>
          </a:fillRef>
          <a:effectRef idx="2">
            <a:schemeClr val="accent1"/>
          </a:effectRef>
          <a:fontRef idx="minor">
            <a:schemeClr val="lt1"/>
          </a:fontRef>
        </p:style>
        <p:txBody>
          <a:bodyPr wrap="square" lIns="274320" tIns="228600" rIns="274320" bIns="182880" rtlCol="0" anchor="ctr"/>
          <a:lstStyle/>
          <a:p>
            <a:pPr algn="ctr">
              <a:spcAft>
                <a:spcPts val="1000"/>
              </a:spcAft>
            </a:pPr>
            <a:r>
              <a:rPr sz="2400" b="1" i="0" dirty="0">
                <a:solidFill>
                  <a:srgbClr val="48C78E"/>
                </a:solidFill>
                <a:latin typeface="Segoe UI"/>
              </a:rPr>
              <a:t>Reduce</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Merge pass synthesizes across all batches</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Deduplicate facets, resolve conflicting citations</a:t>
            </a:r>
          </a:p>
          <a:p>
            <a:pPr>
              <a:spcBef>
                <a:spcPts val="500"/>
              </a:spcBef>
              <a:spcAft>
                <a:spcPts val="300"/>
              </a:spcAft>
            </a:pPr>
            <a:r>
              <a:rPr sz="1600" b="0" i="0" dirty="0">
                <a:solidFill>
                  <a:srgbClr val="48C78E"/>
                </a:solidFill>
                <a:latin typeface="Segoe UI"/>
              </a:rPr>
              <a:t>▸  </a:t>
            </a:r>
            <a:r>
              <a:rPr sz="1600" b="0" i="0" dirty="0">
                <a:solidFill>
                  <a:srgbClr val="B4B9C8"/>
                </a:solidFill>
                <a:latin typeface="Segoe UI"/>
              </a:rPr>
              <a:t>Final gold answer with citations + facet labels per chunk</a:t>
            </a:r>
          </a:p>
        </p:txBody>
      </p:sp>
      <p:sp>
        <p:nvSpPr>
          <p:cNvPr id="9" name="TextBox 8"/>
          <p:cNvSpPr txBox="1"/>
          <p:nvPr/>
        </p:nvSpPr>
        <p:spPr>
          <a:xfrm>
            <a:off x="822960" y="4663440"/>
            <a:ext cx="10515600" cy="1341393"/>
          </a:xfrm>
          <a:prstGeom prst="rect">
            <a:avLst/>
          </a:prstGeom>
          <a:noFill/>
        </p:spPr>
        <p:txBody>
          <a:bodyPr wrap="square">
            <a:spAutoFit/>
          </a:bodyPr>
          <a:lstStyle/>
          <a:p>
            <a:pPr>
              <a:spcBef>
                <a:spcPts val="800"/>
              </a:spcBef>
              <a:spcAft>
                <a:spcPts val="300"/>
              </a:spcAft>
            </a:pPr>
            <a:r>
              <a:rPr b="1" i="0" dirty="0">
                <a:solidFill>
                  <a:srgbClr val="4F8CFF"/>
                </a:solidFill>
                <a:latin typeface="Segoe UI"/>
              </a:rPr>
              <a:t>Facet labels:  </a:t>
            </a:r>
            <a:r>
              <a:rPr b="0" i="0" dirty="0">
                <a:solidFill>
                  <a:srgbClr val="B4B9C8"/>
                </a:solidFill>
                <a:latin typeface="Segoe UI"/>
              </a:rPr>
              <a:t>Each gold chunk tagged with aspect (e.g.,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general_symptoms</a:t>
            </a:r>
            <a:r>
              <a:rPr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cardiac_confounding</a:t>
            </a:r>
            <a:r>
              <a:rPr b="0" i="0" dirty="0">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 </a:t>
            </a:r>
            <a:r>
              <a:rPr b="0" i="0" dirty="0" err="1">
                <a:solidFill>
                  <a:srgbClr val="B4B9C8"/>
                </a:solidFill>
                <a:latin typeface="JetBrains Mono" panose="02000009000000000000" pitchFamily="49" charset="0"/>
                <a:ea typeface="JetBrains Mono" panose="02000009000000000000" pitchFamily="49" charset="0"/>
                <a:cs typeface="JetBrains Mono" panose="02000009000000000000" pitchFamily="49" charset="0"/>
              </a:rPr>
              <a:t>treatment_difference</a:t>
            </a:r>
            <a:r>
              <a:rPr b="0" i="0" dirty="0">
                <a:solidFill>
                  <a:srgbClr val="B4B9C8"/>
                </a:solidFill>
                <a:latin typeface="Segoe UI"/>
              </a:rPr>
              <a:t>) → enables aspect recall metric</a:t>
            </a:r>
          </a:p>
          <a:p>
            <a:pPr>
              <a:spcBef>
                <a:spcPts val="800"/>
              </a:spcBef>
              <a:spcAft>
                <a:spcPts val="300"/>
              </a:spcAft>
            </a:pPr>
            <a:r>
              <a:rPr b="1" i="0" dirty="0">
                <a:solidFill>
                  <a:srgbClr val="FFAB40"/>
                </a:solidFill>
                <a:latin typeface="Segoe UI"/>
              </a:rPr>
              <a:t>Quality verifier:  </a:t>
            </a:r>
            <a:r>
              <a:rPr b="0" i="0" dirty="0">
                <a:solidFill>
                  <a:srgbClr val="B4B9C8"/>
                </a:solidFill>
                <a:latin typeface="Segoe UI"/>
              </a:rPr>
              <a:t>Separate reader-LLM attempts top-k answer; if it succeeds → query too easy → discard</a:t>
            </a:r>
          </a:p>
        </p:txBody>
      </p:sp>
      <p:sp>
        <p:nvSpPr>
          <p:cNvPr id="10" name="Rectangle 9">
            <a:extLst>
              <a:ext uri="{FF2B5EF4-FFF2-40B4-BE49-F238E27FC236}">
                <a16:creationId xmlns:a16="http://schemas.microsoft.com/office/drawing/2014/main" id="{85296CA1-B90F-FD81-CB90-977A58808812}"/>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a:extLst>
              <a:ext uri="{FF2B5EF4-FFF2-40B4-BE49-F238E27FC236}">
                <a16:creationId xmlns:a16="http://schemas.microsoft.com/office/drawing/2014/main" id="{5C2404C8-04A6-1454-BD5D-1E92F1B45F80}"/>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lide Number Placeholder 3">
            <a:extLst>
              <a:ext uri="{FF2B5EF4-FFF2-40B4-BE49-F238E27FC236}">
                <a16:creationId xmlns:a16="http://schemas.microsoft.com/office/drawing/2014/main" id="{E960210C-B3EF-86F3-9E9E-21A8ADF41445}"/>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2631260-1D83-DFF6-0B2D-701BE47BB257}"/>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Computational Feasibility</a:t>
            </a:r>
          </a:p>
        </p:txBody>
      </p:sp>
      <p:sp>
        <p:nvSpPr>
          <p:cNvPr id="6" name="TextBox 5"/>
          <p:cNvSpPr txBox="1"/>
          <p:nvPr/>
        </p:nvSpPr>
        <p:spPr>
          <a:xfrm>
            <a:off x="838200" y="1787562"/>
            <a:ext cx="10515600" cy="3144451"/>
          </a:xfrm>
          <a:prstGeom prst="rect">
            <a:avLst/>
          </a:prstGeom>
          <a:noFill/>
        </p:spPr>
        <p:txBody>
          <a:bodyPr wrap="square">
            <a:spAutoFit/>
          </a:bodyPr>
          <a:lstStyle/>
          <a:p>
            <a:pPr>
              <a:spcBef>
                <a:spcPts val="1000"/>
              </a:spcBef>
              <a:spcAft>
                <a:spcPts val="400"/>
              </a:spcAft>
            </a:pPr>
            <a:r>
              <a:rPr b="0" i="0" dirty="0">
                <a:solidFill>
                  <a:srgbClr val="4F8CFF"/>
                </a:solidFill>
                <a:latin typeface="Segoe UI"/>
              </a:rPr>
              <a:t>▸  </a:t>
            </a:r>
            <a:r>
              <a:rPr sz="2000" b="0" i="0" dirty="0">
                <a:solidFill>
                  <a:srgbClr val="F0F0F5"/>
                </a:solidFill>
                <a:latin typeface="Segoe UI"/>
              </a:rPr>
              <a:t>Full corpus: ~3M chunks → O(|D|·k²) facility-location is impractical</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Two-stage pipeline: HNSW retrieves N</a:t>
            </a:r>
            <a:r>
              <a:rPr lang="en-US" sz="2000" b="0" i="0" dirty="0">
                <a:solidFill>
                  <a:srgbClr val="F0F0F5"/>
                </a:solidFill>
                <a:latin typeface="Segoe UI"/>
              </a:rPr>
              <a:t> </a:t>
            </a:r>
            <a:r>
              <a:rPr sz="2000" b="0" i="0" dirty="0">
                <a:solidFill>
                  <a:srgbClr val="F0F0F5"/>
                </a:solidFill>
                <a:latin typeface="Segoe UI"/>
              </a:rPr>
              <a:t>≫</a:t>
            </a:r>
            <a:r>
              <a:rPr lang="en-US" sz="2000" b="0" i="0" dirty="0">
                <a:solidFill>
                  <a:srgbClr val="F0F0F5"/>
                </a:solidFill>
                <a:latin typeface="Segoe UI"/>
              </a:rPr>
              <a:t> </a:t>
            </a:r>
            <a:r>
              <a:rPr sz="2000" b="0" i="0" dirty="0">
                <a:solidFill>
                  <a:srgbClr val="F0F0F5"/>
                </a:solidFill>
                <a:latin typeface="Segoe UI"/>
              </a:rPr>
              <a:t>k candidates, then re-rank</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Re-ranking on N=100–1000 candidates is fast</a:t>
            </a:r>
          </a:p>
          <a:p>
            <a:pPr>
              <a:spcBef>
                <a:spcPts val="1000"/>
              </a:spcBef>
              <a:spcAft>
                <a:spcPts val="400"/>
              </a:spcAft>
            </a:pPr>
            <a:r>
              <a:rPr b="0" i="0" dirty="0">
                <a:solidFill>
                  <a:srgbClr val="4F8CFF"/>
                </a:solidFill>
                <a:latin typeface="Segoe UI"/>
              </a:rPr>
              <a:t>▸  </a:t>
            </a:r>
            <a:r>
              <a:rPr sz="2000" b="0" i="0" dirty="0">
                <a:solidFill>
                  <a:srgbClr val="F0F0F5"/>
                </a:solidFill>
                <a:latin typeface="Segoe UI"/>
              </a:rPr>
              <a:t>N is a tunable parameter alongside λ and k</a:t>
            </a:r>
            <a:endParaRPr lang="en-US" sz="2000" b="0" i="0" dirty="0">
              <a:solidFill>
                <a:srgbClr val="F0F0F5"/>
              </a:solidFill>
              <a:latin typeface="Segoe UI"/>
            </a:endParaRPr>
          </a:p>
          <a:p>
            <a:pPr>
              <a:spcBef>
                <a:spcPts val="1000"/>
              </a:spcBef>
              <a:spcAft>
                <a:spcPts val="400"/>
              </a:spcAft>
            </a:pPr>
            <a:endParaRPr lang="en-US" sz="2000" b="0" i="0" dirty="0">
              <a:solidFill>
                <a:srgbClr val="F0F0F5"/>
              </a:solidFill>
              <a:latin typeface="Segoe UI"/>
            </a:endParaRPr>
          </a:p>
          <a:p>
            <a:pPr>
              <a:spcBef>
                <a:spcPts val="1000"/>
              </a:spcBef>
              <a:spcAft>
                <a:spcPts val="400"/>
              </a:spcAft>
            </a:pPr>
            <a:r>
              <a:rPr lang="en-001" sz="2000" dirty="0">
                <a:solidFill>
                  <a:srgbClr val="4F8CFF"/>
                </a:solidFill>
                <a:latin typeface="Segoe UI"/>
              </a:rPr>
              <a:t>▸</a:t>
            </a:r>
            <a:r>
              <a:rPr lang="en-US" sz="2000" dirty="0">
                <a:solidFill>
                  <a:srgbClr val="4F8CFF"/>
                </a:solidFill>
                <a:latin typeface="Segoe UI"/>
              </a:rPr>
              <a:t> Alternative: </a:t>
            </a:r>
            <a:r>
              <a:rPr lang="en-US" sz="2000" dirty="0">
                <a:solidFill>
                  <a:schemeClr val="bg1">
                    <a:lumMod val="95000"/>
                  </a:schemeClr>
                </a:solidFill>
                <a:latin typeface="Segoe UI"/>
              </a:rPr>
              <a:t>build sub-corpuses with limited scope, adding also distractors (like </a:t>
            </a:r>
            <a:r>
              <a:rPr lang="en-US" sz="2000" dirty="0" err="1">
                <a:solidFill>
                  <a:schemeClr val="bg1">
                    <a:lumMod val="95000"/>
                  </a:schemeClr>
                </a:solidFill>
                <a:latin typeface="Segoe UI"/>
              </a:rPr>
              <a:t>HotpotQA</a:t>
            </a:r>
            <a:r>
              <a:rPr lang="en-US" sz="2000" dirty="0">
                <a:solidFill>
                  <a:schemeClr val="bg1">
                    <a:lumMod val="95000"/>
                  </a:schemeClr>
                </a:solidFill>
                <a:latin typeface="Segoe UI"/>
              </a:rPr>
              <a:t> and 2WikiMultihopQA)</a:t>
            </a:r>
            <a:endParaRPr sz="2000" b="0" i="0" dirty="0">
              <a:solidFill>
                <a:schemeClr val="bg1">
                  <a:lumMod val="95000"/>
                </a:schemeClr>
              </a:solidFill>
              <a:latin typeface="Segoe UI"/>
            </a:endParaRPr>
          </a:p>
        </p:txBody>
      </p:sp>
      <p:sp>
        <p:nvSpPr>
          <p:cNvPr id="8" name="Rectangle 7">
            <a:extLst>
              <a:ext uri="{FF2B5EF4-FFF2-40B4-BE49-F238E27FC236}">
                <a16:creationId xmlns:a16="http://schemas.microsoft.com/office/drawing/2014/main" id="{7ECF0AEB-C1FC-99DF-D54F-B201F00B89EF}"/>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F443BD3D-67E7-B088-797E-5083F59678D3}"/>
              </a:ext>
            </a:extLst>
          </p:cNvPr>
          <p:cNvSpPr/>
          <p:nvPr/>
        </p:nvSpPr>
        <p:spPr>
          <a:xfrm>
            <a:off x="975360" y="13868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Slide Number Placeholder 2">
            <a:extLst>
              <a:ext uri="{FF2B5EF4-FFF2-40B4-BE49-F238E27FC236}">
                <a16:creationId xmlns:a16="http://schemas.microsoft.com/office/drawing/2014/main" id="{F5E3F485-D211-D1DC-298A-A2190C60BE56}"/>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B6743D5-2977-D63D-804D-C1EF8BE41F9B}"/>
              </a:ext>
            </a:extLst>
          </p:cNvPr>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411480"/>
            <a:ext cx="10515600" cy="822960"/>
          </a:xfrm>
          <a:prstGeom prst="rect">
            <a:avLst/>
          </a:prstGeom>
          <a:noFill/>
        </p:spPr>
        <p:txBody>
          <a:bodyPr wrap="square">
            <a:spAutoFit/>
          </a:bodyPr>
          <a:lstStyle/>
          <a:p>
            <a:r>
              <a:rPr sz="3200" b="1" i="0">
                <a:solidFill>
                  <a:srgbClr val="F0F0F5"/>
                </a:solidFill>
                <a:latin typeface="Segoe UI"/>
              </a:rPr>
              <a:t>Cluster Validation Approaches</a:t>
            </a:r>
          </a:p>
        </p:txBody>
      </p:sp>
      <p:sp>
        <p:nvSpPr>
          <p:cNvPr id="6" name="TextBox 5"/>
          <p:cNvSpPr txBox="1"/>
          <p:nvPr/>
        </p:nvSpPr>
        <p:spPr>
          <a:xfrm>
            <a:off x="822960" y="1554480"/>
            <a:ext cx="10515600" cy="2836674"/>
          </a:xfrm>
          <a:prstGeom prst="rect">
            <a:avLst/>
          </a:prstGeom>
          <a:noFill/>
        </p:spPr>
        <p:txBody>
          <a:bodyPr wrap="square">
            <a:spAutoFit/>
          </a:bodyPr>
          <a:lstStyle/>
          <a:p>
            <a:pPr>
              <a:spcBef>
                <a:spcPts val="1000"/>
              </a:spcBef>
              <a:spcAft>
                <a:spcPts val="400"/>
              </a:spcAft>
            </a:pPr>
            <a:r>
              <a:rPr b="0" i="0" dirty="0">
                <a:solidFill>
                  <a:srgbClr val="A078FF"/>
                </a:solidFill>
                <a:latin typeface="Segoe UI"/>
              </a:rPr>
              <a:t>▸  </a:t>
            </a:r>
            <a:r>
              <a:rPr sz="2000" b="0" i="0" dirty="0">
                <a:solidFill>
                  <a:srgbClr val="F0F0F5"/>
                </a:solidFill>
                <a:latin typeface="Segoe UI"/>
              </a:rPr>
              <a:t>UMAP + HDBSCAN pipeline on embeddings</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Validate with DBCV, cluster size/density ratios, noise fraction</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Cross-reference clusters with ICD sub-codes for semantic meaning</a:t>
            </a:r>
            <a:endParaRPr lang="en-US" sz="2000" b="0" i="0" dirty="0">
              <a:solidFill>
                <a:srgbClr val="F0F0F5"/>
              </a:solidFill>
              <a:latin typeface="Segoe UI"/>
            </a:endParaRPr>
          </a:p>
          <a:p>
            <a:pPr>
              <a:spcBef>
                <a:spcPts val="1000"/>
              </a:spcBef>
              <a:spcAft>
                <a:spcPts val="400"/>
              </a:spcAft>
            </a:pPr>
            <a:endParaRPr sz="2000" b="0" i="0" dirty="0">
              <a:solidFill>
                <a:srgbClr val="F0F0F5"/>
              </a:solidFill>
              <a:latin typeface="Segoe UI"/>
            </a:endParaRP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Simpler alternative: Jaccard divergence + facility-location gap + aspect recall</a:t>
            </a:r>
          </a:p>
          <a:p>
            <a:pPr>
              <a:spcBef>
                <a:spcPts val="1000"/>
              </a:spcBef>
              <a:spcAft>
                <a:spcPts val="400"/>
              </a:spcAft>
            </a:pPr>
            <a:r>
              <a:rPr b="0" i="0" dirty="0">
                <a:solidFill>
                  <a:srgbClr val="A078FF"/>
                </a:solidFill>
                <a:latin typeface="Segoe UI"/>
              </a:rPr>
              <a:t>▸  </a:t>
            </a:r>
            <a:r>
              <a:rPr sz="2000" b="0" i="0" dirty="0">
                <a:solidFill>
                  <a:srgbClr val="F0F0F5"/>
                </a:solidFill>
                <a:latin typeface="Segoe UI"/>
              </a:rPr>
              <a:t>Full clustering may not be necessary </a:t>
            </a:r>
            <a:r>
              <a:rPr lang="en-US" sz="2000" b="0" i="0" dirty="0">
                <a:solidFill>
                  <a:srgbClr val="F0F0F5"/>
                </a:solidFill>
                <a:latin typeface="Segoe UI"/>
              </a:rPr>
              <a:t>- </a:t>
            </a:r>
            <a:r>
              <a:rPr sz="2000" b="0" i="0" dirty="0">
                <a:solidFill>
                  <a:srgbClr val="F0F0F5"/>
                </a:solidFill>
                <a:latin typeface="Segoe UI"/>
              </a:rPr>
              <a:t>downstream metrics are the real validation</a:t>
            </a:r>
          </a:p>
        </p:txBody>
      </p:sp>
      <p:sp>
        <p:nvSpPr>
          <p:cNvPr id="7" name="Rectangle 6">
            <a:extLst>
              <a:ext uri="{FF2B5EF4-FFF2-40B4-BE49-F238E27FC236}">
                <a16:creationId xmlns:a16="http://schemas.microsoft.com/office/drawing/2014/main" id="{EB067EF4-35A4-D440-A1BB-D537B0763863}"/>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a:extLst>
              <a:ext uri="{FF2B5EF4-FFF2-40B4-BE49-F238E27FC236}">
                <a16:creationId xmlns:a16="http://schemas.microsoft.com/office/drawing/2014/main" id="{87968E31-4E35-E1C5-347F-977042DCEFD0}"/>
              </a:ext>
            </a:extLst>
          </p:cNvPr>
          <p:cNvSpPr/>
          <p:nvPr/>
        </p:nvSpPr>
        <p:spPr>
          <a:xfrm>
            <a:off x="0" y="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Slide Number Placeholder 8">
            <a:extLst>
              <a:ext uri="{FF2B5EF4-FFF2-40B4-BE49-F238E27FC236}">
                <a16:creationId xmlns:a16="http://schemas.microsoft.com/office/drawing/2014/main" id="{35CFCBEE-3FE8-F42E-45A3-5B666CEBB05E}"/>
              </a:ext>
            </a:extLst>
          </p:cNvPr>
          <p:cNvSpPr>
            <a:spLocks noGrp="1"/>
          </p:cNvSpPr>
          <p:nvPr>
            <p:ph type="sldNum" sz="quarter" idx="12"/>
          </p:nvPr>
        </p:nvSpPr>
        <p:spPr/>
        <p:txBody>
          <a:bodyPr/>
          <a:lstStyle/>
          <a:p>
            <a:fld id="{C1FF6DA9-008F-8B48-92A6-B652298478BF}"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81C2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11480"/>
            <a:ext cx="10515600" cy="584775"/>
          </a:xfrm>
          <a:prstGeom prst="rect">
            <a:avLst/>
          </a:prstGeom>
          <a:noFill/>
        </p:spPr>
        <p:txBody>
          <a:bodyPr wrap="square">
            <a:spAutoFit/>
          </a:bodyPr>
          <a:lstStyle/>
          <a:p>
            <a:r>
              <a:rPr sz="3200" b="1" i="0" dirty="0">
                <a:solidFill>
                  <a:srgbClr val="F0F0F5"/>
                </a:solidFill>
                <a:latin typeface="Segoe UI"/>
              </a:rPr>
              <a:t>Phase 2: </a:t>
            </a:r>
            <a:r>
              <a:rPr lang="en-US" sz="3200" b="1" i="0" dirty="0">
                <a:solidFill>
                  <a:srgbClr val="F0F0F5"/>
                </a:solidFill>
                <a:latin typeface="Segoe UI"/>
              </a:rPr>
              <a:t>E</a:t>
            </a:r>
            <a:r>
              <a:rPr sz="3200" b="1" i="0" dirty="0">
                <a:solidFill>
                  <a:srgbClr val="F0F0F5"/>
                </a:solidFill>
                <a:latin typeface="Segoe UI"/>
              </a:rPr>
              <a:t>mbedding</a:t>
            </a:r>
            <a:r>
              <a:rPr lang="en-US" sz="3200" b="1" i="0" dirty="0">
                <a:solidFill>
                  <a:srgbClr val="F0F0F5"/>
                </a:solidFill>
                <a:latin typeface="Segoe UI"/>
              </a:rPr>
              <a:t> models for medical domain</a:t>
            </a:r>
            <a:endParaRPr sz="3200" b="1" i="0" dirty="0">
              <a:solidFill>
                <a:srgbClr val="F0F0F5"/>
              </a:solidFill>
              <a:latin typeface="Segoe UI"/>
            </a:endParaRPr>
          </a:p>
        </p:txBody>
      </p:sp>
      <p:sp>
        <p:nvSpPr>
          <p:cNvPr id="6" name="Rectangle 5"/>
          <p:cNvSpPr/>
          <p:nvPr/>
        </p:nvSpPr>
        <p:spPr>
          <a:xfrm>
            <a:off x="822960" y="1234440"/>
            <a:ext cx="2286000" cy="31750"/>
          </a:xfrm>
          <a:prstGeom prst="rect">
            <a:avLst/>
          </a:prstGeom>
          <a:solidFill>
            <a:srgbClr val="4F8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Table 8"/>
          <p:cNvGraphicFramePr>
            <a:graphicFrameLocks noGrp="1"/>
          </p:cNvGraphicFramePr>
          <p:nvPr/>
        </p:nvGraphicFramePr>
        <p:xfrm>
          <a:off x="822960" y="1852108"/>
          <a:ext cx="6421120" cy="1968052"/>
        </p:xfrm>
        <a:graphic>
          <a:graphicData uri="http://schemas.openxmlformats.org/drawingml/2006/table">
            <a:tbl>
              <a:tblPr>
                <a:tableStyleId>{00000000-0000-0000-0000-000000000000}</a:tableStyleId>
              </a:tblPr>
              <a:tblGrid>
                <a:gridCol w="3338982">
                  <a:extLst>
                    <a:ext uri="{9D8B030D-6E8A-4147-A177-3AD203B41FA5}">
                      <a16:colId xmlns:a16="http://schemas.microsoft.com/office/drawing/2014/main" val="20000"/>
                    </a:ext>
                  </a:extLst>
                </a:gridCol>
                <a:gridCol w="1284224">
                  <a:extLst>
                    <a:ext uri="{9D8B030D-6E8A-4147-A177-3AD203B41FA5}">
                      <a16:colId xmlns:a16="http://schemas.microsoft.com/office/drawing/2014/main" val="20001"/>
                    </a:ext>
                  </a:extLst>
                </a:gridCol>
                <a:gridCol w="1797914">
                  <a:extLst>
                    <a:ext uri="{9D8B030D-6E8A-4147-A177-3AD203B41FA5}">
                      <a16:colId xmlns:a16="http://schemas.microsoft.com/office/drawing/2014/main" val="20002"/>
                    </a:ext>
                  </a:extLst>
                </a:gridCol>
              </a:tblGrid>
              <a:tr h="510235">
                <a:tc>
                  <a:txBody>
                    <a:bodyPr/>
                    <a:lstStyle/>
                    <a:p>
                      <a:pPr algn="l"/>
                      <a:r>
                        <a:rPr sz="1800" b="1" i="0">
                          <a:solidFill>
                            <a:srgbClr val="4F8CFF"/>
                          </a:solidFill>
                          <a:latin typeface="Segoe UI"/>
                        </a:rPr>
                        <a:t>Model</a:t>
                      </a:r>
                    </a:p>
                  </a:txBody>
                  <a:tcPr anchor="ctr">
                    <a:solidFill>
                      <a:srgbClr val="262D41"/>
                    </a:solidFill>
                  </a:tcPr>
                </a:tc>
                <a:tc>
                  <a:txBody>
                    <a:bodyPr/>
                    <a:lstStyle/>
                    <a:p>
                      <a:pPr algn="l"/>
                      <a:r>
                        <a:rPr sz="1800" b="1" i="0">
                          <a:solidFill>
                            <a:srgbClr val="4F8CFF"/>
                          </a:solidFill>
                          <a:latin typeface="Segoe UI"/>
                        </a:rPr>
                        <a:t>Dim</a:t>
                      </a:r>
                    </a:p>
                  </a:txBody>
                  <a:tcPr anchor="ctr">
                    <a:solidFill>
                      <a:srgbClr val="262D41"/>
                    </a:solidFill>
                  </a:tcPr>
                </a:tc>
                <a:tc>
                  <a:txBody>
                    <a:bodyPr/>
                    <a:lstStyle/>
                    <a:p>
                      <a:pPr algn="l"/>
                      <a:r>
                        <a:rPr sz="1800" b="1" i="0">
                          <a:solidFill>
                            <a:srgbClr val="4F8CFF"/>
                          </a:solidFill>
                          <a:latin typeface="Segoe UI"/>
                        </a:rPr>
                        <a:t>Context</a:t>
                      </a:r>
                    </a:p>
                  </a:txBody>
                  <a:tcPr anchor="ctr">
                    <a:solidFill>
                      <a:srgbClr val="262D41"/>
                    </a:solidFill>
                  </a:tcPr>
                </a:tc>
                <a:extLst>
                  <a:ext uri="{0D108BD9-81ED-4DB2-BD59-A6C34878D82A}">
                    <a16:rowId xmlns:a16="http://schemas.microsoft.com/office/drawing/2014/main" val="10000"/>
                  </a:ext>
                </a:extLst>
              </a:tr>
              <a:tr h="485939">
                <a:tc>
                  <a:txBody>
                    <a:bodyPr/>
                    <a:lstStyle/>
                    <a:p>
                      <a:pPr algn="l"/>
                      <a:r>
                        <a:rPr sz="1800" b="0" i="0">
                          <a:solidFill>
                            <a:srgbClr val="F0F0F5"/>
                          </a:solidFill>
                          <a:latin typeface="Segoe UI"/>
                        </a:rPr>
                        <a:t>BioLORD-2023</a:t>
                      </a:r>
                    </a:p>
                  </a:txBody>
                  <a:tcPr anchor="ctr">
                    <a:solidFill>
                      <a:srgbClr val="1C212F"/>
                    </a:solidFill>
                  </a:tcPr>
                </a:tc>
                <a:tc>
                  <a:txBody>
                    <a:bodyPr/>
                    <a:lstStyle/>
                    <a:p>
                      <a:pPr algn="l"/>
                      <a:r>
                        <a:rPr sz="1800" b="0" i="0">
                          <a:solidFill>
                            <a:srgbClr val="F0F0F5"/>
                          </a:solidFill>
                          <a:latin typeface="Segoe UI"/>
                        </a:rPr>
                        <a:t>768</a:t>
                      </a:r>
                    </a:p>
                  </a:txBody>
                  <a:tcPr anchor="ctr">
                    <a:solidFill>
                      <a:srgbClr val="1C212F"/>
                    </a:solidFill>
                  </a:tcPr>
                </a:tc>
                <a:tc>
                  <a:txBody>
                    <a:bodyPr/>
                    <a:lstStyle/>
                    <a:p>
                      <a:pPr algn="l"/>
                      <a:r>
                        <a:rPr sz="1800" b="0" i="0">
                          <a:solidFill>
                            <a:srgbClr val="F0F0F5"/>
                          </a:solidFill>
                          <a:latin typeface="Segoe UI"/>
                        </a:rPr>
                        <a:t>512</a:t>
                      </a:r>
                    </a:p>
                  </a:txBody>
                  <a:tcPr anchor="ctr">
                    <a:solidFill>
                      <a:srgbClr val="1C212F"/>
                    </a:solidFill>
                  </a:tcPr>
                </a:tc>
                <a:extLst>
                  <a:ext uri="{0D108BD9-81ED-4DB2-BD59-A6C34878D82A}">
                    <a16:rowId xmlns:a16="http://schemas.microsoft.com/office/drawing/2014/main" val="10001"/>
                  </a:ext>
                </a:extLst>
              </a:tr>
              <a:tr h="485939">
                <a:tc>
                  <a:txBody>
                    <a:bodyPr/>
                    <a:lstStyle/>
                    <a:p>
                      <a:pPr algn="l"/>
                      <a:r>
                        <a:rPr sz="1800" b="0" i="0">
                          <a:solidFill>
                            <a:srgbClr val="F0F0F5"/>
                          </a:solidFill>
                          <a:latin typeface="Segoe UI"/>
                        </a:rPr>
                        <a:t>MedEmbed (large)</a:t>
                      </a:r>
                    </a:p>
                  </a:txBody>
                  <a:tcPr anchor="ctr">
                    <a:solidFill>
                      <a:srgbClr val="212636"/>
                    </a:solidFill>
                  </a:tcPr>
                </a:tc>
                <a:tc>
                  <a:txBody>
                    <a:bodyPr/>
                    <a:lstStyle/>
                    <a:p>
                      <a:pPr algn="l"/>
                      <a:r>
                        <a:rPr sz="1800" b="0" i="0">
                          <a:solidFill>
                            <a:srgbClr val="F0F0F5"/>
                          </a:solidFill>
                          <a:latin typeface="Segoe UI"/>
                        </a:rPr>
                        <a:t>1024</a:t>
                      </a:r>
                    </a:p>
                  </a:txBody>
                  <a:tcPr anchor="ctr">
                    <a:solidFill>
                      <a:srgbClr val="212636"/>
                    </a:solidFill>
                  </a:tcPr>
                </a:tc>
                <a:tc>
                  <a:txBody>
                    <a:bodyPr/>
                    <a:lstStyle/>
                    <a:p>
                      <a:pPr algn="l"/>
                      <a:r>
                        <a:rPr sz="1800" b="0" i="0">
                          <a:solidFill>
                            <a:srgbClr val="F0F0F5"/>
                          </a:solidFill>
                          <a:latin typeface="Segoe UI"/>
                        </a:rPr>
                        <a:t>512</a:t>
                      </a:r>
                    </a:p>
                  </a:txBody>
                  <a:tcPr anchor="ctr">
                    <a:solidFill>
                      <a:srgbClr val="212636"/>
                    </a:solidFill>
                  </a:tcPr>
                </a:tc>
                <a:extLst>
                  <a:ext uri="{0D108BD9-81ED-4DB2-BD59-A6C34878D82A}">
                    <a16:rowId xmlns:a16="http://schemas.microsoft.com/office/drawing/2014/main" val="10002"/>
                  </a:ext>
                </a:extLst>
              </a:tr>
              <a:tr h="485939">
                <a:tc>
                  <a:txBody>
                    <a:bodyPr/>
                    <a:lstStyle/>
                    <a:p>
                      <a:pPr algn="l"/>
                      <a:r>
                        <a:rPr sz="1800" b="0" i="0" dirty="0" err="1">
                          <a:solidFill>
                            <a:srgbClr val="F0F0F5"/>
                          </a:solidFill>
                          <a:latin typeface="Segoe UI"/>
                        </a:rPr>
                        <a:t>BioClinical</a:t>
                      </a:r>
                      <a:r>
                        <a:rPr sz="1800" b="0" i="0" dirty="0">
                          <a:solidFill>
                            <a:srgbClr val="F0F0F5"/>
                          </a:solidFill>
                          <a:latin typeface="Segoe UI"/>
                        </a:rPr>
                        <a:t> </a:t>
                      </a:r>
                      <a:r>
                        <a:rPr sz="1800" b="0" i="0" dirty="0" err="1">
                          <a:solidFill>
                            <a:srgbClr val="F0F0F5"/>
                          </a:solidFill>
                          <a:latin typeface="Segoe UI"/>
                        </a:rPr>
                        <a:t>ModernBERT</a:t>
                      </a:r>
                      <a:endParaRPr sz="1800" b="0" i="0" dirty="0">
                        <a:solidFill>
                          <a:srgbClr val="F0F0F5"/>
                        </a:solidFill>
                        <a:latin typeface="Segoe UI"/>
                      </a:endParaRPr>
                    </a:p>
                  </a:txBody>
                  <a:tcPr anchor="ctr">
                    <a:solidFill>
                      <a:srgbClr val="1C212F"/>
                    </a:solidFill>
                  </a:tcPr>
                </a:tc>
                <a:tc>
                  <a:txBody>
                    <a:bodyPr/>
                    <a:lstStyle/>
                    <a:p>
                      <a:pPr algn="l"/>
                      <a:r>
                        <a:rPr sz="1800" b="0" i="0">
                          <a:solidFill>
                            <a:srgbClr val="F0F0F5"/>
                          </a:solidFill>
                          <a:latin typeface="Segoe UI"/>
                        </a:rPr>
                        <a:t>768</a:t>
                      </a:r>
                    </a:p>
                  </a:txBody>
                  <a:tcPr anchor="ctr">
                    <a:solidFill>
                      <a:srgbClr val="1C212F"/>
                    </a:solidFill>
                  </a:tcPr>
                </a:tc>
                <a:tc>
                  <a:txBody>
                    <a:bodyPr/>
                    <a:lstStyle/>
                    <a:p>
                      <a:pPr algn="l"/>
                      <a:r>
                        <a:rPr sz="1800" b="0" i="0" dirty="0">
                          <a:solidFill>
                            <a:srgbClr val="F0F0F5"/>
                          </a:solidFill>
                          <a:latin typeface="Segoe UI"/>
                        </a:rPr>
                        <a:t>8,192</a:t>
                      </a:r>
                    </a:p>
                  </a:txBody>
                  <a:tcPr anchor="ctr">
                    <a:solidFill>
                      <a:srgbClr val="1C212F"/>
                    </a:solidFill>
                  </a:tcPr>
                </a:tc>
                <a:extLst>
                  <a:ext uri="{0D108BD9-81ED-4DB2-BD59-A6C34878D82A}">
                    <a16:rowId xmlns:a16="http://schemas.microsoft.com/office/drawing/2014/main" val="10003"/>
                  </a:ext>
                </a:extLst>
              </a:tr>
            </a:tbl>
          </a:graphicData>
        </a:graphic>
      </p:graphicFrame>
      <p:sp>
        <p:nvSpPr>
          <p:cNvPr id="11" name="Rectangle 10">
            <a:extLst>
              <a:ext uri="{FF2B5EF4-FFF2-40B4-BE49-F238E27FC236}">
                <a16:creationId xmlns:a16="http://schemas.microsoft.com/office/drawing/2014/main" id="{1849FAA0-D457-2009-7C3F-29602EBD84D3}"/>
              </a:ext>
            </a:extLst>
          </p:cNvPr>
          <p:cNvSpPr/>
          <p:nvPr/>
        </p:nvSpPr>
        <p:spPr>
          <a:xfrm>
            <a:off x="0" y="35560"/>
            <a:ext cx="73152" cy="685800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7EACA0F4-9A0C-36AA-C1A4-F01BC8E1DE6E}"/>
              </a:ext>
            </a:extLst>
          </p:cNvPr>
          <p:cNvSpPr/>
          <p:nvPr/>
        </p:nvSpPr>
        <p:spPr>
          <a:xfrm>
            <a:off x="822960" y="1234440"/>
            <a:ext cx="2286000" cy="31750"/>
          </a:xfrm>
          <a:prstGeom prst="rect">
            <a:avLst/>
          </a:prstGeom>
          <a:solidFill>
            <a:srgbClr val="FFAB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Slide Number Placeholder 12">
            <a:extLst>
              <a:ext uri="{FF2B5EF4-FFF2-40B4-BE49-F238E27FC236}">
                <a16:creationId xmlns:a16="http://schemas.microsoft.com/office/drawing/2014/main" id="{881D1F25-B32C-1A73-F30C-C35C1E0E1666}"/>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847</TotalTime>
  <Words>1888</Words>
  <Application>Microsoft Office PowerPoint</Application>
  <PresentationFormat>Widescreen</PresentationFormat>
  <Paragraphs>310</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Aptos</vt:lpstr>
      <vt:lpstr>Arial</vt:lpstr>
      <vt:lpstr>Calibri</vt:lpstr>
      <vt:lpstr>Cambria Math</vt:lpstr>
      <vt:lpstr>JetBrains Mono</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Fabrizio Pagnozzi</cp:lastModifiedBy>
  <cp:revision>115</cp:revision>
  <dcterms:created xsi:type="dcterms:W3CDTF">2013-01-27T09:14:16Z</dcterms:created>
  <dcterms:modified xsi:type="dcterms:W3CDTF">2026-06-18T13:13:12Z</dcterms:modified>
  <cp:category/>
</cp:coreProperties>
</file>