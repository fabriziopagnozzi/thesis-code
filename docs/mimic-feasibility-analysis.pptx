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6"/>
  </p:notesMasterIdLst>
  <p:sldIdLst>
    <p:sldId id="256" r:id="rId2"/>
    <p:sldId id="290" r:id="rId3"/>
    <p:sldId id="279" r:id="rId4"/>
    <p:sldId id="257" r:id="rId5"/>
    <p:sldId id="287" r:id="rId6"/>
    <p:sldId id="258" r:id="rId7"/>
    <p:sldId id="289" r:id="rId8"/>
    <p:sldId id="259" r:id="rId9"/>
    <p:sldId id="278" r:id="rId10"/>
    <p:sldId id="285" r:id="rId11"/>
    <p:sldId id="262" r:id="rId12"/>
    <p:sldId id="280" r:id="rId13"/>
    <p:sldId id="265" r:id="rId14"/>
    <p:sldId id="284" r:id="rId15"/>
    <p:sldId id="268" r:id="rId16"/>
    <p:sldId id="277" r:id="rId17"/>
    <p:sldId id="264" r:id="rId18"/>
    <p:sldId id="286" r:id="rId19"/>
    <p:sldId id="281" r:id="rId20"/>
    <p:sldId id="270" r:id="rId21"/>
    <p:sldId id="283" r:id="rId22"/>
    <p:sldId id="271" r:id="rId23"/>
    <p:sldId id="269" r:id="rId24"/>
    <p:sldId id="288" r:id="rId25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48C78E"/>
    <a:srgbClr val="FFAB40"/>
    <a:srgbClr val="4F8CFF"/>
    <a:srgbClr val="212636"/>
    <a:srgbClr val="1C212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20"/>
    <p:restoredTop sz="95172" autoAdjust="0"/>
  </p:normalViewPr>
  <p:slideViewPr>
    <p:cSldViewPr snapToGrid="0" snapToObjects="1">
      <p:cViewPr varScale="1">
        <p:scale>
          <a:sx n="85" d="100"/>
          <a:sy n="85" d="100"/>
        </p:scale>
        <p:origin x="562" y="5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presProps" Target="presProps.xml"/><Relationship Id="rId3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LID4096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095136B-D240-4AC1-860D-A53BD70B9DD0}" type="datetimeFigureOut">
              <a:rPr lang="LID4096" smtClean="0"/>
              <a:t>03/30/2026</a:t>
            </a:fld>
            <a:endParaRPr lang="LID4096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LID4096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LID4096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F1DBEF9-DC59-42C5-8EB6-D4529DDE25A4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5873584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46C467-44DF-404A-AD8D-BD7FC61F89E0}" type="datetime1">
              <a:rPr lang="en-US" smtClean="0"/>
              <a:t>3/30/2026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F8CFE6-D184-487A-ACD8-A82DCF433FE4}" type="datetime1">
              <a:rPr lang="en-US" smtClean="0"/>
              <a:t>3/30/2026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CF5D13-F6BB-4CFE-9D3A-C12C7FF7146A}" type="datetime1">
              <a:rPr lang="en-US" smtClean="0"/>
              <a:t>3/30/2026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0C06912-22D9-4F6C-B8D3-B4D2C75C002C}" type="datetime1">
              <a:rPr lang="en-US" smtClean="0"/>
              <a:t>3/30/2026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A0D3F3C-ACFC-4546-A995-7A6F4D5F2C2F}" type="datetime1">
              <a:rPr lang="en-US" smtClean="0"/>
              <a:t>3/30/2026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50F4C59-E9D1-4841-8245-1515E61AFD97}" type="datetime1">
              <a:rPr lang="en-US" smtClean="0"/>
              <a:t>3/30/2026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0FE2A83-F9D6-485C-B62C-7D807D9F4EEC}" type="datetime1">
              <a:rPr lang="en-US" smtClean="0"/>
              <a:t>3/30/2026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9865360" y="6356349"/>
            <a:ext cx="2133600" cy="365125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5A34C42-C467-4317-9AB6-F6377EDB2B46}" type="datetime1">
              <a:rPr lang="en-US" smtClean="0"/>
              <a:t>3/30/2026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CA7F95-4EC6-49DA-B964-0DFF9C20A579}" type="datetime1">
              <a:rPr lang="en-US" smtClean="0"/>
              <a:t>3/30/2026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7DE8645-AF42-4890-A560-4B70522C4AFC}" type="datetime1">
              <a:rPr lang="en-US" smtClean="0"/>
              <a:t>3/30/2026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2A694C5-6E2F-4E41-B8EF-647314903EED}" type="datetime1">
              <a:rPr lang="en-US" smtClean="0"/>
              <a:t>3/30/2026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A8C62E3-A9B5-4551-83D8-3C193A9C17DB}" type="datetime1">
              <a:rPr lang="en-US" smtClean="0"/>
              <a:t>3/30/2026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21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4F8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Oval 2"/>
          <p:cNvSpPr/>
          <p:nvPr/>
        </p:nvSpPr>
        <p:spPr>
          <a:xfrm>
            <a:off x="8183880" y="1280160"/>
            <a:ext cx="2286000" cy="2286000"/>
          </a:xfrm>
          <a:prstGeom prst="ellipse">
            <a:avLst/>
          </a:prstGeom>
          <a:gradFill flip="none" rotWithShape="1">
            <a:gsLst>
              <a:gs pos="0">
                <a:srgbClr val="28375A">
                  <a:shade val="30000"/>
                  <a:satMod val="115000"/>
                </a:srgbClr>
              </a:gs>
              <a:gs pos="50000">
                <a:srgbClr val="28375A">
                  <a:shade val="67500"/>
                  <a:satMod val="115000"/>
                </a:srgbClr>
              </a:gs>
              <a:gs pos="100000">
                <a:srgbClr val="28375A">
                  <a:shade val="100000"/>
                  <a:satMod val="115000"/>
                </a:srgbClr>
              </a:gs>
            </a:gsLst>
            <a:lin ang="16200000" scaled="1"/>
            <a:tileRect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Oval 3"/>
          <p:cNvSpPr/>
          <p:nvPr/>
        </p:nvSpPr>
        <p:spPr>
          <a:xfrm>
            <a:off x="8942832" y="4549706"/>
            <a:ext cx="1371600" cy="1371600"/>
          </a:xfrm>
          <a:prstGeom prst="ellipse">
            <a:avLst/>
          </a:prstGeom>
          <a:gradFill flip="none" rotWithShape="1">
            <a:gsLst>
              <a:gs pos="0">
                <a:srgbClr val="23304E">
                  <a:shade val="30000"/>
                  <a:satMod val="115000"/>
                </a:srgbClr>
              </a:gs>
              <a:gs pos="50000">
                <a:srgbClr val="23304E">
                  <a:shade val="67500"/>
                  <a:satMod val="115000"/>
                </a:srgbClr>
              </a:gs>
              <a:gs pos="100000">
                <a:srgbClr val="23304E">
                  <a:shade val="100000"/>
                  <a:satMod val="115000"/>
                </a:srgbClr>
              </a:gs>
            </a:gsLst>
            <a:lin ang="16200000" scaled="1"/>
            <a:tileRect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Oval 4"/>
          <p:cNvSpPr/>
          <p:nvPr/>
        </p:nvSpPr>
        <p:spPr>
          <a:xfrm>
            <a:off x="10469880" y="3566160"/>
            <a:ext cx="914400" cy="914400"/>
          </a:xfrm>
          <a:prstGeom prst="ellipse">
            <a:avLst/>
          </a:prstGeom>
          <a:gradFill flip="none" rotWithShape="1">
            <a:gsLst>
              <a:gs pos="0">
                <a:srgbClr val="2D3C5F">
                  <a:shade val="30000"/>
                  <a:satMod val="115000"/>
                </a:srgbClr>
              </a:gs>
              <a:gs pos="50000">
                <a:srgbClr val="2D3C5F">
                  <a:shade val="67500"/>
                  <a:satMod val="115000"/>
                </a:srgbClr>
              </a:gs>
              <a:gs pos="100000">
                <a:srgbClr val="2D3C5F">
                  <a:shade val="100000"/>
                  <a:satMod val="115000"/>
                </a:srgbClr>
              </a:gs>
            </a:gsLst>
            <a:lin ang="16200000" scaled="1"/>
            <a:tileRect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097280" y="1828800"/>
            <a:ext cx="9144000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400" b="1" i="1" dirty="0">
                <a:solidFill>
                  <a:srgbClr val="F0F0F5"/>
                </a:solidFill>
                <a:latin typeface="Segoe UI"/>
              </a:rPr>
              <a:t>MIMIC-IV</a:t>
            </a:r>
            <a:r>
              <a:rPr sz="4400" b="1" i="0" dirty="0">
                <a:solidFill>
                  <a:srgbClr val="F0F0F5"/>
                </a:solidFill>
                <a:latin typeface="Segoe UI"/>
              </a:rPr>
              <a:t> </a:t>
            </a:r>
            <a:r>
              <a:rPr lang="en-US" sz="4400" b="1" i="0" dirty="0">
                <a:solidFill>
                  <a:srgbClr val="F0F0F5"/>
                </a:solidFill>
                <a:latin typeface="Segoe UI"/>
              </a:rPr>
              <a:t>Dataset </a:t>
            </a:r>
          </a:p>
          <a:p>
            <a:r>
              <a:rPr sz="4400" b="1" i="0" dirty="0">
                <a:solidFill>
                  <a:srgbClr val="F0F0F5"/>
                </a:solidFill>
                <a:latin typeface="Segoe UI"/>
              </a:rPr>
              <a:t>QA Benchmark</a:t>
            </a:r>
            <a:r>
              <a:rPr lang="en-US" sz="4400" b="1" i="0" dirty="0">
                <a:solidFill>
                  <a:srgbClr val="F0F0F5"/>
                </a:solidFill>
                <a:latin typeface="Segoe UI"/>
              </a:rPr>
              <a:t> for Coverage</a:t>
            </a:r>
            <a:endParaRPr sz="4400" b="1" i="0" dirty="0">
              <a:solidFill>
                <a:srgbClr val="F0F0F5"/>
              </a:solidFill>
              <a:latin typeface="Segoe UI"/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1097280" y="3566160"/>
            <a:ext cx="2743200" cy="50800"/>
          </a:xfrm>
          <a:prstGeom prst="rect">
            <a:avLst/>
          </a:prstGeom>
          <a:solidFill>
            <a:srgbClr val="4F8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1097280" y="3931920"/>
            <a:ext cx="8229600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lang="en-US" sz="2200" b="0" i="0" dirty="0">
                <a:solidFill>
                  <a:srgbClr val="A0A8BE"/>
                </a:solidFill>
                <a:latin typeface="Segoe UI"/>
              </a:rPr>
              <a:t>Diversity </a:t>
            </a:r>
            <a:r>
              <a:rPr lang="it-IT" sz="2200" b="0" i="0" dirty="0">
                <a:solidFill>
                  <a:srgbClr val="A0A8BE"/>
                </a:solidFill>
                <a:latin typeface="Segoe UI"/>
              </a:rPr>
              <a:t>in RAG Retrieval</a:t>
            </a:r>
            <a:endParaRPr sz="2200" b="0" i="0" dirty="0">
              <a:solidFill>
                <a:srgbClr val="A0A8BE"/>
              </a:solidFill>
              <a:latin typeface="Segoe UI"/>
            </a:endParaRP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1C240976-18A3-DF25-DD75-83DF8BF92D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1</a:t>
            </a:fld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305" y="0"/>
            <a:ext cx="12191695" cy="6858000"/>
          </a:xfrm>
          <a:prstGeom prst="rect">
            <a:avLst/>
          </a:prstGeom>
          <a:solidFill>
            <a:srgbClr val="181C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4F8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11338560" y="6400800"/>
            <a:ext cx="7315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0" i="0">
                <a:solidFill>
                  <a:srgbClr val="828796"/>
                </a:solidFill>
                <a:latin typeface="Segoe UI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411480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200" b="1" i="0">
                <a:solidFill>
                  <a:srgbClr val="F0F0F5"/>
                </a:solidFill>
                <a:latin typeface="Segoe UI"/>
              </a:rPr>
              <a:t>Outline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1051560"/>
            <a:ext cx="1371600" cy="38100"/>
          </a:xfrm>
          <a:prstGeom prst="rect">
            <a:avLst/>
          </a:prstGeom>
          <a:solidFill>
            <a:srgbClr val="4F8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822960" y="1328500"/>
            <a:ext cx="8948569" cy="400410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indent="-457200">
              <a:lnSpc>
                <a:spcPct val="150000"/>
              </a:lnSpc>
              <a:buFont typeface="+mj-lt"/>
              <a:buAutoNum type="arabicPeriod"/>
            </a:pPr>
            <a:r>
              <a:rPr lang="en-US" sz="2400" dirty="0">
                <a:solidFill>
                  <a:schemeClr val="bg1">
                    <a:lumMod val="95000"/>
                  </a:schemeClr>
                </a:solidFill>
                <a:latin typeface="Segoe UI"/>
              </a:rPr>
              <a:t>Why build a benchmark on medical data?</a:t>
            </a:r>
          </a:p>
          <a:p>
            <a:pPr marL="457200" indent="-457200">
              <a:spcBef>
                <a:spcPts val="1000"/>
              </a:spcBef>
              <a:spcAft>
                <a:spcPts val="400"/>
              </a:spcAft>
              <a:buFont typeface="+mj-lt"/>
              <a:buAutoNum type="arabicPeriod"/>
            </a:pPr>
            <a:r>
              <a:rPr sz="2400" i="0" dirty="0">
                <a:solidFill>
                  <a:schemeClr val="bg1">
                    <a:lumMod val="95000"/>
                  </a:schemeClr>
                </a:solidFill>
                <a:latin typeface="Segoe UI"/>
              </a:rPr>
              <a:t>Ideal </a:t>
            </a:r>
            <a:r>
              <a:rPr lang="en-US" sz="2400" dirty="0">
                <a:solidFill>
                  <a:schemeClr val="bg1">
                    <a:lumMod val="95000"/>
                  </a:schemeClr>
                </a:solidFill>
                <a:latin typeface="Segoe UI"/>
              </a:rPr>
              <a:t>d</a:t>
            </a:r>
            <a:r>
              <a:rPr lang="en-US" sz="2400" i="0" dirty="0">
                <a:solidFill>
                  <a:schemeClr val="bg1">
                    <a:lumMod val="95000"/>
                  </a:schemeClr>
                </a:solidFill>
                <a:latin typeface="Segoe UI"/>
              </a:rPr>
              <a:t>ataset for diversity</a:t>
            </a:r>
          </a:p>
          <a:p>
            <a:pPr marL="457200" indent="-457200">
              <a:spcBef>
                <a:spcPts val="1000"/>
              </a:spcBef>
              <a:spcAft>
                <a:spcPts val="400"/>
              </a:spcAft>
              <a:buFont typeface="+mj-lt"/>
              <a:buAutoNum type="arabicPeriod"/>
            </a:pPr>
            <a:r>
              <a:rPr lang="it-IT" sz="2400" dirty="0">
                <a:solidFill>
                  <a:schemeClr val="bg1">
                    <a:lumMod val="95000"/>
                  </a:schemeClr>
                </a:solidFill>
                <a:latin typeface="Segoe UI"/>
              </a:rPr>
              <a:t>Coverage: Facility-Location objective</a:t>
            </a:r>
            <a:endParaRPr sz="2400" i="0" dirty="0">
              <a:solidFill>
                <a:schemeClr val="bg1">
                  <a:lumMod val="95000"/>
                </a:schemeClr>
              </a:solidFill>
              <a:latin typeface="Segoe UI"/>
            </a:endParaRPr>
          </a:p>
          <a:p>
            <a:pPr marL="457200" indent="-457200">
              <a:spcBef>
                <a:spcPts val="1000"/>
              </a:spcBef>
              <a:spcAft>
                <a:spcPts val="400"/>
              </a:spcAft>
              <a:buFont typeface="+mj-lt"/>
              <a:buAutoNum type="arabicPeriod"/>
            </a:pPr>
            <a:r>
              <a:rPr sz="2400" i="0" dirty="0">
                <a:solidFill>
                  <a:schemeClr val="bg1">
                    <a:lumMod val="95000"/>
                  </a:schemeClr>
                </a:solidFill>
                <a:latin typeface="Segoe UI"/>
              </a:rPr>
              <a:t>MIMIC-IV </a:t>
            </a:r>
            <a:r>
              <a:rPr lang="en-US" sz="2400" i="0" dirty="0">
                <a:solidFill>
                  <a:schemeClr val="bg1">
                    <a:lumMod val="95000"/>
                  </a:schemeClr>
                </a:solidFill>
                <a:latin typeface="Segoe UI"/>
              </a:rPr>
              <a:t>d</a:t>
            </a:r>
            <a:r>
              <a:rPr sz="2400" i="0" dirty="0">
                <a:solidFill>
                  <a:schemeClr val="bg1">
                    <a:lumMod val="95000"/>
                  </a:schemeClr>
                </a:solidFill>
                <a:latin typeface="Segoe UI"/>
              </a:rPr>
              <a:t>ataset</a:t>
            </a:r>
            <a:endParaRPr lang="en-US" sz="2400" i="0" dirty="0">
              <a:solidFill>
                <a:schemeClr val="bg1">
                  <a:lumMod val="95000"/>
                </a:schemeClr>
              </a:solidFill>
              <a:latin typeface="Segoe UI"/>
            </a:endParaRPr>
          </a:p>
          <a:p>
            <a:pPr marL="914400" lvl="1" indent="-457200">
              <a:spcBef>
                <a:spcPts val="1000"/>
              </a:spcBef>
              <a:spcAft>
                <a:spcPts val="400"/>
              </a:spcAft>
              <a:buFont typeface="Wingdings" panose="05000000000000000000" pitchFamily="2" charset="2"/>
              <a:buChar char="§"/>
            </a:pPr>
            <a:r>
              <a:rPr lang="it-IT" sz="2400" dirty="0">
                <a:solidFill>
                  <a:schemeClr val="bg1">
                    <a:lumMod val="95000"/>
                  </a:schemeClr>
                </a:solidFill>
                <a:latin typeface="Segoe UI"/>
              </a:rPr>
              <a:t>Overview</a:t>
            </a:r>
            <a:endParaRPr lang="en-US" sz="2400" i="0" dirty="0">
              <a:solidFill>
                <a:schemeClr val="bg1">
                  <a:lumMod val="95000"/>
                </a:schemeClr>
              </a:solidFill>
              <a:latin typeface="Segoe UI"/>
            </a:endParaRPr>
          </a:p>
          <a:p>
            <a:pPr marL="914400" lvl="1" indent="-457200">
              <a:spcBef>
                <a:spcPts val="1000"/>
              </a:spcBef>
              <a:spcAft>
                <a:spcPts val="400"/>
              </a:spcAft>
              <a:buFont typeface="Wingdings" panose="05000000000000000000" pitchFamily="2" charset="2"/>
              <a:buChar char="§"/>
            </a:pPr>
            <a:r>
              <a:rPr lang="it-IT" sz="2400" i="0" dirty="0">
                <a:solidFill>
                  <a:schemeClr val="bg1">
                    <a:lumMod val="95000"/>
                  </a:schemeClr>
                </a:solidFill>
                <a:latin typeface="Segoe UI"/>
              </a:rPr>
              <a:t>Motivations for coverage suitability</a:t>
            </a:r>
          </a:p>
          <a:p>
            <a:pPr marL="457200" indent="-457200">
              <a:lnSpc>
                <a:spcPct val="150000"/>
              </a:lnSpc>
              <a:spcBef>
                <a:spcPts val="1000"/>
              </a:spcBef>
              <a:spcAft>
                <a:spcPts val="400"/>
              </a:spcAft>
              <a:buFont typeface="+mj-lt"/>
              <a:buAutoNum type="arabicPeriod"/>
            </a:pPr>
            <a:r>
              <a:rPr lang="en-US" sz="2400" i="0" dirty="0">
                <a:solidFill>
                  <a:schemeClr val="bg1">
                    <a:lumMod val="95000"/>
                  </a:schemeClr>
                </a:solidFill>
                <a:latin typeface="Segoe UI"/>
              </a:rPr>
              <a:t>Experimental pipeline for building QA benchmark</a:t>
            </a:r>
            <a:endParaRPr sz="2400" i="0" dirty="0">
              <a:solidFill>
                <a:schemeClr val="bg1">
                  <a:lumMod val="95000"/>
                </a:schemeClr>
              </a:solidFill>
              <a:latin typeface="Segoe UI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81C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4F8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822960" y="411480"/>
            <a:ext cx="1051560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3200" b="1" i="0" dirty="0">
                <a:solidFill>
                  <a:srgbClr val="F0F0F5"/>
                </a:solidFill>
                <a:latin typeface="Segoe UI"/>
              </a:rPr>
              <a:t>Why Build a Benchmark on medical data?</a:t>
            </a:r>
            <a:endParaRPr sz="3200" b="1" i="0" dirty="0">
              <a:solidFill>
                <a:srgbClr val="F0F0F5"/>
              </a:solidFill>
              <a:latin typeface="Segoe UI"/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822960" y="1234440"/>
            <a:ext cx="2286000" cy="31750"/>
          </a:xfrm>
          <a:prstGeom prst="rect">
            <a:avLst/>
          </a:prstGeom>
          <a:solidFill>
            <a:srgbClr val="4F8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822960" y="1799307"/>
            <a:ext cx="10105016" cy="37087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0"/>
              </a:spcBef>
              <a:spcAft>
                <a:spcPts val="400"/>
              </a:spcAft>
            </a:pPr>
            <a:r>
              <a:rPr lang="it-IT" sz="2000" dirty="0">
                <a:solidFill>
                  <a:srgbClr val="4F8CFF"/>
                </a:solidFill>
                <a:latin typeface="Segoe UI"/>
              </a:rPr>
              <a:t>▸</a:t>
            </a:r>
            <a:r>
              <a:rPr sz="2000" b="0" i="0" dirty="0">
                <a:solidFill>
                  <a:srgbClr val="4F8CFF"/>
                </a:solidFill>
                <a:latin typeface="Segoe UI"/>
              </a:rPr>
              <a:t>  </a:t>
            </a:r>
            <a:r>
              <a:rPr sz="2000" b="0" i="0" dirty="0">
                <a:solidFill>
                  <a:srgbClr val="F0F0F5"/>
                </a:solidFill>
                <a:latin typeface="Segoe UI"/>
              </a:rPr>
              <a:t>Need to show coverage wins when </a:t>
            </a:r>
            <a:r>
              <a:rPr lang="en-US" sz="2000" b="0" i="0" dirty="0">
                <a:solidFill>
                  <a:srgbClr val="F0F0F5"/>
                </a:solidFill>
                <a:latin typeface="Segoe UI"/>
              </a:rPr>
              <a:t>candidate </a:t>
            </a:r>
            <a:r>
              <a:rPr sz="2000" b="0" i="0" dirty="0">
                <a:solidFill>
                  <a:srgbClr val="F0F0F5"/>
                </a:solidFill>
                <a:latin typeface="Segoe UI"/>
              </a:rPr>
              <a:t>pools have multi-cluster structure</a:t>
            </a:r>
          </a:p>
          <a:p>
            <a:pPr>
              <a:spcBef>
                <a:spcPts val="1200"/>
              </a:spcBef>
              <a:spcAft>
                <a:spcPts val="400"/>
              </a:spcAft>
            </a:pPr>
            <a:r>
              <a:rPr lang="it-IT" sz="2000" dirty="0">
                <a:solidFill>
                  <a:srgbClr val="4F8CFF"/>
                </a:solidFill>
                <a:latin typeface="Segoe UI"/>
              </a:rPr>
              <a:t>▸  </a:t>
            </a:r>
            <a:r>
              <a:rPr lang="it-IT" sz="2000" dirty="0">
                <a:solidFill>
                  <a:srgbClr val="F0F0F5"/>
                </a:solidFill>
                <a:latin typeface="Segoe UI"/>
              </a:rPr>
              <a:t>Medical data is multi-faceted</a:t>
            </a:r>
          </a:p>
          <a:p>
            <a:pPr marL="742950" lvl="1" indent="-285750">
              <a:spcBef>
                <a:spcPts val="200"/>
              </a:spcBef>
              <a:spcAft>
                <a:spcPts val="200"/>
              </a:spcAft>
              <a:buFont typeface="Wingdings" panose="05000000000000000000" pitchFamily="2" charset="2"/>
              <a:buChar char="§"/>
            </a:pPr>
            <a:r>
              <a:rPr lang="it-IT" sz="2000" dirty="0">
                <a:solidFill>
                  <a:schemeClr val="bg1">
                    <a:lumMod val="75000"/>
                  </a:schemeClr>
                </a:solidFill>
                <a:latin typeface="Segoe UI"/>
              </a:rPr>
              <a:t>A</a:t>
            </a:r>
            <a:r>
              <a:rPr lang="it-IT" sz="2000" dirty="0">
                <a:solidFill>
                  <a:srgbClr val="B4B9C8"/>
                </a:solidFill>
                <a:latin typeface="Segoe UI"/>
              </a:rPr>
              <a:t>spects: diagnosis, treatment, demographics, comorbidities</a:t>
            </a:r>
          </a:p>
          <a:p>
            <a:pPr>
              <a:spcBef>
                <a:spcPts val="200"/>
              </a:spcBef>
              <a:spcAft>
                <a:spcPts val="200"/>
              </a:spcAft>
            </a:pPr>
            <a:endParaRPr lang="it-IT" sz="2000" dirty="0">
              <a:solidFill>
                <a:srgbClr val="B4B9C8"/>
              </a:solidFill>
              <a:latin typeface="Segoe UI"/>
            </a:endParaRPr>
          </a:p>
          <a:p>
            <a:pPr>
              <a:spcBef>
                <a:spcPts val="200"/>
              </a:spcBef>
              <a:spcAft>
                <a:spcPts val="200"/>
              </a:spcAft>
            </a:pPr>
            <a:r>
              <a:rPr lang="it-IT" sz="2000" dirty="0">
                <a:solidFill>
                  <a:srgbClr val="48C78E"/>
                </a:solidFill>
                <a:latin typeface="Segoe UI"/>
              </a:rPr>
              <a:t>▸ Example of queries:</a:t>
            </a:r>
          </a:p>
          <a:p>
            <a:pPr marL="742950" lvl="1" indent="-285750">
              <a:spcBef>
                <a:spcPts val="200"/>
              </a:spcBef>
              <a:spcAft>
                <a:spcPts val="200"/>
              </a:spcAft>
              <a:buFont typeface="Wingdings" panose="05000000000000000000" pitchFamily="2" charset="2"/>
              <a:buChar char="§"/>
            </a:pPr>
            <a:r>
              <a:rPr lang="en-US" sz="2000" i="1" dirty="0">
                <a:solidFill>
                  <a:schemeClr val="bg1">
                    <a:lumMod val="75000"/>
                  </a:schemeClr>
                </a:solidFill>
                <a:latin typeface="Segoe UI"/>
              </a:rPr>
              <a:t>"How is pneumonia managed in elderly patients with CKD (Complex Kidney Disease)?“</a:t>
            </a:r>
          </a:p>
          <a:p>
            <a:pPr marL="742950" lvl="1" indent="-285750">
              <a:spcBef>
                <a:spcPts val="200"/>
              </a:spcBef>
              <a:spcAft>
                <a:spcPts val="200"/>
              </a:spcAft>
              <a:buFont typeface="Wingdings" panose="05000000000000000000" pitchFamily="2" charset="2"/>
              <a:buChar char="§"/>
            </a:pPr>
            <a:r>
              <a:rPr lang="en-US" sz="2000" i="1" dirty="0">
                <a:solidFill>
                  <a:schemeClr val="bg1">
                    <a:lumMod val="75000"/>
                  </a:schemeClr>
                </a:solidFill>
                <a:latin typeface="Segoe UI"/>
              </a:rPr>
              <a:t>“What are the symptoms of stroke, and how does the treatment differ if the patient has a prior history of myocardial infarction?"</a:t>
            </a:r>
            <a:endParaRPr lang="en-US" sz="2000" dirty="0">
              <a:solidFill>
                <a:srgbClr val="828796"/>
              </a:solidFill>
              <a:latin typeface="Segoe UI"/>
            </a:endParaRPr>
          </a:p>
          <a:p>
            <a:pPr>
              <a:spcBef>
                <a:spcPts val="200"/>
              </a:spcBef>
              <a:spcAft>
                <a:spcPts val="200"/>
              </a:spcAft>
            </a:pPr>
            <a:endParaRPr lang="it-IT" sz="2000" dirty="0">
              <a:solidFill>
                <a:srgbClr val="B4B9C8"/>
              </a:solidFill>
              <a:latin typeface="Segoe UI"/>
            </a:endParaRPr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834796A9-812B-7552-8D35-4C8271B3D2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81C2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4F8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822960" y="411480"/>
            <a:ext cx="1051560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 i="0" dirty="0">
                <a:solidFill>
                  <a:srgbClr val="F0F0F5"/>
                </a:solidFill>
                <a:latin typeface="Segoe UI"/>
              </a:rPr>
              <a:t>Ideal </a:t>
            </a:r>
            <a:r>
              <a:rPr lang="en-US" sz="3200" b="1" i="0" dirty="0">
                <a:solidFill>
                  <a:srgbClr val="F0F0F5"/>
                </a:solidFill>
                <a:latin typeface="Segoe UI"/>
              </a:rPr>
              <a:t>Dataset</a:t>
            </a:r>
            <a:r>
              <a:rPr sz="3200" b="1" i="0" dirty="0">
                <a:solidFill>
                  <a:srgbClr val="F0F0F5"/>
                </a:solidFill>
                <a:latin typeface="Segoe UI"/>
              </a:rPr>
              <a:t> for </a:t>
            </a:r>
            <a:r>
              <a:rPr lang="en-US" sz="3200" b="1" i="0" dirty="0">
                <a:solidFill>
                  <a:srgbClr val="F0F0F5"/>
                </a:solidFill>
                <a:latin typeface="Segoe UI"/>
              </a:rPr>
              <a:t>Diversity</a:t>
            </a:r>
            <a:endParaRPr sz="3200" b="1" i="0" dirty="0">
              <a:solidFill>
                <a:srgbClr val="F0F0F5"/>
              </a:solidFill>
              <a:latin typeface="Segoe UI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822960" y="1234440"/>
            <a:ext cx="2286000" cy="31750"/>
          </a:xfrm>
          <a:prstGeom prst="rect">
            <a:avLst/>
          </a:prstGeom>
          <a:solidFill>
            <a:srgbClr val="4F8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348FE352-D30D-7819-84B2-C2854053C40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4</a:t>
            </a:fld>
            <a:endParaRPr 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57813B8-4B50-CC78-30FC-C125A3D37C29}"/>
              </a:ext>
            </a:extLst>
          </p:cNvPr>
          <p:cNvSpPr txBox="1"/>
          <p:nvPr/>
        </p:nvSpPr>
        <p:spPr>
          <a:xfrm>
            <a:off x="822960" y="1646907"/>
            <a:ext cx="10078122" cy="31700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0"/>
              </a:spcBef>
              <a:spcAft>
                <a:spcPts val="400"/>
              </a:spcAft>
            </a:pPr>
            <a:r>
              <a:rPr lang="it-IT" sz="2000" dirty="0">
                <a:solidFill>
                  <a:schemeClr val="bg1">
                    <a:lumMod val="95000"/>
                  </a:schemeClr>
                </a:solidFill>
                <a:latin typeface="Segoe UI"/>
              </a:rPr>
              <a:t>Given a query, the ideal document pool candidates should have:</a:t>
            </a:r>
          </a:p>
          <a:p>
            <a:pPr lvl="1">
              <a:spcBef>
                <a:spcPts val="1000"/>
              </a:spcBef>
              <a:spcAft>
                <a:spcPts val="400"/>
              </a:spcAft>
            </a:pPr>
            <a:r>
              <a:rPr lang="it-IT" sz="2000" dirty="0">
                <a:solidFill>
                  <a:srgbClr val="4F8CFF"/>
                </a:solidFill>
                <a:latin typeface="Segoe UI"/>
              </a:rPr>
              <a:t>▸</a:t>
            </a:r>
            <a:r>
              <a:rPr sz="2000" b="0" i="0" dirty="0">
                <a:solidFill>
                  <a:srgbClr val="4F8CFF"/>
                </a:solidFill>
                <a:latin typeface="Segoe UI"/>
              </a:rPr>
              <a:t>  </a:t>
            </a:r>
            <a:r>
              <a:rPr lang="it-IT" sz="2000" b="1" dirty="0">
                <a:solidFill>
                  <a:srgbClr val="4F8CFF"/>
                </a:solidFill>
                <a:latin typeface="Segoe UI"/>
              </a:rPr>
              <a:t>Redundant central cluster: </a:t>
            </a:r>
            <a:r>
              <a:rPr lang="it-IT" sz="2000" dirty="0">
                <a:solidFill>
                  <a:schemeClr val="bg1">
                    <a:lumMod val="95000"/>
                  </a:schemeClr>
                </a:solidFill>
                <a:latin typeface="Segoe UI"/>
              </a:rPr>
              <a:t>dominant topic, many similar documents</a:t>
            </a:r>
            <a:endParaRPr sz="2000" b="0" i="0" dirty="0">
              <a:solidFill>
                <a:schemeClr val="bg1">
                  <a:lumMod val="95000"/>
                </a:schemeClr>
              </a:solidFill>
              <a:latin typeface="Segoe UI"/>
            </a:endParaRPr>
          </a:p>
          <a:p>
            <a:pPr lvl="1">
              <a:spcBef>
                <a:spcPts val="1200"/>
              </a:spcBef>
              <a:spcAft>
                <a:spcPts val="400"/>
              </a:spcAft>
            </a:pPr>
            <a:r>
              <a:rPr lang="it-IT" sz="2000" dirty="0">
                <a:solidFill>
                  <a:srgbClr val="4F8CFF"/>
                </a:solidFill>
                <a:latin typeface="Segoe UI"/>
              </a:rPr>
              <a:t>▸  </a:t>
            </a:r>
            <a:r>
              <a:rPr lang="it-IT" sz="2000" b="1" dirty="0">
                <a:solidFill>
                  <a:srgbClr val="4F8CFF"/>
                </a:solidFill>
                <a:latin typeface="Segoe UI"/>
              </a:rPr>
              <a:t>Complementary cluster(s):  </a:t>
            </a:r>
            <a:r>
              <a:rPr lang="en-US" sz="2000" dirty="0">
                <a:solidFill>
                  <a:schemeClr val="bg1">
                    <a:lumMod val="95000"/>
                  </a:schemeClr>
                </a:solidFill>
                <a:latin typeface="Segoe UI"/>
              </a:rPr>
              <a:t>other </a:t>
            </a:r>
            <a:r>
              <a:rPr lang="en-US" sz="2000" b="1" dirty="0">
                <a:solidFill>
                  <a:schemeClr val="bg1">
                    <a:lumMod val="95000"/>
                  </a:schemeClr>
                </a:solidFill>
                <a:latin typeface="Segoe UI"/>
              </a:rPr>
              <a:t>relevant</a:t>
            </a:r>
            <a:r>
              <a:rPr lang="en-US" sz="2000" dirty="0">
                <a:solidFill>
                  <a:schemeClr val="bg1">
                    <a:lumMod val="95000"/>
                  </a:schemeClr>
                </a:solidFill>
                <a:latin typeface="Segoe UI"/>
              </a:rPr>
              <a:t> aspects for the query</a:t>
            </a:r>
            <a:endParaRPr lang="en-US" sz="2000" b="1" dirty="0">
              <a:solidFill>
                <a:schemeClr val="bg1">
                  <a:lumMod val="95000"/>
                </a:schemeClr>
              </a:solidFill>
              <a:latin typeface="Segoe UI"/>
            </a:endParaRPr>
          </a:p>
          <a:p>
            <a:pPr lvl="1">
              <a:spcBef>
                <a:spcPts val="1200"/>
              </a:spcBef>
              <a:spcAft>
                <a:spcPts val="400"/>
              </a:spcAft>
            </a:pPr>
            <a:r>
              <a:rPr lang="it-IT" sz="2000" dirty="0">
                <a:solidFill>
                  <a:srgbClr val="4F8CFF"/>
                </a:solidFill>
                <a:latin typeface="Segoe UI"/>
              </a:rPr>
              <a:t>▸  </a:t>
            </a:r>
            <a:r>
              <a:rPr lang="it-IT" sz="2000" b="1" dirty="0">
                <a:solidFill>
                  <a:srgbClr val="4F8CFF"/>
                </a:solidFill>
                <a:latin typeface="Segoe UI"/>
              </a:rPr>
              <a:t>Niche cluster: </a:t>
            </a:r>
            <a:r>
              <a:rPr lang="en-US" sz="2000" dirty="0">
                <a:solidFill>
                  <a:schemeClr val="bg1">
                    <a:lumMod val="95000"/>
                  </a:schemeClr>
                </a:solidFill>
                <a:latin typeface="Segoe UI"/>
              </a:rPr>
              <a:t>smaller set of </a:t>
            </a:r>
            <a:r>
              <a:rPr lang="en-US" sz="2000" b="1" dirty="0">
                <a:solidFill>
                  <a:schemeClr val="bg1">
                    <a:lumMod val="95000"/>
                  </a:schemeClr>
                </a:solidFill>
                <a:latin typeface="Segoe UI"/>
              </a:rPr>
              <a:t>relevant</a:t>
            </a:r>
            <a:r>
              <a:rPr lang="en-US" sz="2000" dirty="0">
                <a:solidFill>
                  <a:schemeClr val="bg1">
                    <a:lumMod val="95000"/>
                  </a:schemeClr>
                </a:solidFill>
                <a:latin typeface="Segoe UI"/>
              </a:rPr>
              <a:t> data points</a:t>
            </a:r>
          </a:p>
          <a:p>
            <a:pPr lvl="1">
              <a:spcBef>
                <a:spcPts val="1200"/>
              </a:spcBef>
              <a:spcAft>
                <a:spcPts val="400"/>
              </a:spcAft>
            </a:pPr>
            <a:r>
              <a:rPr lang="it-IT" sz="2000" dirty="0">
                <a:solidFill>
                  <a:srgbClr val="FFAB40"/>
                </a:solidFill>
                <a:latin typeface="Segoe UI"/>
              </a:rPr>
              <a:t>▸ </a:t>
            </a:r>
            <a:r>
              <a:rPr lang="it-IT" sz="2000" dirty="0">
                <a:solidFill>
                  <a:srgbClr val="4F8CFF"/>
                </a:solidFill>
                <a:latin typeface="Segoe UI"/>
              </a:rPr>
              <a:t> </a:t>
            </a:r>
            <a:r>
              <a:rPr lang="it-IT" sz="2000" b="1" dirty="0">
                <a:solidFill>
                  <a:srgbClr val="FFAB40"/>
                </a:solidFill>
                <a:latin typeface="Segoe UI"/>
              </a:rPr>
              <a:t>Outliers: </a:t>
            </a:r>
            <a:r>
              <a:rPr lang="it-IT" sz="2000" dirty="0">
                <a:solidFill>
                  <a:schemeClr val="bg1">
                    <a:lumMod val="95000"/>
                  </a:schemeClr>
                </a:solidFill>
                <a:latin typeface="Segoe UI"/>
              </a:rPr>
              <a:t>noise, or genuine isolated points relevant to the query</a:t>
            </a:r>
          </a:p>
          <a:p>
            <a:pPr>
              <a:spcBef>
                <a:spcPts val="200"/>
              </a:spcBef>
              <a:spcAft>
                <a:spcPts val="200"/>
              </a:spcAft>
            </a:pPr>
            <a:endParaRPr lang="it-IT" sz="2000" dirty="0">
              <a:solidFill>
                <a:srgbClr val="B4B9C8"/>
              </a:solidFill>
              <a:latin typeface="Segoe UI"/>
            </a:endParaRPr>
          </a:p>
          <a:p>
            <a:pPr>
              <a:spcBef>
                <a:spcPts val="200"/>
              </a:spcBef>
              <a:spcAft>
                <a:spcPts val="200"/>
              </a:spcAft>
            </a:pPr>
            <a:endParaRPr lang="it-IT" sz="2000" dirty="0">
              <a:solidFill>
                <a:srgbClr val="B4B9C8"/>
              </a:solidFill>
              <a:latin typeface="Segoe UI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81C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4F8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822960" y="411480"/>
            <a:ext cx="1051560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 i="0" dirty="0">
                <a:solidFill>
                  <a:srgbClr val="F0F0F5"/>
                </a:solidFill>
                <a:latin typeface="Segoe UI"/>
              </a:rPr>
              <a:t>Coverage: Facility-Location</a:t>
            </a:r>
            <a:r>
              <a:rPr lang="it-IT" sz="3200" b="1" i="0" dirty="0">
                <a:solidFill>
                  <a:srgbClr val="F0F0F5"/>
                </a:solidFill>
                <a:latin typeface="Segoe UI"/>
              </a:rPr>
              <a:t> Objective</a:t>
            </a:r>
            <a:endParaRPr sz="3200" b="1" i="0" dirty="0">
              <a:solidFill>
                <a:srgbClr val="F0F0F5"/>
              </a:solidFill>
              <a:latin typeface="Segoe UI"/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822960" y="1234440"/>
            <a:ext cx="2286000" cy="31750"/>
          </a:xfrm>
          <a:prstGeom prst="rect">
            <a:avLst/>
          </a:prstGeom>
          <a:solidFill>
            <a:srgbClr val="4F8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/>
              <p:cNvSpPr txBox="1"/>
              <p:nvPr/>
            </p:nvSpPr>
            <p:spPr>
              <a:xfrm>
                <a:off x="822960" y="1554480"/>
                <a:ext cx="10911840" cy="403540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>
                  <a:spcBef>
                    <a:spcPts val="1200"/>
                  </a:spcBef>
                  <a:spcAft>
                    <a:spcPts val="400"/>
                  </a:spcAft>
                </a:pPr>
                <a:r>
                  <a:rPr lang="en-001" sz="2000" dirty="0">
                    <a:solidFill>
                      <a:srgbClr val="4F8CFF"/>
                    </a:solidFill>
                    <a:latin typeface="Segoe UI"/>
                  </a:rPr>
                  <a:t>▸</a:t>
                </a:r>
                <a:r>
                  <a:rPr lang="it-IT" sz="2000" dirty="0">
                    <a:solidFill>
                      <a:srgbClr val="F0F0F5"/>
                    </a:solidFill>
                    <a:latin typeface="Segoe UI"/>
                  </a:rPr>
                  <a:t> Objective function</a:t>
                </a:r>
              </a:p>
              <a:p>
                <a:pPr>
                  <a:spcBef>
                    <a:spcPts val="1200"/>
                  </a:spcBef>
                  <a:spcAft>
                    <a:spcPts val="400"/>
                  </a:spcAft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dirty="0" smtClean="0">
                          <a:solidFill>
                            <a:srgbClr val="F0F0F5"/>
                          </a:solidFill>
                          <a:latin typeface="Cambria Math" panose="02040503050406030204" pitchFamily="18" charset="0"/>
                        </a:rPr>
                        <m:t>𝑓</m:t>
                      </m:r>
                      <m:d>
                        <m:dPr>
                          <m:ctrlPr>
                            <a:rPr lang="en-US" sz="2000" b="0" i="1" dirty="0" smtClean="0">
                              <a:solidFill>
                                <a:srgbClr val="F0F0F5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000" b="0" i="1" dirty="0" smtClean="0">
                              <a:solidFill>
                                <a:srgbClr val="F0F0F5"/>
                              </a:solidFill>
                              <a:latin typeface="Cambria Math" panose="02040503050406030204" pitchFamily="18" charset="0"/>
                            </a:rPr>
                            <m:t>𝑆</m:t>
                          </m:r>
                        </m:e>
                      </m:d>
                      <m:r>
                        <a:rPr lang="en-US" sz="2000" b="0" i="1" dirty="0" smtClean="0">
                          <a:solidFill>
                            <a:srgbClr val="F0F0F5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2000" i="1" dirty="0" smtClean="0">
                          <a:solidFill>
                            <a:schemeClr val="bg1">
                              <a:lumMod val="85000"/>
                            </a:schemeClr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𝜆</m:t>
                      </m:r>
                      <m:nary>
                        <m:naryPr>
                          <m:chr m:val="∑"/>
                          <m:supHide m:val="on"/>
                          <m:ctrlPr>
                            <a:rPr lang="ar-AE" sz="2000" i="1" dirty="0" smtClean="0">
                              <a:solidFill>
                                <a:schemeClr val="bg1">
                                  <a:lumMod val="8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7"/>
                            </m:rPr>
                            <a:rPr lang="ar-AE" sz="2000" i="1" dirty="0">
                              <a:solidFill>
                                <a:schemeClr val="bg1">
                                  <a:lumMod val="8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ar-AE" sz="2000" i="1" dirty="0">
                              <a:solidFill>
                                <a:schemeClr val="bg1">
                                  <a:lumMod val="8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 ∈</m:t>
                          </m:r>
                          <m:r>
                            <a:rPr lang="en-US" sz="2000" b="0" i="1" dirty="0" smtClean="0">
                              <a:solidFill>
                                <a:schemeClr val="bg1">
                                  <a:lumMod val="8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sz="2000" b="0" i="1" dirty="0" smtClean="0">
                              <a:solidFill>
                                <a:schemeClr val="bg1">
                                  <a:lumMod val="8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𝑆</m:t>
                          </m:r>
                        </m:sub>
                        <m:sup/>
                        <m:e>
                          <m:r>
                            <a:rPr lang="en-US" sz="2000" b="0" i="1" dirty="0" smtClean="0">
                              <a:solidFill>
                                <a:schemeClr val="bg1">
                                  <a:lumMod val="85000"/>
                                </a:schemeClr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𝑢𝑡𝑖𝑙𝑖𝑡𝑦</m:t>
                          </m:r>
                          <m:r>
                            <a:rPr lang="en-US" sz="2000" b="0" i="1" dirty="0" smtClean="0">
                              <a:solidFill>
                                <a:schemeClr val="bg1">
                                  <a:lumMod val="85000"/>
                                </a:schemeClr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(</m:t>
                          </m:r>
                          <m:r>
                            <a:rPr lang="en-US" sz="2000" b="0" i="1" dirty="0" smtClean="0">
                              <a:solidFill>
                                <a:schemeClr val="bg1">
                                  <a:lumMod val="85000"/>
                                </a:schemeClr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sz="2000" b="0" i="1" dirty="0" smtClean="0">
                              <a:solidFill>
                                <a:schemeClr val="bg1">
                                  <a:lumMod val="85000"/>
                                </a:schemeClr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)</m:t>
                          </m:r>
                        </m:e>
                      </m:nary>
                      <m:r>
                        <a:rPr lang="en-US" sz="2000" b="1" i="1" dirty="0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+ </m:t>
                      </m:r>
                      <m:d>
                        <m:dPr>
                          <m:ctrlPr>
                            <a:rPr lang="en-US" sz="2000" b="1" i="1" dirty="0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000" b="1" i="1" dirty="0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𝟏</m:t>
                          </m:r>
                          <m:r>
                            <a:rPr lang="en-US" sz="2000" b="1" i="1" dirty="0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US" sz="2000" b="1" i="1" dirty="0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𝝀</m:t>
                          </m:r>
                        </m:e>
                      </m:d>
                      <m:nary>
                        <m:naryPr>
                          <m:chr m:val="∑"/>
                          <m:supHide m:val="on"/>
                          <m:ctrlPr>
                            <a:rPr lang="ar-AE" sz="2000" b="1" i="1" dirty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7"/>
                            </m:rPr>
                            <a:rPr lang="ar-AE" sz="2000" b="1" i="1" dirty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𝒊</m:t>
                          </m:r>
                          <m:r>
                            <a:rPr lang="ar-AE" sz="2000" b="1" i="1" dirty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 ∈ </m:t>
                          </m:r>
                          <m:r>
                            <a:rPr lang="ar-AE" sz="2000" b="1" i="1" dirty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𝑫</m:t>
                          </m:r>
                        </m:sub>
                        <m:sup/>
                        <m:e>
                          <m:func>
                            <m:funcPr>
                              <m:ctrlPr>
                                <a:rPr lang="ar-AE" sz="2000" b="1" i="1" dirty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limLow>
                                <m:limLowPr>
                                  <m:ctrlPr>
                                    <a:rPr lang="ar-AE" sz="2000" b="1" i="1" dirty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limLowPr>
                                <m:e>
                                  <m:r>
                                    <a:rPr lang="it-IT" sz="2000" b="1" i="1" dirty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𝒎𝒂𝒙</m:t>
                                  </m:r>
                                </m:e>
                                <m:lim>
                                  <m:r>
                                    <a:rPr lang="ar-AE" sz="2000" b="1" i="1" dirty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𝒋</m:t>
                                  </m:r>
                                  <m:r>
                                    <a:rPr lang="ar-AE" sz="2000" b="1" i="1" dirty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 ∈ </m:t>
                                  </m:r>
                                  <m:r>
                                    <a:rPr lang="ar-AE" sz="2000" b="1" i="1" dirty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𝑺</m:t>
                                  </m:r>
                                </m:lim>
                              </m:limLow>
                            </m:fName>
                            <m:e>
                              <m:r>
                                <a:rPr lang="ar-AE" sz="2000" b="1" i="1" dirty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𝒔𝒊𝒎</m:t>
                              </m:r>
                              <m:r>
                                <a:rPr lang="ar-AE" sz="2000" b="1" i="1" dirty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ar-AE" sz="2000" b="1" i="1" dirty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𝒊</m:t>
                              </m:r>
                              <m:r>
                                <a:rPr lang="ar-AE" sz="2000" b="1" i="1" dirty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, </m:t>
                              </m:r>
                              <m:r>
                                <a:rPr lang="ar-AE" sz="2000" b="1" i="1" dirty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𝒋</m:t>
                              </m:r>
                              <m:r>
                                <a:rPr lang="ar-AE" sz="2000" b="1" i="1" dirty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e>
                          </m:func>
                        </m:e>
                      </m:nary>
                    </m:oMath>
                  </m:oMathPara>
                </a14:m>
                <a:endParaRPr lang="ar-AE" sz="2000" b="1" i="0" dirty="0">
                  <a:solidFill>
                    <a:srgbClr val="F0F0F5"/>
                  </a:solidFill>
                  <a:latin typeface="Segoe UI"/>
                </a:endParaRPr>
              </a:p>
              <a:p>
                <a:pPr>
                  <a:spcBef>
                    <a:spcPts val="200"/>
                  </a:spcBef>
                  <a:spcAft>
                    <a:spcPts val="200"/>
                  </a:spcAft>
                </a:pPr>
                <a:endParaRPr lang="en-US" sz="1600" b="0" i="0" dirty="0">
                  <a:solidFill>
                    <a:srgbClr val="828796"/>
                  </a:solidFill>
                  <a:latin typeface="Segoe UI"/>
                </a:endParaRPr>
              </a:p>
              <a:p>
                <a:pPr marL="742950" lvl="1" indent="-285750">
                  <a:spcBef>
                    <a:spcPts val="200"/>
                  </a:spcBef>
                  <a:spcAft>
                    <a:spcPts val="200"/>
                  </a:spcAft>
                  <a:buFont typeface="Wingdings" panose="05000000000000000000" pitchFamily="2" charset="2"/>
                  <a:buChar char="§"/>
                </a:pPr>
                <a:r>
                  <a:rPr lang="it-IT" b="0" i="0" dirty="0">
                    <a:solidFill>
                      <a:srgbClr val="B4B9C8"/>
                    </a:solidFill>
                    <a:latin typeface="Segoe UI"/>
                  </a:rPr>
                  <a:t>Every item in the candidate pool D has a representative in </a:t>
                </a:r>
                <a:r>
                  <a:rPr lang="it-IT" i="0" dirty="0">
                    <a:solidFill>
                      <a:srgbClr val="B4B9C8"/>
                    </a:solidFill>
                    <a:latin typeface="Segoe UI"/>
                  </a:rPr>
                  <a:t>S</a:t>
                </a:r>
              </a:p>
              <a:p>
                <a:pPr marL="742950" lvl="1" indent="-285750">
                  <a:spcBef>
                    <a:spcPts val="200"/>
                  </a:spcBef>
                  <a:spcAft>
                    <a:spcPts val="200"/>
                  </a:spcAft>
                  <a:buFont typeface="Wingdings" panose="05000000000000000000" pitchFamily="2" charset="2"/>
                  <a:buChar char="§"/>
                </a:pPr>
                <a:r>
                  <a:rPr lang="it-IT" dirty="0">
                    <a:solidFill>
                      <a:srgbClr val="B4B9C8"/>
                    </a:solidFill>
                    <a:latin typeface="Segoe UI"/>
                  </a:rPr>
                  <a:t>Respects data distribution rather than maximizing spread between items</a:t>
                </a:r>
                <a:r>
                  <a:rPr lang="it-IT" sz="1600" b="0" i="0" dirty="0">
                    <a:solidFill>
                      <a:srgbClr val="828796"/>
                    </a:solidFill>
                    <a:latin typeface="Segoe UI"/>
                  </a:rPr>
                  <a:t>       </a:t>
                </a:r>
              </a:p>
              <a:p>
                <a:pPr>
                  <a:spcBef>
                    <a:spcPts val="200"/>
                  </a:spcBef>
                  <a:spcAft>
                    <a:spcPts val="200"/>
                  </a:spcAft>
                </a:pPr>
                <a:endParaRPr lang="en-US" sz="2000" b="0" i="0" dirty="0">
                  <a:solidFill>
                    <a:srgbClr val="4F8CFF"/>
                  </a:solidFill>
                  <a:latin typeface="Segoe UI"/>
                </a:endParaRPr>
              </a:p>
              <a:p>
                <a:pPr>
                  <a:spcBef>
                    <a:spcPts val="1200"/>
                  </a:spcBef>
                  <a:spcAft>
                    <a:spcPts val="400"/>
                  </a:spcAft>
                </a:pPr>
                <a:r>
                  <a:rPr lang="en-001" sz="2000" dirty="0">
                    <a:solidFill>
                      <a:srgbClr val="4F8CFF"/>
                    </a:solidFill>
                    <a:latin typeface="Segoe UI"/>
                  </a:rPr>
                  <a:t>▸</a:t>
                </a:r>
                <a:r>
                  <a:rPr lang="it-IT" sz="2000" i="0" dirty="0">
                    <a:solidFill>
                      <a:srgbClr val="48C78E"/>
                    </a:solidFill>
                    <a:latin typeface="Segoe UI"/>
                  </a:rPr>
                  <a:t>  </a:t>
                </a:r>
                <a:r>
                  <a:rPr lang="it-IT" sz="2000" i="0" dirty="0">
                    <a:solidFill>
                      <a:srgbClr val="F0F0F5"/>
                    </a:solidFill>
                    <a:latin typeface="Segoe UI"/>
                  </a:rPr>
                  <a:t>Theoretical guarantees</a:t>
                </a:r>
              </a:p>
              <a:p>
                <a:pPr marL="742950" lvl="1" indent="-285750">
                  <a:spcBef>
                    <a:spcPts val="200"/>
                  </a:spcBef>
                  <a:spcAft>
                    <a:spcPts val="200"/>
                  </a:spcAft>
                  <a:buFont typeface="Wingdings" panose="05000000000000000000" pitchFamily="2" charset="2"/>
                  <a:buChar char="§"/>
                </a:pPr>
                <a:r>
                  <a:rPr lang="it-IT" b="0" i="0" dirty="0">
                    <a:solidFill>
                      <a:srgbClr val="B4B9C8"/>
                    </a:solidFill>
                    <a:latin typeface="Segoe UI"/>
                  </a:rPr>
                  <a:t>g(S) is monotone submodular</a:t>
                </a:r>
              </a:p>
              <a:p>
                <a:pPr marL="742950" lvl="1" indent="-285750">
                  <a:spcBef>
                    <a:spcPts val="200"/>
                  </a:spcBef>
                  <a:spcAft>
                    <a:spcPts val="200"/>
                  </a:spcAft>
                  <a:buFont typeface="Wingdings" panose="05000000000000000000" pitchFamily="2" charset="2"/>
                  <a:buChar char="§"/>
                </a:pPr>
                <a:r>
                  <a:rPr lang="it-IT" b="0" i="0" dirty="0">
                    <a:solidFill>
                      <a:srgbClr val="B4B9C8"/>
                    </a:solidFill>
                    <a:latin typeface="Segoe UI"/>
                  </a:rPr>
                  <a:t>Greedy selection gives (1 − 1/e) ≈ 0.632 approximation w.r.t. optimal solution</a:t>
                </a:r>
              </a:p>
              <a:p>
                <a:pPr marL="742950" lvl="1" indent="-285750">
                  <a:spcBef>
                    <a:spcPts val="200"/>
                  </a:spcBef>
                  <a:spcAft>
                    <a:spcPts val="200"/>
                  </a:spcAft>
                  <a:buFont typeface="Wingdings" panose="05000000000000000000" pitchFamily="2" charset="2"/>
                  <a:buChar char="§"/>
                </a:pPr>
                <a:r>
                  <a:rPr lang="it-IT" b="0" i="0" dirty="0">
                    <a:solidFill>
                      <a:srgbClr val="B4B9C8"/>
                    </a:solidFill>
                    <a:latin typeface="Segoe UI"/>
                  </a:rPr>
                  <a:t>No such guarantee exists for </a:t>
                </a:r>
                <a:r>
                  <a:rPr lang="it-IT" b="0" i="1" dirty="0">
                    <a:solidFill>
                      <a:srgbClr val="B4B9C8"/>
                    </a:solidFill>
                    <a:latin typeface="Segoe UI"/>
                  </a:rPr>
                  <a:t>dispersion</a:t>
                </a:r>
                <a:r>
                  <a:rPr lang="it-IT" b="0" i="0" dirty="0">
                    <a:solidFill>
                      <a:srgbClr val="B4B9C8"/>
                    </a:solidFill>
                    <a:latin typeface="Segoe UI"/>
                  </a:rPr>
                  <a:t> (NP-hard)</a:t>
                </a:r>
                <a:endParaRPr b="0" i="0" dirty="0">
                  <a:solidFill>
                    <a:srgbClr val="B4B9C8"/>
                  </a:solidFill>
                  <a:latin typeface="Segoe UI"/>
                </a:endParaRPr>
              </a:p>
            </p:txBody>
          </p:sp>
        </mc:Choice>
        <mc:Fallback xmlns="">
          <p:sp>
            <p:nvSpPr>
              <p:cNvPr id="7" name="TextBox 6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22960" y="1554480"/>
                <a:ext cx="10911840" cy="4035400"/>
              </a:xfrm>
              <a:prstGeom prst="rect">
                <a:avLst/>
              </a:prstGeom>
              <a:blipFill>
                <a:blip r:embed="rId2"/>
                <a:stretch>
                  <a:fillRect l="-559" t="-755" b="-1511"/>
                </a:stretch>
              </a:blipFill>
            </p:spPr>
            <p:txBody>
              <a:bodyPr/>
              <a:lstStyle/>
              <a:p>
                <a:r>
                  <a:rPr lang="LID4096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405C435B-AD19-162C-3762-FA373658DB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81C2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4F8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822960" y="411480"/>
            <a:ext cx="1051560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 i="1" dirty="0">
                <a:solidFill>
                  <a:srgbClr val="F0F0F5"/>
                </a:solidFill>
                <a:latin typeface="Segoe UI"/>
              </a:rPr>
              <a:t>MIMIC-IV</a:t>
            </a:r>
            <a:r>
              <a:rPr sz="3200" b="1" i="0" dirty="0">
                <a:solidFill>
                  <a:srgbClr val="F0F0F5"/>
                </a:solidFill>
                <a:latin typeface="Segoe UI"/>
              </a:rPr>
              <a:t> </a:t>
            </a:r>
            <a:r>
              <a:rPr lang="it-IT" sz="3200" b="1" i="0" dirty="0">
                <a:solidFill>
                  <a:srgbClr val="F0F0F5"/>
                </a:solidFill>
                <a:latin typeface="Segoe UI"/>
              </a:rPr>
              <a:t>Dataset</a:t>
            </a:r>
            <a:r>
              <a:rPr sz="3200" b="1" i="0" dirty="0">
                <a:solidFill>
                  <a:srgbClr val="F0F0F5"/>
                </a:solidFill>
                <a:latin typeface="Segoe UI"/>
              </a:rPr>
              <a:t> Overview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234440"/>
            <a:ext cx="2286000" cy="31750"/>
          </a:xfrm>
          <a:prstGeom prst="rect">
            <a:avLst/>
          </a:prstGeom>
          <a:solidFill>
            <a:srgbClr val="4F8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822960" y="1522153"/>
            <a:ext cx="10544048" cy="547842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spcAft>
                <a:spcPts val="400"/>
              </a:spcAft>
            </a:pPr>
            <a:r>
              <a:rPr lang="en-001" sz="2000" dirty="0">
                <a:solidFill>
                  <a:srgbClr val="4F8CFF"/>
                </a:solidFill>
                <a:latin typeface="Segoe UI"/>
              </a:rPr>
              <a:t>▸</a:t>
            </a:r>
            <a:r>
              <a:rPr lang="en-US" sz="2000" dirty="0">
                <a:solidFill>
                  <a:srgbClr val="4F8CFF"/>
                </a:solidFill>
                <a:latin typeface="Segoe UI"/>
              </a:rPr>
              <a:t>  </a:t>
            </a:r>
            <a:r>
              <a:rPr sz="2000" i="1" dirty="0">
                <a:solidFill>
                  <a:srgbClr val="F0F0F5"/>
                </a:solidFill>
                <a:latin typeface="Segoe UI"/>
              </a:rPr>
              <a:t>MIMIC-IV</a:t>
            </a:r>
            <a:r>
              <a:rPr sz="2000" b="0" i="0" dirty="0">
                <a:solidFill>
                  <a:srgbClr val="F0F0F5"/>
                </a:solidFill>
                <a:latin typeface="Segoe UI"/>
              </a:rPr>
              <a:t>: tabular clinical data (diagnoses, procedures, meds, labs</a:t>
            </a:r>
            <a:r>
              <a:rPr lang="en-US" sz="2000" dirty="0">
                <a:solidFill>
                  <a:srgbClr val="F0F0F5"/>
                </a:solidFill>
                <a:latin typeface="Segoe UI"/>
              </a:rPr>
              <a:t>, measurements</a:t>
            </a:r>
            <a:r>
              <a:rPr sz="2000" b="0" i="0" dirty="0">
                <a:solidFill>
                  <a:srgbClr val="F0F0F5"/>
                </a:solidFill>
                <a:latin typeface="Segoe UI"/>
              </a:rPr>
              <a:t>)</a:t>
            </a:r>
          </a:p>
          <a:p>
            <a:pPr>
              <a:spcBef>
                <a:spcPts val="800"/>
              </a:spcBef>
              <a:spcAft>
                <a:spcPts val="400"/>
              </a:spcAft>
            </a:pPr>
            <a:r>
              <a:rPr lang="en-001" sz="2000" dirty="0">
                <a:solidFill>
                  <a:srgbClr val="4F8CFF"/>
                </a:solidFill>
                <a:latin typeface="Segoe UI"/>
              </a:rPr>
              <a:t>▸</a:t>
            </a:r>
            <a:r>
              <a:rPr lang="en-US" sz="2000" dirty="0">
                <a:solidFill>
                  <a:srgbClr val="4F8CFF"/>
                </a:solidFill>
                <a:latin typeface="Segoe UI"/>
              </a:rPr>
              <a:t>  </a:t>
            </a:r>
            <a:r>
              <a:rPr sz="2000" i="1" dirty="0">
                <a:solidFill>
                  <a:srgbClr val="FFAB40"/>
                </a:solidFill>
                <a:latin typeface="Segoe UI"/>
              </a:rPr>
              <a:t>MIMIC-IV-Note</a:t>
            </a:r>
            <a:r>
              <a:rPr sz="2000" b="0" i="0" dirty="0">
                <a:solidFill>
                  <a:schemeClr val="bg1"/>
                </a:solidFill>
                <a:latin typeface="Segoe UI"/>
              </a:rPr>
              <a:t>: free-text</a:t>
            </a:r>
            <a:r>
              <a:rPr lang="en-US" sz="2000" dirty="0">
                <a:solidFill>
                  <a:schemeClr val="bg1"/>
                </a:solidFill>
                <a:latin typeface="Segoe UI"/>
              </a:rPr>
              <a:t> data</a:t>
            </a:r>
          </a:p>
          <a:p>
            <a:pPr marL="742950" lvl="1" indent="-285750">
              <a:spcBef>
                <a:spcPts val="800"/>
              </a:spcBef>
              <a:spcAft>
                <a:spcPts val="400"/>
              </a:spcAft>
              <a:buFont typeface="Wingdings" panose="05000000000000000000" pitchFamily="2" charset="2"/>
              <a:buChar char="§"/>
            </a:pPr>
            <a:r>
              <a:rPr lang="en-US" sz="2000" b="1" i="1" dirty="0">
                <a:solidFill>
                  <a:schemeClr val="bg1">
                    <a:lumMod val="95000"/>
                  </a:schemeClr>
                </a:solidFill>
                <a:latin typeface="Segoe UI"/>
              </a:rPr>
              <a:t>Discharge Summaries </a:t>
            </a:r>
            <a:r>
              <a:rPr lang="en-US" sz="2000" i="1" dirty="0">
                <a:solidFill>
                  <a:schemeClr val="bg1">
                    <a:lumMod val="95000"/>
                  </a:schemeClr>
                </a:solidFill>
                <a:latin typeface="Segoe UI"/>
              </a:rPr>
              <a:t>(~330K)</a:t>
            </a:r>
            <a:r>
              <a:rPr lang="en-US" sz="2000" dirty="0">
                <a:solidFill>
                  <a:schemeClr val="bg1">
                    <a:lumMod val="95000"/>
                  </a:schemeClr>
                </a:solidFill>
                <a:latin typeface="Segoe UI"/>
              </a:rPr>
              <a:t>: in-depth notes which overview a patient’s history and course throughout a hospitalization</a:t>
            </a:r>
          </a:p>
          <a:p>
            <a:pPr marL="742950" lvl="1" indent="-285750">
              <a:spcBef>
                <a:spcPts val="800"/>
              </a:spcBef>
              <a:spcAft>
                <a:spcPts val="400"/>
              </a:spcAft>
              <a:buFont typeface="Wingdings" panose="05000000000000000000" pitchFamily="2" charset="2"/>
              <a:buChar char="§"/>
            </a:pPr>
            <a:r>
              <a:rPr lang="en-US" sz="2000" i="1" dirty="0">
                <a:solidFill>
                  <a:schemeClr val="bg1">
                    <a:lumMod val="95000"/>
                  </a:schemeClr>
                </a:solidFill>
                <a:latin typeface="Segoe UI"/>
              </a:rPr>
              <a:t>Radiology Reports (~2.3M): reports spanning x-ray, CT, MRI, and ultrasound </a:t>
            </a:r>
          </a:p>
          <a:p>
            <a:pPr>
              <a:spcBef>
                <a:spcPts val="800"/>
              </a:spcBef>
              <a:spcAft>
                <a:spcPts val="400"/>
              </a:spcAft>
            </a:pPr>
            <a:endParaRPr lang="en-US" sz="2000" b="0" i="0" dirty="0">
              <a:solidFill>
                <a:srgbClr val="F0F0F5"/>
              </a:solidFill>
              <a:latin typeface="Segoe UI"/>
            </a:endParaRPr>
          </a:p>
          <a:p>
            <a:pPr>
              <a:spcBef>
                <a:spcPts val="800"/>
              </a:spcBef>
              <a:spcAft>
                <a:spcPts val="400"/>
              </a:spcAft>
            </a:pPr>
            <a:r>
              <a:rPr lang="en-001" sz="2000" dirty="0">
                <a:solidFill>
                  <a:srgbClr val="4F8CFF"/>
                </a:solidFill>
                <a:latin typeface="Segoe UI"/>
              </a:rPr>
              <a:t>▸</a:t>
            </a:r>
            <a:r>
              <a:rPr lang="en-US" sz="2000" dirty="0">
                <a:solidFill>
                  <a:srgbClr val="4F8CFF"/>
                </a:solidFill>
                <a:latin typeface="Segoe UI"/>
              </a:rPr>
              <a:t>  </a:t>
            </a:r>
            <a:r>
              <a:rPr lang="en-US" sz="2000" dirty="0">
                <a:solidFill>
                  <a:schemeClr val="bg1">
                    <a:lumMod val="95000"/>
                  </a:schemeClr>
                </a:solidFill>
                <a:latin typeface="Segoe UI"/>
              </a:rPr>
              <a:t>Discharge summaries allow for design of multi-aspect queries requiring synthesis across patients </a:t>
            </a:r>
          </a:p>
          <a:p>
            <a:pPr>
              <a:spcBef>
                <a:spcPts val="800"/>
              </a:spcBef>
              <a:spcAft>
                <a:spcPts val="400"/>
              </a:spcAft>
            </a:pPr>
            <a:r>
              <a:rPr lang="en-001" sz="2000" dirty="0">
                <a:solidFill>
                  <a:srgbClr val="4F8CFF"/>
                </a:solidFill>
                <a:latin typeface="Segoe UI"/>
              </a:rPr>
              <a:t>▸</a:t>
            </a:r>
            <a:r>
              <a:rPr lang="en-US" sz="2000" dirty="0">
                <a:solidFill>
                  <a:srgbClr val="4F8CFF"/>
                </a:solidFill>
                <a:latin typeface="Segoe UI"/>
              </a:rPr>
              <a:t>  </a:t>
            </a:r>
            <a:r>
              <a:rPr lang="en-US" sz="2000" dirty="0">
                <a:solidFill>
                  <a:schemeClr val="bg1">
                    <a:lumMod val="95000"/>
                  </a:schemeClr>
                </a:solidFill>
                <a:latin typeface="Segoe UI"/>
              </a:rPr>
              <a:t>Structured info in MIMIC-IV used for document pool construction and patient usable data</a:t>
            </a:r>
          </a:p>
          <a:p>
            <a:pPr>
              <a:spcBef>
                <a:spcPts val="800"/>
              </a:spcBef>
              <a:spcAft>
                <a:spcPts val="400"/>
              </a:spcAft>
            </a:pPr>
            <a:endParaRPr lang="en-US" sz="2000" dirty="0">
              <a:solidFill>
                <a:schemeClr val="bg1">
                  <a:lumMod val="95000"/>
                </a:schemeClr>
              </a:solidFill>
              <a:latin typeface="Segoe UI"/>
            </a:endParaRPr>
          </a:p>
          <a:p>
            <a:pPr>
              <a:spcBef>
                <a:spcPts val="800"/>
              </a:spcBef>
              <a:spcAft>
                <a:spcPts val="400"/>
              </a:spcAft>
            </a:pPr>
            <a:r>
              <a:rPr sz="2000" b="0" i="0" dirty="0">
                <a:solidFill>
                  <a:srgbClr val="4F8CFF"/>
                </a:solidFill>
                <a:latin typeface="Segoe UI"/>
              </a:rPr>
              <a:t>▸ </a:t>
            </a:r>
            <a:r>
              <a:rPr lang="en-US" sz="2000" b="0" i="0" dirty="0">
                <a:solidFill>
                  <a:schemeClr val="bg1">
                    <a:lumMod val="95000"/>
                  </a:schemeClr>
                </a:solidFill>
                <a:latin typeface="Segoe UI"/>
              </a:rPr>
              <a:t>De-identification: a</a:t>
            </a:r>
            <a:r>
              <a:rPr sz="2000" b="0" i="0" dirty="0">
                <a:solidFill>
                  <a:schemeClr val="bg1">
                    <a:lumMod val="95000"/>
                  </a:schemeClr>
                </a:solidFill>
                <a:latin typeface="Segoe UI"/>
              </a:rPr>
              <a:t>ll PHI removed/replaced with ___ placeholders</a:t>
            </a:r>
          </a:p>
          <a:p>
            <a:pPr>
              <a:spcBef>
                <a:spcPts val="800"/>
              </a:spcBef>
              <a:spcAft>
                <a:spcPts val="400"/>
              </a:spcAft>
            </a:pPr>
            <a:endParaRPr sz="2000" b="0" i="0" dirty="0">
              <a:solidFill>
                <a:srgbClr val="F0F0F5"/>
              </a:solidFill>
              <a:latin typeface="Segoe UI"/>
            </a:endParaRPr>
          </a:p>
        </p:txBody>
      </p:sp>
      <p:sp>
        <p:nvSpPr>
          <p:cNvPr id="12" name="Slide Number Placeholder 11">
            <a:extLst>
              <a:ext uri="{FF2B5EF4-FFF2-40B4-BE49-F238E27FC236}">
                <a16:creationId xmlns:a16="http://schemas.microsoft.com/office/drawing/2014/main" id="{ED442247-4172-EBA3-1A1B-6D5B0A6C9FC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036BA40-3166-C17A-1719-03BDF23ED5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2EF1CC52-4F31-0F01-7176-A70E083EDE46}"/>
              </a:ext>
            </a:extLst>
          </p:cNvPr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81C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32379BB4-3B06-2960-B566-55FC8EC73F18}"/>
              </a:ext>
            </a:extLst>
          </p:cNvPr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4F8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AB0D9D6-1A13-8C37-43E9-331309D16503}"/>
              </a:ext>
            </a:extLst>
          </p:cNvPr>
          <p:cNvSpPr txBox="1"/>
          <p:nvPr/>
        </p:nvSpPr>
        <p:spPr>
          <a:xfrm>
            <a:off x="822960" y="411480"/>
            <a:ext cx="1051560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 i="0" dirty="0">
                <a:solidFill>
                  <a:srgbClr val="F0F0F5"/>
                </a:solidFill>
                <a:latin typeface="Segoe UI"/>
              </a:rPr>
              <a:t>Ideal </a:t>
            </a:r>
            <a:r>
              <a:rPr lang="en-US" sz="3200" b="1" i="0" dirty="0">
                <a:solidFill>
                  <a:srgbClr val="F0F0F5"/>
                </a:solidFill>
                <a:latin typeface="Segoe UI"/>
              </a:rPr>
              <a:t>Dataset</a:t>
            </a:r>
            <a:r>
              <a:rPr sz="3200" b="1" i="0" dirty="0">
                <a:solidFill>
                  <a:srgbClr val="F0F0F5"/>
                </a:solidFill>
                <a:latin typeface="Segoe UI"/>
              </a:rPr>
              <a:t> for Coverage</a:t>
            </a:r>
            <a:r>
              <a:rPr lang="en-US" sz="3200" b="1" dirty="0">
                <a:solidFill>
                  <a:srgbClr val="F0F0F5"/>
                </a:solidFill>
                <a:latin typeface="Segoe UI"/>
              </a:rPr>
              <a:t>: MIMIC-IV?</a:t>
            </a:r>
            <a:endParaRPr sz="3200" b="1" i="0" dirty="0">
              <a:solidFill>
                <a:srgbClr val="F0F0F5"/>
              </a:solidFill>
              <a:latin typeface="Segoe UI"/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AF6DB0C9-AC5D-C8E6-A307-CA232EFB6831}"/>
              </a:ext>
            </a:extLst>
          </p:cNvPr>
          <p:cNvSpPr/>
          <p:nvPr/>
        </p:nvSpPr>
        <p:spPr>
          <a:xfrm>
            <a:off x="822960" y="1234440"/>
            <a:ext cx="2286000" cy="31750"/>
          </a:xfrm>
          <a:prstGeom prst="rect">
            <a:avLst/>
          </a:prstGeom>
          <a:solidFill>
            <a:srgbClr val="4F8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61B25720-9E1A-E889-F27F-B0ABA8E8784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57620072"/>
              </p:ext>
            </p:extLst>
          </p:nvPr>
        </p:nvGraphicFramePr>
        <p:xfrm>
          <a:off x="1587903" y="1706351"/>
          <a:ext cx="8985714" cy="4486472"/>
        </p:xfrm>
        <a:graphic>
          <a:graphicData uri="http://schemas.openxmlformats.org/drawingml/2006/table">
            <a:tbl>
              <a:tblPr>
                <a:tableStyleId>{00000000-0000-0000-0000-000000000000}</a:tableStyleId>
              </a:tblPr>
              <a:tblGrid>
                <a:gridCol w="326766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718048">
                  <a:extLst>
                    <a:ext uri="{9D8B030D-6E8A-4147-A177-3AD203B41FA5}">
                      <a16:colId xmlns:a16="http://schemas.microsoft.com/office/drawing/2014/main" val="1574346174"/>
                    </a:ext>
                  </a:extLst>
                </a:gridCol>
              </a:tblGrid>
              <a:tr h="660640">
                <a:tc>
                  <a:txBody>
                    <a:bodyPr/>
                    <a:lstStyle/>
                    <a:p>
                      <a:pPr algn="ctr"/>
                      <a:r>
                        <a:rPr sz="1600" b="1" i="0" dirty="0">
                          <a:solidFill>
                            <a:schemeClr val="bg1"/>
                          </a:solidFill>
                          <a:latin typeface="Segoe UI"/>
                        </a:rPr>
                        <a:t>Cluster Type</a:t>
                      </a:r>
                    </a:p>
                  </a:txBody>
                  <a:tcPr anchor="ctr"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b="1" i="0" dirty="0">
                          <a:solidFill>
                            <a:schemeClr val="bg1"/>
                          </a:solidFill>
                          <a:latin typeface="Segoe UI"/>
                        </a:rPr>
                        <a:t>Possible </a:t>
                      </a:r>
                      <a:r>
                        <a:rPr sz="1600" b="1" i="0" dirty="0">
                          <a:solidFill>
                            <a:schemeClr val="bg1"/>
                          </a:solidFill>
                          <a:latin typeface="Segoe UI"/>
                        </a:rPr>
                        <a:t>MIMIC-IV</a:t>
                      </a:r>
                      <a:r>
                        <a:rPr lang="en-US" sz="1600" b="1" i="0" dirty="0">
                          <a:solidFill>
                            <a:schemeClr val="bg1"/>
                          </a:solidFill>
                          <a:latin typeface="Segoe UI"/>
                        </a:rPr>
                        <a:t> candidates</a:t>
                      </a:r>
                      <a:endParaRPr sz="1600" b="1" i="0" dirty="0">
                        <a:solidFill>
                          <a:schemeClr val="bg1"/>
                        </a:solidFill>
                        <a:latin typeface="Segoe UI"/>
                      </a:endParaRPr>
                    </a:p>
                  </a:txBody>
                  <a:tcPr anchor="ctr">
                    <a:solidFill>
                      <a:schemeClr val="tx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956458">
                <a:tc>
                  <a:txBody>
                    <a:bodyPr/>
                    <a:lstStyle/>
                    <a:p>
                      <a:pPr algn="ctr"/>
                      <a:r>
                        <a:rPr sz="1800" b="1" i="0" dirty="0">
                          <a:solidFill>
                            <a:srgbClr val="4F8CFF"/>
                          </a:solidFill>
                          <a:latin typeface="Segoe UI"/>
                        </a:rPr>
                        <a:t>Redundant</a:t>
                      </a:r>
                      <a:r>
                        <a:rPr lang="en-US" sz="1800" b="1" i="0" dirty="0">
                          <a:solidFill>
                            <a:srgbClr val="4F8CFF"/>
                          </a:solidFill>
                          <a:latin typeface="Segoe UI"/>
                        </a:rPr>
                        <a:t> </a:t>
                      </a:r>
                      <a:r>
                        <a:rPr sz="1800" b="1" i="0" dirty="0">
                          <a:solidFill>
                            <a:srgbClr val="4F8CFF"/>
                          </a:solidFill>
                          <a:latin typeface="Segoe UI"/>
                        </a:rPr>
                        <a:t>central cluster</a:t>
                      </a:r>
                    </a:p>
                  </a:txBody>
                  <a:tcPr anchor="ctr">
                    <a:solidFill>
                      <a:srgbClr val="1C212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 i="0" dirty="0">
                          <a:solidFill>
                            <a:srgbClr val="F0F0F5"/>
                          </a:solidFill>
                          <a:latin typeface="Segoe UI"/>
                        </a:rPr>
                        <a:t>Common conditions → hundreds of similar notes</a:t>
                      </a:r>
                    </a:p>
                  </a:txBody>
                  <a:tcPr anchor="ctr">
                    <a:solidFill>
                      <a:srgbClr val="1C212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956458">
                <a:tc>
                  <a:txBody>
                    <a:bodyPr/>
                    <a:lstStyle/>
                    <a:p>
                      <a:pPr algn="ctr"/>
                      <a:r>
                        <a:rPr sz="1800" b="1" i="0" dirty="0">
                          <a:solidFill>
                            <a:srgbClr val="4F8CFF"/>
                          </a:solidFill>
                          <a:latin typeface="Segoe UI"/>
                        </a:rPr>
                        <a:t>Complementary cluster(s)</a:t>
                      </a:r>
                    </a:p>
                  </a:txBody>
                  <a:tcPr anchor="ctr">
                    <a:solidFill>
                      <a:srgbClr val="21263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 i="0" dirty="0">
                          <a:solidFill>
                            <a:srgbClr val="F0F0F5"/>
                          </a:solidFill>
                          <a:latin typeface="Segoe UI"/>
                        </a:rPr>
                        <a:t>Comorbidity combos (pneumonia</a:t>
                      </a:r>
                      <a:r>
                        <a:rPr lang="en-US" sz="1800" b="0" i="0" dirty="0">
                          <a:solidFill>
                            <a:srgbClr val="F0F0F5"/>
                          </a:solidFill>
                          <a:latin typeface="Segoe UI"/>
                        </a:rPr>
                        <a:t> </a:t>
                      </a:r>
                      <a:r>
                        <a:rPr sz="1800" b="0" i="0" dirty="0">
                          <a:solidFill>
                            <a:srgbClr val="F0F0F5"/>
                          </a:solidFill>
                          <a:latin typeface="Segoe UI"/>
                        </a:rPr>
                        <a:t>+</a:t>
                      </a:r>
                      <a:r>
                        <a:rPr lang="en-US" sz="1800" b="0" i="0" dirty="0">
                          <a:solidFill>
                            <a:srgbClr val="F0F0F5"/>
                          </a:solidFill>
                          <a:latin typeface="Segoe UI"/>
                        </a:rPr>
                        <a:t> </a:t>
                      </a:r>
                      <a:r>
                        <a:rPr sz="1800" b="0" i="0" dirty="0">
                          <a:solidFill>
                            <a:srgbClr val="F0F0F5"/>
                          </a:solidFill>
                          <a:latin typeface="Segoe UI"/>
                        </a:rPr>
                        <a:t>CKD +</a:t>
                      </a:r>
                      <a:r>
                        <a:rPr lang="en-US" sz="1800" b="0" i="0" dirty="0">
                          <a:solidFill>
                            <a:srgbClr val="F0F0F5"/>
                          </a:solidFill>
                          <a:latin typeface="Segoe UI"/>
                        </a:rPr>
                        <a:t> </a:t>
                      </a:r>
                      <a:r>
                        <a:rPr sz="1800" b="0" i="0" dirty="0">
                          <a:solidFill>
                            <a:srgbClr val="F0F0F5"/>
                          </a:solidFill>
                          <a:latin typeface="Segoe UI"/>
                        </a:rPr>
                        <a:t>diabetes) → distinct management sub-groups</a:t>
                      </a:r>
                    </a:p>
                  </a:txBody>
                  <a:tcPr anchor="ctr">
                    <a:solidFill>
                      <a:srgbClr val="21263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956458">
                <a:tc>
                  <a:txBody>
                    <a:bodyPr/>
                    <a:lstStyle/>
                    <a:p>
                      <a:pPr algn="ctr"/>
                      <a:r>
                        <a:rPr sz="1800" b="1" i="0" dirty="0">
                          <a:solidFill>
                            <a:srgbClr val="4F8CFF"/>
                          </a:solidFill>
                          <a:latin typeface="Segoe UI"/>
                        </a:rPr>
                        <a:t>Niche cluster</a:t>
                      </a:r>
                    </a:p>
                  </a:txBody>
                  <a:tcPr anchor="ctr">
                    <a:solidFill>
                      <a:srgbClr val="1C212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 i="0" dirty="0">
                          <a:solidFill>
                            <a:srgbClr val="F0F0F5"/>
                          </a:solidFill>
                          <a:latin typeface="Segoe UI"/>
                        </a:rPr>
                        <a:t>Rare complications → few notes, unique reasoning</a:t>
                      </a:r>
                    </a:p>
                  </a:txBody>
                  <a:tcPr anchor="ctr">
                    <a:solidFill>
                      <a:srgbClr val="1C212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956458">
                <a:tc>
                  <a:txBody>
                    <a:bodyPr/>
                    <a:lstStyle/>
                    <a:p>
                      <a:pPr algn="ctr"/>
                      <a:r>
                        <a:rPr sz="1800" b="1" i="0" dirty="0">
                          <a:solidFill>
                            <a:srgbClr val="FFAB40"/>
                          </a:solidFill>
                          <a:latin typeface="Segoe UI"/>
                        </a:rPr>
                        <a:t>Outliers</a:t>
                      </a:r>
                    </a:p>
                  </a:txBody>
                  <a:tcPr anchor="ctr">
                    <a:solidFill>
                      <a:srgbClr val="21263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 i="0" dirty="0">
                          <a:solidFill>
                            <a:srgbClr val="F0F0F5"/>
                          </a:solidFill>
                          <a:latin typeface="Segoe UI"/>
                        </a:rPr>
                        <a:t>ICD mismatches, boilerplate copies, </a:t>
                      </a:r>
                      <a:r>
                        <a:rPr lang="en-US" sz="1800" b="0" i="0" dirty="0">
                          <a:solidFill>
                            <a:srgbClr val="F0F0F5"/>
                          </a:solidFill>
                          <a:latin typeface="Segoe UI"/>
                        </a:rPr>
                        <a:t>noisy </a:t>
                      </a:r>
                      <a:r>
                        <a:rPr sz="1800" b="0" i="0" dirty="0">
                          <a:solidFill>
                            <a:srgbClr val="F0F0F5"/>
                          </a:solidFill>
                          <a:latin typeface="Segoe UI"/>
                        </a:rPr>
                        <a:t>de-id artifacts</a:t>
                      </a:r>
                    </a:p>
                  </a:txBody>
                  <a:tcPr anchor="ctr">
                    <a:solidFill>
                      <a:srgbClr val="21263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B9845D41-FEDC-FBB6-C4CE-9A10341B80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553416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81C2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A07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822960" y="411480"/>
            <a:ext cx="1051560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it-IT" sz="3200" b="1" i="1" dirty="0">
                <a:solidFill>
                  <a:srgbClr val="F0F0F5"/>
                </a:solidFill>
                <a:latin typeface="Segoe UI"/>
              </a:rPr>
              <a:t>MIMIC-IV-Note</a:t>
            </a:r>
            <a:r>
              <a:rPr lang="it-IT" sz="3200" b="1" dirty="0">
                <a:solidFill>
                  <a:srgbClr val="F0F0F5"/>
                </a:solidFill>
                <a:latin typeface="Segoe UI"/>
              </a:rPr>
              <a:t> </a:t>
            </a:r>
            <a:r>
              <a:rPr sz="3200" b="1" i="0" dirty="0">
                <a:solidFill>
                  <a:srgbClr val="F0F0F5"/>
                </a:solidFill>
                <a:latin typeface="Segoe UI"/>
              </a:rPr>
              <a:t>Discharge Summaries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234440"/>
            <a:ext cx="2286000" cy="31750"/>
          </a:xfrm>
          <a:prstGeom prst="rect">
            <a:avLst/>
          </a:prstGeom>
          <a:solidFill>
            <a:srgbClr val="A07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graphicFrame>
        <p:nvGraphicFramePr>
          <p:cNvPr id="6" name="Table 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14115449"/>
              </p:ext>
            </p:extLst>
          </p:nvPr>
        </p:nvGraphicFramePr>
        <p:xfrm>
          <a:off x="1252294" y="1615370"/>
          <a:ext cx="9687411" cy="4684711"/>
        </p:xfrm>
        <a:graphic>
          <a:graphicData uri="http://schemas.openxmlformats.org/drawingml/2006/table">
            <a:tbl>
              <a:tblPr>
                <a:tableStyleId>{00000000-0000-0000-0000-000000000000}</a:tableStyleId>
              </a:tblPr>
              <a:tblGrid>
                <a:gridCol w="325361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13712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29666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84094">
                <a:tc>
                  <a:txBody>
                    <a:bodyPr/>
                    <a:lstStyle/>
                    <a:p>
                      <a:pPr algn="ctr"/>
                      <a:r>
                        <a:rPr sz="1600" b="1" i="0" dirty="0">
                          <a:solidFill>
                            <a:schemeClr val="bg1">
                              <a:lumMod val="95000"/>
                            </a:schemeClr>
                          </a:solidFill>
                          <a:latin typeface="Segoe UI"/>
                        </a:rPr>
                        <a:t>Section</a:t>
                      </a:r>
                    </a:p>
                  </a:txBody>
                  <a:tcPr anchor="ctr"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 i="0" dirty="0">
                          <a:solidFill>
                            <a:schemeClr val="bg1">
                              <a:lumMod val="95000"/>
                            </a:schemeClr>
                          </a:solidFill>
                          <a:latin typeface="Segoe UI"/>
                        </a:rPr>
                        <a:t>Content</a:t>
                      </a:r>
                    </a:p>
                  </a:txBody>
                  <a:tcPr anchor="ctr"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 i="0" dirty="0">
                          <a:solidFill>
                            <a:schemeClr val="bg1">
                              <a:lumMod val="95000"/>
                            </a:schemeClr>
                          </a:solidFill>
                          <a:latin typeface="Segoe UI"/>
                        </a:rPr>
                        <a:t>QA Value</a:t>
                      </a:r>
                    </a:p>
                  </a:txBody>
                  <a:tcPr anchor="ctr">
                    <a:solidFill>
                      <a:schemeClr val="tx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32000">
                <a:tc>
                  <a:txBody>
                    <a:bodyPr/>
                    <a:lstStyle/>
                    <a:p>
                      <a:pPr algn="l"/>
                      <a:r>
                        <a:rPr sz="1600" b="1" i="0" dirty="0">
                          <a:solidFill>
                            <a:schemeClr val="bg1"/>
                          </a:solidFill>
                          <a:latin typeface="Segoe UI"/>
                        </a:rPr>
                        <a:t>Brief Hospital Course</a:t>
                      </a:r>
                    </a:p>
                  </a:txBody>
                  <a:tcPr anchor="ctr">
                    <a:solidFill>
                      <a:srgbClr val="1C212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600" b="1" i="0" dirty="0">
                          <a:solidFill>
                            <a:schemeClr val="bg1"/>
                          </a:solidFill>
                          <a:latin typeface="Segoe UI"/>
                        </a:rPr>
                        <a:t>Clinical reasoning per problem</a:t>
                      </a:r>
                    </a:p>
                  </a:txBody>
                  <a:tcPr anchor="ctr">
                    <a:solidFill>
                      <a:srgbClr val="1C212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600" b="1" i="0" dirty="0">
                          <a:solidFill>
                            <a:srgbClr val="48C78E"/>
                          </a:solidFill>
                          <a:latin typeface="Segoe UI"/>
                        </a:rPr>
                        <a:t>High</a:t>
                      </a:r>
                    </a:p>
                  </a:txBody>
                  <a:tcPr anchor="ctr">
                    <a:solidFill>
                      <a:srgbClr val="1C212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32000">
                <a:tc>
                  <a:txBody>
                    <a:bodyPr/>
                    <a:lstStyle/>
                    <a:p>
                      <a:pPr algn="l"/>
                      <a:r>
                        <a:rPr sz="1600" b="0" i="0" dirty="0">
                          <a:solidFill>
                            <a:srgbClr val="F0F0F5"/>
                          </a:solidFill>
                          <a:latin typeface="Segoe UI"/>
                        </a:rPr>
                        <a:t>History of Present Illness</a:t>
                      </a:r>
                    </a:p>
                  </a:txBody>
                  <a:tcPr anchor="ctr">
                    <a:solidFill>
                      <a:srgbClr val="21263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600" b="0" i="0">
                          <a:solidFill>
                            <a:srgbClr val="F0F0F5"/>
                          </a:solidFill>
                          <a:latin typeface="Segoe UI"/>
                        </a:rPr>
                        <a:t>Symptom narrative, temporal progression</a:t>
                      </a:r>
                    </a:p>
                  </a:txBody>
                  <a:tcPr anchor="ctr">
                    <a:solidFill>
                      <a:srgbClr val="21263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600" b="0" i="0" dirty="0">
                          <a:solidFill>
                            <a:srgbClr val="48C78E"/>
                          </a:solidFill>
                          <a:latin typeface="Segoe UI"/>
                        </a:rPr>
                        <a:t>High</a:t>
                      </a:r>
                    </a:p>
                  </a:txBody>
                  <a:tcPr anchor="ctr">
                    <a:solidFill>
                      <a:srgbClr val="21263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32000">
                <a:tc>
                  <a:txBody>
                    <a:bodyPr/>
                    <a:lstStyle/>
                    <a:p>
                      <a:pPr algn="l"/>
                      <a:r>
                        <a:rPr sz="1600" b="0" i="0">
                          <a:solidFill>
                            <a:srgbClr val="F0F0F5"/>
                          </a:solidFill>
                          <a:latin typeface="Segoe UI"/>
                        </a:rPr>
                        <a:t>Pertinent Results</a:t>
                      </a:r>
                    </a:p>
                  </a:txBody>
                  <a:tcPr anchor="ctr">
                    <a:solidFill>
                      <a:srgbClr val="1C212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600" b="0" i="0" dirty="0">
                          <a:solidFill>
                            <a:srgbClr val="F0F0F5"/>
                          </a:solidFill>
                          <a:latin typeface="Segoe UI"/>
                        </a:rPr>
                        <a:t>Labs, imaging, micro interpretations</a:t>
                      </a:r>
                    </a:p>
                  </a:txBody>
                  <a:tcPr anchor="ctr">
                    <a:solidFill>
                      <a:srgbClr val="1C212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600" b="0" i="0" dirty="0">
                          <a:solidFill>
                            <a:srgbClr val="48C78E"/>
                          </a:solidFill>
                          <a:latin typeface="Segoe UI"/>
                        </a:rPr>
                        <a:t>High</a:t>
                      </a:r>
                    </a:p>
                  </a:txBody>
                  <a:tcPr anchor="ctr">
                    <a:solidFill>
                      <a:srgbClr val="1C212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32000">
                <a:tc>
                  <a:txBody>
                    <a:bodyPr/>
                    <a:lstStyle/>
                    <a:p>
                      <a:pPr algn="l"/>
                      <a:r>
                        <a:rPr sz="1600" b="0" i="0" dirty="0">
                          <a:solidFill>
                            <a:srgbClr val="F0F0F5"/>
                          </a:solidFill>
                          <a:latin typeface="Segoe UI"/>
                        </a:rPr>
                        <a:t>Discharge Diagnosis</a:t>
                      </a:r>
                    </a:p>
                  </a:txBody>
                  <a:tcPr anchor="ctr">
                    <a:solidFill>
                      <a:srgbClr val="21263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600" b="0" i="0">
                          <a:solidFill>
                            <a:srgbClr val="F0F0F5"/>
                          </a:solidFill>
                          <a:latin typeface="Segoe UI"/>
                        </a:rPr>
                        <a:t>Diagnostic labels (linkable to ICD)</a:t>
                      </a:r>
                    </a:p>
                  </a:txBody>
                  <a:tcPr anchor="ctr">
                    <a:solidFill>
                      <a:srgbClr val="21263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600" b="0" i="0" dirty="0">
                          <a:solidFill>
                            <a:srgbClr val="48C78E"/>
                          </a:solidFill>
                          <a:latin typeface="Segoe UI"/>
                        </a:rPr>
                        <a:t>High</a:t>
                      </a:r>
                    </a:p>
                  </a:txBody>
                  <a:tcPr anchor="ctr">
                    <a:solidFill>
                      <a:srgbClr val="21263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32000">
                <a:tc>
                  <a:txBody>
                    <a:bodyPr/>
                    <a:lstStyle/>
                    <a:p>
                      <a:pPr algn="l"/>
                      <a:r>
                        <a:rPr sz="1600" b="0" i="0" dirty="0">
                          <a:solidFill>
                            <a:srgbClr val="F0F0F5"/>
                          </a:solidFill>
                          <a:latin typeface="Segoe UI"/>
                        </a:rPr>
                        <a:t>Chief Complaint</a:t>
                      </a:r>
                    </a:p>
                  </a:txBody>
                  <a:tcPr anchor="ctr">
                    <a:solidFill>
                      <a:srgbClr val="1C212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600" b="0" i="0">
                          <a:solidFill>
                            <a:srgbClr val="F0F0F5"/>
                          </a:solidFill>
                          <a:latin typeface="Segoe UI"/>
                        </a:rPr>
                        <a:t>1–2 lines, reason for admission</a:t>
                      </a:r>
                    </a:p>
                  </a:txBody>
                  <a:tcPr anchor="ctr">
                    <a:solidFill>
                      <a:srgbClr val="1C212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600" b="0" i="0" dirty="0">
                          <a:solidFill>
                            <a:srgbClr val="48C78E"/>
                          </a:solidFill>
                          <a:latin typeface="Segoe UI"/>
                        </a:rPr>
                        <a:t>High (as embedding metadata)</a:t>
                      </a:r>
                    </a:p>
                  </a:txBody>
                  <a:tcPr anchor="ctr">
                    <a:solidFill>
                      <a:srgbClr val="1C212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32000">
                <a:tc>
                  <a:txBody>
                    <a:bodyPr/>
                    <a:lstStyle/>
                    <a:p>
                      <a:pPr algn="l"/>
                      <a:r>
                        <a:rPr sz="1600" b="0" i="0">
                          <a:solidFill>
                            <a:srgbClr val="F0F0F5"/>
                          </a:solidFill>
                          <a:latin typeface="Segoe UI"/>
                        </a:rPr>
                        <a:t>Past Medical History</a:t>
                      </a:r>
                    </a:p>
                  </a:txBody>
                  <a:tcPr anchor="ctr">
                    <a:solidFill>
                      <a:srgbClr val="21263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600" b="0" i="0" dirty="0">
                          <a:solidFill>
                            <a:srgbClr val="F0F0F5"/>
                          </a:solidFill>
                          <a:latin typeface="Segoe UI"/>
                        </a:rPr>
                        <a:t>Comorbidities list</a:t>
                      </a:r>
                    </a:p>
                  </a:txBody>
                  <a:tcPr anchor="ctr">
                    <a:solidFill>
                      <a:srgbClr val="21263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600" b="0" i="0" dirty="0">
                          <a:solidFill>
                            <a:srgbClr val="FFAB40"/>
                          </a:solidFill>
                          <a:latin typeface="Segoe UI"/>
                        </a:rPr>
                        <a:t>Medium</a:t>
                      </a:r>
                    </a:p>
                  </a:txBody>
                  <a:tcPr anchor="ctr">
                    <a:solidFill>
                      <a:srgbClr val="21263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461497">
                <a:tc>
                  <a:txBody>
                    <a:bodyPr/>
                    <a:lstStyle/>
                    <a:p>
                      <a:pPr marL="285750" indent="-285750" algn="l">
                        <a:buFontTx/>
                        <a:buChar char="-"/>
                      </a:pPr>
                      <a:r>
                        <a:rPr sz="1600" b="0" i="0" dirty="0">
                          <a:solidFill>
                            <a:srgbClr val="F0F0F5"/>
                          </a:solidFill>
                          <a:latin typeface="Segoe UI"/>
                        </a:rPr>
                        <a:t>Surgical</a:t>
                      </a:r>
                      <a:r>
                        <a:rPr lang="en-US" sz="1600" b="0" i="0" dirty="0">
                          <a:solidFill>
                            <a:srgbClr val="F0F0F5"/>
                          </a:solidFill>
                          <a:latin typeface="Segoe UI"/>
                        </a:rPr>
                        <a:t> / </a:t>
                      </a:r>
                      <a:r>
                        <a:rPr sz="1600" b="0" i="0" dirty="0">
                          <a:solidFill>
                            <a:srgbClr val="F0F0F5"/>
                          </a:solidFill>
                          <a:latin typeface="Segoe UI"/>
                        </a:rPr>
                        <a:t>Invasive Procedure</a:t>
                      </a:r>
                      <a:endParaRPr lang="en-US" sz="1600" b="0" i="0" dirty="0">
                        <a:solidFill>
                          <a:srgbClr val="F0F0F5"/>
                        </a:solidFill>
                        <a:latin typeface="Segoe UI"/>
                      </a:endParaRPr>
                    </a:p>
                    <a:p>
                      <a:pPr marL="285750" indent="-285750" algn="l">
                        <a:buFontTx/>
                        <a:buChar char="-"/>
                      </a:pPr>
                      <a:r>
                        <a:rPr lang="it-IT" sz="1600" b="0" i="0" dirty="0">
                          <a:solidFill>
                            <a:srgbClr val="F0F0F5"/>
                          </a:solidFill>
                          <a:latin typeface="Segoe UI"/>
                        </a:rPr>
                        <a:t>Social / Family History</a:t>
                      </a:r>
                    </a:p>
                    <a:p>
                      <a:pPr marL="285750" indent="-285750" algn="l">
                        <a:buFontTx/>
                        <a:buChar char="-"/>
                      </a:pPr>
                      <a:r>
                        <a:rPr lang="it-IT" sz="1600" b="0" i="0" dirty="0">
                          <a:solidFill>
                            <a:srgbClr val="F0F0F5"/>
                          </a:solidFill>
                          <a:latin typeface="Segoe UI"/>
                        </a:rPr>
                        <a:t>Discharge Medications</a:t>
                      </a:r>
                    </a:p>
                    <a:p>
                      <a:pPr marL="285750" indent="-285750" algn="l">
                        <a:buFontTx/>
                        <a:buChar char="-"/>
                      </a:pPr>
                      <a:r>
                        <a:rPr lang="it-IT" sz="1600" b="0" i="0" dirty="0">
                          <a:solidFill>
                            <a:srgbClr val="F0F0F5"/>
                          </a:solidFill>
                          <a:latin typeface="Segoe UI"/>
                        </a:rPr>
                        <a:t>Physical Exams</a:t>
                      </a:r>
                    </a:p>
                  </a:txBody>
                  <a:tcPr anchor="ctr">
                    <a:solidFill>
                      <a:srgbClr val="1C212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600" b="0" i="0" dirty="0">
                          <a:solidFill>
                            <a:srgbClr val="F0F0F5"/>
                          </a:solidFill>
                          <a:latin typeface="Segoe UI"/>
                        </a:rPr>
                        <a:t>Other minor pieces of information</a:t>
                      </a:r>
                      <a:endParaRPr sz="1600" b="0" i="0" dirty="0">
                        <a:solidFill>
                          <a:srgbClr val="F0F0F5"/>
                        </a:solidFill>
                        <a:latin typeface="Segoe UI"/>
                      </a:endParaRPr>
                    </a:p>
                  </a:txBody>
                  <a:tcPr anchor="ctr">
                    <a:solidFill>
                      <a:srgbClr val="1C212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600" b="0" i="0" dirty="0">
                          <a:solidFill>
                            <a:srgbClr val="828796"/>
                          </a:solidFill>
                          <a:latin typeface="Segoe UI"/>
                        </a:rPr>
                        <a:t>Low</a:t>
                      </a:r>
                    </a:p>
                  </a:txBody>
                  <a:tcPr anchor="ctr">
                    <a:solidFill>
                      <a:srgbClr val="1C212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</a:tbl>
          </a:graphicData>
        </a:graphic>
      </p:graphicFrame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EAC710B-B2D8-DE00-06DD-1269AC9545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81C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822960" y="411480"/>
            <a:ext cx="1051560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 i="1" dirty="0">
                <a:solidFill>
                  <a:srgbClr val="F0F0F5"/>
                </a:solidFill>
                <a:latin typeface="Segoe UI"/>
              </a:rPr>
              <a:t>MIMIC-IV</a:t>
            </a:r>
            <a:r>
              <a:rPr sz="3200" b="1" i="0" dirty="0">
                <a:solidFill>
                  <a:srgbClr val="F0F0F5"/>
                </a:solidFill>
                <a:latin typeface="Segoe UI"/>
              </a:rPr>
              <a:t> Structured Data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1645920"/>
            <a:ext cx="100584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FFAB40"/>
                </a:solidFill>
                <a:latin typeface="Segoe UI"/>
              </a:defRPr>
            </a:pPr>
            <a:r>
              <a:rPr dirty="0" err="1"/>
              <a:t>hosp</a:t>
            </a:r>
            <a:r>
              <a:rPr dirty="0"/>
              <a:t> module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17823769"/>
              </p:ext>
            </p:extLst>
          </p:nvPr>
        </p:nvGraphicFramePr>
        <p:xfrm>
          <a:off x="1167720" y="2391787"/>
          <a:ext cx="9826080" cy="2906356"/>
        </p:xfrm>
        <a:graphic>
          <a:graphicData uri="http://schemas.openxmlformats.org/drawingml/2006/table">
            <a:tbl>
              <a:tblPr>
                <a:tableStyleId>{00000000-0000-0000-0000-000000000000}</a:tableStyleId>
              </a:tblPr>
              <a:tblGrid>
                <a:gridCol w="196078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01329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852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726589">
                <a:tc>
                  <a:txBody>
                    <a:bodyPr/>
                    <a:lstStyle/>
                    <a:p>
                      <a:pPr algn="ctr"/>
                      <a:r>
                        <a:rPr sz="1600" b="1" i="0" dirty="0">
                          <a:solidFill>
                            <a:schemeClr val="bg1"/>
                          </a:solidFill>
                          <a:latin typeface="Segoe UI"/>
                        </a:rPr>
                        <a:t>Table</a:t>
                      </a:r>
                    </a:p>
                  </a:txBody>
                  <a:tcPr anchor="ctr"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 i="0" dirty="0">
                          <a:solidFill>
                            <a:schemeClr val="bg1"/>
                          </a:solidFill>
                          <a:latin typeface="Segoe UI"/>
                        </a:rPr>
                        <a:t>Content</a:t>
                      </a:r>
                    </a:p>
                  </a:txBody>
                  <a:tcPr anchor="ctr"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 i="0" dirty="0">
                          <a:solidFill>
                            <a:schemeClr val="bg1"/>
                          </a:solidFill>
                          <a:latin typeface="Segoe UI"/>
                        </a:rPr>
                        <a:t>Our use</a:t>
                      </a:r>
                    </a:p>
                  </a:txBody>
                  <a:tcPr anchor="ctr">
                    <a:solidFill>
                      <a:schemeClr val="tx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26589">
                <a:tc>
                  <a:txBody>
                    <a:bodyPr/>
                    <a:lstStyle/>
                    <a:p>
                      <a:pPr algn="l"/>
                      <a:r>
                        <a:rPr sz="1600" b="1" i="0">
                          <a:solidFill>
                            <a:srgbClr val="4F8CFF"/>
                          </a:solidFill>
                          <a:latin typeface="Segoe UI"/>
                        </a:rPr>
                        <a:t>diagnoses_icd</a:t>
                      </a:r>
                    </a:p>
                  </a:txBody>
                  <a:tcPr anchor="ctr">
                    <a:solidFill>
                      <a:srgbClr val="1C212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600" b="0" i="0" dirty="0">
                          <a:solidFill>
                            <a:srgbClr val="F0F0F5"/>
                          </a:solidFill>
                          <a:latin typeface="Segoe UI"/>
                        </a:rPr>
                        <a:t>ICD-9/10 codes </a:t>
                      </a:r>
                      <a:r>
                        <a:rPr sz="1600" b="1" i="0" dirty="0">
                          <a:solidFill>
                            <a:srgbClr val="F0F0F5"/>
                          </a:solidFill>
                          <a:latin typeface="Segoe UI"/>
                        </a:rPr>
                        <a:t>per admission</a:t>
                      </a:r>
                      <a:r>
                        <a:rPr sz="1600" b="0" i="0" dirty="0">
                          <a:solidFill>
                            <a:srgbClr val="F0F0F5"/>
                          </a:solidFill>
                          <a:latin typeface="Segoe UI"/>
                        </a:rPr>
                        <a:t>, with </a:t>
                      </a:r>
                      <a:r>
                        <a:rPr sz="1400" b="0" i="0" dirty="0">
                          <a:solidFill>
                            <a:srgbClr val="F0F0F5"/>
                          </a:solidFill>
                          <a:latin typeface="JetBrains Mono" panose="02000009000000000000" pitchFamily="49" charset="0"/>
                          <a:ea typeface="JetBrains Mono" panose="02000009000000000000" pitchFamily="49" charset="0"/>
                          <a:cs typeface="JetBrains Mono" panose="02000009000000000000" pitchFamily="49" charset="0"/>
                        </a:rPr>
                        <a:t>seq_num</a:t>
                      </a:r>
                      <a:r>
                        <a:rPr lang="en-US" sz="1600" b="0" i="0" dirty="0">
                          <a:solidFill>
                            <a:srgbClr val="F0F0F5"/>
                          </a:solidFill>
                          <a:latin typeface="Segoe UI"/>
                        </a:rPr>
                        <a:t> priority</a:t>
                      </a:r>
                      <a:endParaRPr sz="1600" b="0" i="0" dirty="0">
                        <a:solidFill>
                          <a:srgbClr val="F0F0F5"/>
                        </a:solidFill>
                        <a:latin typeface="Segoe UI"/>
                      </a:endParaRPr>
                    </a:p>
                  </a:txBody>
                  <a:tcPr anchor="ctr">
                    <a:solidFill>
                      <a:srgbClr val="1C212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600" b="0" i="0" dirty="0">
                          <a:solidFill>
                            <a:srgbClr val="48C78E"/>
                          </a:solidFill>
                          <a:latin typeface="Segoe UI"/>
                        </a:rPr>
                        <a:t>ICD </a:t>
                      </a:r>
                      <a:r>
                        <a:rPr sz="1600" b="0" i="0" dirty="0">
                          <a:solidFill>
                            <a:srgbClr val="48C78E"/>
                          </a:solidFill>
                          <a:latin typeface="Segoe UI"/>
                        </a:rPr>
                        <a:t>labels + query scaffolding</a:t>
                      </a:r>
                    </a:p>
                  </a:txBody>
                  <a:tcPr anchor="ctr">
                    <a:solidFill>
                      <a:srgbClr val="1C212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26589">
                <a:tc>
                  <a:txBody>
                    <a:bodyPr/>
                    <a:lstStyle/>
                    <a:p>
                      <a:pPr algn="l"/>
                      <a:r>
                        <a:rPr sz="1600" b="1" i="0">
                          <a:solidFill>
                            <a:srgbClr val="4F8CFF"/>
                          </a:solidFill>
                          <a:latin typeface="Segoe UI"/>
                        </a:rPr>
                        <a:t>d_icd_diagnoses</a:t>
                      </a:r>
                    </a:p>
                  </a:txBody>
                  <a:tcPr anchor="ctr">
                    <a:solidFill>
                      <a:srgbClr val="21263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600" b="0" i="0" dirty="0">
                          <a:solidFill>
                            <a:srgbClr val="F0F0F5"/>
                          </a:solidFill>
                          <a:latin typeface="Segoe UI"/>
                        </a:rPr>
                        <a:t>ICD code definitions (text descriptions)</a:t>
                      </a:r>
                    </a:p>
                  </a:txBody>
                  <a:tcPr anchor="ctr">
                    <a:solidFill>
                      <a:srgbClr val="21263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600" b="0" i="0" dirty="0">
                          <a:solidFill>
                            <a:srgbClr val="48C78E"/>
                          </a:solidFill>
                          <a:latin typeface="Segoe UI"/>
                        </a:rPr>
                        <a:t>Condition names for query templates</a:t>
                      </a:r>
                    </a:p>
                  </a:txBody>
                  <a:tcPr anchor="ctr">
                    <a:solidFill>
                      <a:srgbClr val="21263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726589">
                <a:tc>
                  <a:txBody>
                    <a:bodyPr/>
                    <a:lstStyle/>
                    <a:p>
                      <a:pPr algn="l"/>
                      <a:r>
                        <a:rPr lang="it-IT" sz="1600" b="1" i="0" dirty="0">
                          <a:solidFill>
                            <a:srgbClr val="4F8CFF"/>
                          </a:solidFill>
                          <a:latin typeface="Segoe UI"/>
                        </a:rPr>
                        <a:t>p</a:t>
                      </a:r>
                      <a:r>
                        <a:rPr sz="1600" b="1" i="0" dirty="0" err="1">
                          <a:solidFill>
                            <a:srgbClr val="4F8CFF"/>
                          </a:solidFill>
                          <a:latin typeface="Segoe UI"/>
                        </a:rPr>
                        <a:t>atients</a:t>
                      </a:r>
                      <a:r>
                        <a:rPr lang="en-US" sz="1600" b="1" i="0" dirty="0">
                          <a:solidFill>
                            <a:srgbClr val="4F8CFF"/>
                          </a:solidFill>
                          <a:latin typeface="Segoe UI"/>
                        </a:rPr>
                        <a:t> + </a:t>
                      </a:r>
                      <a:r>
                        <a:rPr lang="it-IT" sz="1600" b="1" i="0" dirty="0">
                          <a:solidFill>
                            <a:srgbClr val="4F8CFF"/>
                          </a:solidFill>
                          <a:latin typeface="Segoe UI"/>
                        </a:rPr>
                        <a:t>admissions</a:t>
                      </a:r>
                      <a:endParaRPr sz="1600" b="1" i="0" dirty="0">
                        <a:solidFill>
                          <a:srgbClr val="4F8CFF"/>
                        </a:solidFill>
                        <a:latin typeface="Segoe UI"/>
                      </a:endParaRPr>
                    </a:p>
                  </a:txBody>
                  <a:tcPr anchor="ctr">
                    <a:solidFill>
                      <a:srgbClr val="1C212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600" b="0" i="0" dirty="0">
                          <a:solidFill>
                            <a:srgbClr val="F0F0F5"/>
                          </a:solidFill>
                          <a:latin typeface="Segoe UI"/>
                        </a:rPr>
                        <a:t>Gender, age, date of death</a:t>
                      </a:r>
                      <a:r>
                        <a:rPr lang="en-US" sz="1600" b="0" i="0" dirty="0">
                          <a:solidFill>
                            <a:srgbClr val="F0F0F5"/>
                          </a:solidFill>
                          <a:latin typeface="Segoe UI"/>
                        </a:rPr>
                        <a:t>, a</a:t>
                      </a:r>
                      <a:r>
                        <a:rPr lang="it-IT" sz="1600" b="0" i="0" dirty="0">
                          <a:solidFill>
                            <a:srgbClr val="F0F0F5"/>
                          </a:solidFill>
                          <a:latin typeface="Segoe UI"/>
                        </a:rPr>
                        <a:t>dmission type, insurance, race, discharge location</a:t>
                      </a:r>
                    </a:p>
                  </a:txBody>
                  <a:tcPr anchor="ctr">
                    <a:solidFill>
                      <a:srgbClr val="1C212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600" b="0" i="0" dirty="0">
                          <a:solidFill>
                            <a:srgbClr val="48C78E"/>
                          </a:solidFill>
                          <a:latin typeface="Segoe UI"/>
                        </a:rPr>
                        <a:t>Patient data for additional context</a:t>
                      </a:r>
                      <a:endParaRPr sz="1600" b="0" i="0" dirty="0">
                        <a:solidFill>
                          <a:srgbClr val="48C78E"/>
                        </a:solidFill>
                        <a:latin typeface="Segoe UI"/>
                      </a:endParaRPr>
                    </a:p>
                  </a:txBody>
                  <a:tcPr anchor="ctr">
                    <a:solidFill>
                      <a:srgbClr val="1C212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12" name="Rectangle 11">
            <a:extLst>
              <a:ext uri="{FF2B5EF4-FFF2-40B4-BE49-F238E27FC236}">
                <a16:creationId xmlns:a16="http://schemas.microsoft.com/office/drawing/2014/main" id="{EE1A17EE-6EEC-DC62-7536-D506F49EAD36}"/>
              </a:ext>
            </a:extLst>
          </p:cNvPr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A07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64CB3E9D-5DEF-67B5-9269-ECACE0D0AE53}"/>
              </a:ext>
            </a:extLst>
          </p:cNvPr>
          <p:cNvSpPr/>
          <p:nvPr/>
        </p:nvSpPr>
        <p:spPr>
          <a:xfrm>
            <a:off x="822960" y="1234440"/>
            <a:ext cx="2286000" cy="31750"/>
          </a:xfrm>
          <a:prstGeom prst="rect">
            <a:avLst/>
          </a:prstGeom>
          <a:solidFill>
            <a:srgbClr val="A07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A4CD1D3-41DD-82F3-9E39-A9B6A7C0E2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81C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4F8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822960" y="411480"/>
            <a:ext cx="1051560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3200" b="1" dirty="0">
                <a:solidFill>
                  <a:srgbClr val="F0F0F5"/>
                </a:solidFill>
                <a:latin typeface="Segoe UI"/>
              </a:rPr>
              <a:t>Discharge summaries: w</a:t>
            </a:r>
            <a:r>
              <a:rPr lang="en-US" sz="3200" b="1" i="0" dirty="0">
                <a:solidFill>
                  <a:srgbClr val="F0F0F5"/>
                </a:solidFill>
                <a:latin typeface="Segoe UI"/>
              </a:rPr>
              <a:t>hat data to retain?</a:t>
            </a:r>
            <a:endParaRPr sz="3200" b="1" i="0" dirty="0">
              <a:solidFill>
                <a:srgbClr val="F0F0F5"/>
              </a:solidFill>
              <a:latin typeface="Segoe UI"/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822960" y="1234440"/>
            <a:ext cx="2286000" cy="31750"/>
          </a:xfrm>
          <a:prstGeom prst="rect">
            <a:avLst/>
          </a:prstGeom>
          <a:solidFill>
            <a:srgbClr val="4F8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822960" y="1554480"/>
            <a:ext cx="10515600" cy="352404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0"/>
              </a:spcBef>
              <a:spcAft>
                <a:spcPts val="400"/>
              </a:spcAft>
            </a:pPr>
            <a:r>
              <a:rPr sz="2000" b="0" i="0" dirty="0">
                <a:solidFill>
                  <a:srgbClr val="4F8CFF"/>
                </a:solidFill>
                <a:latin typeface="Segoe UI"/>
              </a:rPr>
              <a:t>▸  </a:t>
            </a:r>
            <a:r>
              <a:rPr lang="en-US" sz="2000" b="1" i="0" dirty="0">
                <a:solidFill>
                  <a:srgbClr val="4F8CFF"/>
                </a:solidFill>
                <a:latin typeface="Segoe UI"/>
              </a:rPr>
              <a:t>Brief Hospital Course </a:t>
            </a:r>
            <a:r>
              <a:rPr lang="en-US" sz="2000" b="0" i="0" dirty="0">
                <a:solidFill>
                  <a:srgbClr val="F0F0F5"/>
                </a:solidFill>
                <a:latin typeface="Segoe UI"/>
              </a:rPr>
              <a:t>has h</a:t>
            </a:r>
            <a:r>
              <a:rPr sz="2000" b="0" i="0" dirty="0">
                <a:solidFill>
                  <a:srgbClr val="F0F0F5"/>
                </a:solidFill>
                <a:latin typeface="Segoe UI"/>
              </a:rPr>
              <a:t>ighest QA value</a:t>
            </a:r>
            <a:r>
              <a:rPr lang="en-US" sz="2000" dirty="0">
                <a:solidFill>
                  <a:srgbClr val="F0F0F5"/>
                </a:solidFill>
                <a:latin typeface="Segoe UI"/>
              </a:rPr>
              <a:t> </a:t>
            </a:r>
            <a:r>
              <a:rPr sz="2000" b="0" i="0" dirty="0">
                <a:solidFill>
                  <a:srgbClr val="F0F0F5"/>
                </a:solidFill>
                <a:latin typeface="Segoe UI"/>
              </a:rPr>
              <a:t>for complex medicine admissions with # </a:t>
            </a:r>
            <a:r>
              <a:rPr lang="en-US" sz="2000" b="0" i="0" dirty="0">
                <a:solidFill>
                  <a:srgbClr val="F0F0F5"/>
                </a:solidFill>
                <a:latin typeface="Segoe UI"/>
              </a:rPr>
              <a:t>sub-</a:t>
            </a:r>
            <a:r>
              <a:rPr sz="2000" b="0" i="0" dirty="0">
                <a:solidFill>
                  <a:srgbClr val="F0F0F5"/>
                </a:solidFill>
                <a:latin typeface="Segoe UI"/>
              </a:rPr>
              <a:t>problem lists</a:t>
            </a:r>
            <a:endParaRPr lang="en-US" sz="2000" b="0" i="0" dirty="0">
              <a:solidFill>
                <a:srgbClr val="F0F0F5"/>
              </a:solidFill>
              <a:latin typeface="Segoe UI"/>
            </a:endParaRPr>
          </a:p>
          <a:p>
            <a:pPr marL="742950" lvl="1" indent="-285750">
              <a:spcBef>
                <a:spcPts val="200"/>
              </a:spcBef>
              <a:spcAft>
                <a:spcPts val="200"/>
              </a:spcAft>
              <a:buFont typeface="Wingdings" panose="05000000000000000000" pitchFamily="2" charset="2"/>
              <a:buChar char="§"/>
            </a:pPr>
            <a:r>
              <a:rPr lang="en-US" sz="2000" dirty="0">
                <a:solidFill>
                  <a:srgbClr val="B4B9C8"/>
                </a:solidFill>
                <a:latin typeface="Segoe UI"/>
              </a:rPr>
              <a:t>Complex cases: management reasoning, drug choices with justifications, differentials</a:t>
            </a:r>
            <a:endParaRPr sz="2000" dirty="0">
              <a:solidFill>
                <a:srgbClr val="B4B9C8"/>
              </a:solidFill>
              <a:latin typeface="Segoe UI"/>
            </a:endParaRPr>
          </a:p>
          <a:p>
            <a:pPr>
              <a:spcBef>
                <a:spcPts val="1000"/>
              </a:spcBef>
              <a:spcAft>
                <a:spcPts val="400"/>
              </a:spcAft>
            </a:pPr>
            <a:r>
              <a:rPr sz="2000" b="0" i="0" dirty="0">
                <a:solidFill>
                  <a:srgbClr val="4F8CFF"/>
                </a:solidFill>
                <a:latin typeface="Segoe UI"/>
              </a:rPr>
              <a:t>▸  </a:t>
            </a:r>
            <a:r>
              <a:rPr sz="2000" b="0" i="0" dirty="0">
                <a:solidFill>
                  <a:srgbClr val="F0F0F5"/>
                </a:solidFill>
                <a:latin typeface="Segoe UI"/>
              </a:rPr>
              <a:t>Surgical/simple cases: formulaic procedural timelines</a:t>
            </a:r>
            <a:r>
              <a:rPr lang="en-US" sz="2000" b="0" i="0" dirty="0">
                <a:solidFill>
                  <a:srgbClr val="F0F0F5"/>
                </a:solidFill>
                <a:latin typeface="Segoe UI"/>
              </a:rPr>
              <a:t>,</a:t>
            </a:r>
            <a:r>
              <a:rPr sz="2000" b="0" i="0" dirty="0">
                <a:solidFill>
                  <a:srgbClr val="F0F0F5"/>
                </a:solidFill>
                <a:latin typeface="Segoe UI"/>
              </a:rPr>
              <a:t> nearly content-free</a:t>
            </a:r>
          </a:p>
          <a:p>
            <a:pPr marL="742950" lvl="1" indent="-285750">
              <a:spcBef>
                <a:spcPts val="200"/>
              </a:spcBef>
              <a:spcAft>
                <a:spcPts val="200"/>
              </a:spcAft>
              <a:buFont typeface="Wingdings" panose="05000000000000000000" pitchFamily="2" charset="2"/>
              <a:buChar char="§"/>
            </a:pPr>
            <a:r>
              <a:rPr sz="2000" b="0" i="0" dirty="0">
                <a:solidFill>
                  <a:srgbClr val="B4B9C8"/>
                </a:solidFill>
                <a:latin typeface="Segoe UI"/>
              </a:rPr>
              <a:t>These are noise in any candidate pool</a:t>
            </a:r>
            <a:r>
              <a:rPr lang="en-US" sz="2000" b="0" i="0" dirty="0">
                <a:solidFill>
                  <a:srgbClr val="B4B9C8"/>
                </a:solidFill>
                <a:latin typeface="Segoe UI"/>
              </a:rPr>
              <a:t>: </a:t>
            </a:r>
            <a:r>
              <a:rPr sz="2000" b="0" i="0" dirty="0">
                <a:solidFill>
                  <a:srgbClr val="B4B9C8"/>
                </a:solidFill>
                <a:latin typeface="Segoe UI"/>
              </a:rPr>
              <a:t>no clinical reasoning</a:t>
            </a:r>
            <a:endParaRPr lang="en-US" sz="2000" b="0" i="0" dirty="0">
              <a:solidFill>
                <a:srgbClr val="B4B9C8"/>
              </a:solidFill>
              <a:latin typeface="Segoe UI"/>
            </a:endParaRPr>
          </a:p>
          <a:p>
            <a:pPr>
              <a:spcBef>
                <a:spcPts val="200"/>
              </a:spcBef>
              <a:spcAft>
                <a:spcPts val="200"/>
              </a:spcAft>
            </a:pPr>
            <a:endParaRPr sz="2000" b="0" i="0" dirty="0">
              <a:solidFill>
                <a:srgbClr val="B4B9C8"/>
              </a:solidFill>
              <a:latin typeface="Segoe UI"/>
            </a:endParaRPr>
          </a:p>
          <a:p>
            <a:pPr>
              <a:spcBef>
                <a:spcPts val="1000"/>
              </a:spcBef>
              <a:spcAft>
                <a:spcPts val="400"/>
              </a:spcAft>
            </a:pPr>
            <a:r>
              <a:rPr sz="2000" b="0" i="0" dirty="0">
                <a:solidFill>
                  <a:srgbClr val="4F8CFF"/>
                </a:solidFill>
                <a:latin typeface="Segoe UI"/>
              </a:rPr>
              <a:t>▸ </a:t>
            </a:r>
            <a:r>
              <a:rPr lang="en-US" sz="2000" b="1" i="0" dirty="0">
                <a:solidFill>
                  <a:srgbClr val="4F8CFF"/>
                </a:solidFill>
                <a:latin typeface="Segoe UI"/>
              </a:rPr>
              <a:t>History of Present Illnesses </a:t>
            </a:r>
            <a:r>
              <a:rPr sz="2000" b="0" i="0" dirty="0">
                <a:solidFill>
                  <a:srgbClr val="F0F0F5"/>
                </a:solidFill>
                <a:latin typeface="Segoe UI"/>
              </a:rPr>
              <a:t>complements BHC: presentation context, symptom timeline, risk factors that BHC presupposes</a:t>
            </a:r>
          </a:p>
          <a:p>
            <a:pPr>
              <a:spcBef>
                <a:spcPts val="1000"/>
              </a:spcBef>
              <a:spcAft>
                <a:spcPts val="400"/>
              </a:spcAft>
            </a:pPr>
            <a:r>
              <a:rPr sz="2000" b="0" i="0" dirty="0">
                <a:solidFill>
                  <a:srgbClr val="4F8CFF"/>
                </a:solidFill>
                <a:latin typeface="Segoe UI"/>
              </a:rPr>
              <a:t>▸  </a:t>
            </a:r>
            <a:r>
              <a:rPr sz="2000" b="1" dirty="0">
                <a:solidFill>
                  <a:srgbClr val="4F8CFF"/>
                </a:solidFill>
                <a:latin typeface="Segoe UI"/>
              </a:rPr>
              <a:t>Pertinent Results</a:t>
            </a:r>
            <a:r>
              <a:rPr sz="2000" b="0" i="0" dirty="0">
                <a:solidFill>
                  <a:srgbClr val="F0F0F5"/>
                </a:solidFill>
                <a:latin typeface="Segoe UI"/>
              </a:rPr>
              <a:t>: mostly raw lab noise, but imaging interpretations can be high-value</a:t>
            </a:r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90E569A9-5938-8E5E-CA25-F1B86C2AD28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4182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4F8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914400" y="2286000"/>
            <a:ext cx="10332720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sz="4000" b="1" i="0" dirty="0">
                <a:solidFill>
                  <a:srgbClr val="F0F0F5"/>
                </a:solidFill>
                <a:latin typeface="Segoe UI"/>
              </a:rPr>
              <a:t>Experimental </a:t>
            </a:r>
            <a:r>
              <a:rPr sz="4000" b="1" i="0" dirty="0">
                <a:solidFill>
                  <a:srgbClr val="F0F0F5"/>
                </a:solidFill>
                <a:latin typeface="Segoe UI"/>
              </a:rPr>
              <a:t>Pipeline</a:t>
            </a:r>
          </a:p>
        </p:txBody>
      </p:sp>
      <p:sp>
        <p:nvSpPr>
          <p:cNvPr id="4" name="Rectangle 3"/>
          <p:cNvSpPr/>
          <p:nvPr/>
        </p:nvSpPr>
        <p:spPr>
          <a:xfrm>
            <a:off x="914400" y="3474720"/>
            <a:ext cx="5428800" cy="38100"/>
          </a:xfrm>
          <a:prstGeom prst="rect">
            <a:avLst/>
          </a:prstGeom>
          <a:solidFill>
            <a:srgbClr val="4F8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914400" y="3840480"/>
            <a:ext cx="1033272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000" b="0" i="0" dirty="0">
                <a:solidFill>
                  <a:srgbClr val="A0A8BE"/>
                </a:solidFill>
                <a:latin typeface="JetBrains Mono" panose="02000009000000000000" pitchFamily="49" charset="0"/>
                <a:ea typeface="JetBrains Mono" panose="02000009000000000000" pitchFamily="49" charset="0"/>
                <a:cs typeface="JetBrains Mono" panose="02000009000000000000" pitchFamily="49" charset="0"/>
              </a:rPr>
              <a:t>c</a:t>
            </a:r>
            <a:r>
              <a:rPr sz="2000" b="0" i="0" dirty="0">
                <a:solidFill>
                  <a:srgbClr val="A0A8BE"/>
                </a:solidFill>
                <a:latin typeface="JetBrains Mono" panose="02000009000000000000" pitchFamily="49" charset="0"/>
                <a:ea typeface="JetBrains Mono" panose="02000009000000000000" pitchFamily="49" charset="0"/>
                <a:cs typeface="JetBrains Mono" panose="02000009000000000000" pitchFamily="49" charset="0"/>
              </a:rPr>
              <a:t>orpus</a:t>
            </a:r>
            <a:r>
              <a:rPr lang="en-US" sz="2000" b="0" i="0" dirty="0">
                <a:solidFill>
                  <a:srgbClr val="A0A8BE"/>
                </a:solidFill>
                <a:latin typeface="JetBrains Mono" panose="02000009000000000000" pitchFamily="49" charset="0"/>
                <a:ea typeface="JetBrains Mono" panose="02000009000000000000" pitchFamily="49" charset="0"/>
                <a:cs typeface="JetBrains Mono" panose="02000009000000000000" pitchFamily="49" charset="0"/>
              </a:rPr>
              <a:t> construction </a:t>
            </a:r>
            <a:r>
              <a:rPr sz="2000" b="0" i="0" dirty="0">
                <a:solidFill>
                  <a:srgbClr val="A0A8BE"/>
                </a:solidFill>
                <a:latin typeface="JetBrains Mono" panose="02000009000000000000" pitchFamily="49" charset="0"/>
                <a:ea typeface="JetBrains Mono" panose="02000009000000000000" pitchFamily="49" charset="0"/>
                <a:cs typeface="JetBrains Mono" panose="02000009000000000000" pitchFamily="49" charset="0"/>
              </a:rPr>
              <a:t>→ embeddings → quer</a:t>
            </a:r>
            <a:r>
              <a:rPr lang="en-US" sz="2000" b="0" i="0" dirty="0">
                <a:solidFill>
                  <a:srgbClr val="A0A8BE"/>
                </a:solidFill>
                <a:latin typeface="JetBrains Mono" panose="02000009000000000000" pitchFamily="49" charset="0"/>
                <a:ea typeface="JetBrains Mono" panose="02000009000000000000" pitchFamily="49" charset="0"/>
                <a:cs typeface="JetBrains Mono" panose="02000009000000000000" pitchFamily="49" charset="0"/>
              </a:rPr>
              <a:t>y generation</a:t>
            </a:r>
            <a:r>
              <a:rPr sz="2000" b="0" i="0" dirty="0">
                <a:solidFill>
                  <a:srgbClr val="A0A8BE"/>
                </a:solidFill>
                <a:latin typeface="JetBrains Mono" panose="02000009000000000000" pitchFamily="49" charset="0"/>
                <a:ea typeface="JetBrains Mono" panose="02000009000000000000" pitchFamily="49" charset="0"/>
                <a:cs typeface="JetBrains Mono" panose="02000009000000000000" pitchFamily="49" charset="0"/>
              </a:rPr>
              <a:t> → evaluation</a:t>
            </a:r>
            <a:endParaRPr sz="2400" b="0" i="0" dirty="0">
              <a:solidFill>
                <a:srgbClr val="A0A8BE"/>
              </a:solidFill>
              <a:latin typeface="JetBrains Mono" panose="02000009000000000000" pitchFamily="49" charset="0"/>
              <a:ea typeface="JetBrains Mono" panose="02000009000000000000" pitchFamily="49" charset="0"/>
              <a:cs typeface="JetBrains Mono" panose="02000009000000000000" pitchFamily="49" charset="0"/>
            </a:endParaRP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81CF65C-F89C-AE30-F8B5-5DD0664B93A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82117" y="0"/>
            <a:ext cx="12191695" cy="6858000"/>
          </a:xfrm>
          <a:prstGeom prst="rect">
            <a:avLst/>
          </a:prstGeom>
          <a:solidFill>
            <a:srgbClr val="181C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4F8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822960" y="41148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 i="0" dirty="0">
                <a:solidFill>
                  <a:srgbClr val="F0F0F5"/>
                </a:solidFill>
                <a:latin typeface="Segoe UI"/>
              </a:rPr>
              <a:t>Phase 1: Corpus </a:t>
            </a:r>
            <a:r>
              <a:rPr lang="it-IT" sz="3200" b="1" i="0" dirty="0">
                <a:solidFill>
                  <a:srgbClr val="F0F0F5"/>
                </a:solidFill>
                <a:latin typeface="Segoe UI"/>
              </a:rPr>
              <a:t>Construction</a:t>
            </a:r>
            <a:endParaRPr sz="3200" b="1" i="0" dirty="0">
              <a:solidFill>
                <a:srgbClr val="F0F0F5"/>
              </a:solidFill>
              <a:latin typeface="Segoe UI"/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822960" y="1234440"/>
            <a:ext cx="2286000" cy="31750"/>
          </a:xfrm>
          <a:prstGeom prst="rect">
            <a:avLst/>
          </a:prstGeom>
          <a:solidFill>
            <a:srgbClr val="4F8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8821062" y="2477096"/>
            <a:ext cx="2517498" cy="2044551"/>
          </a:xfrm>
          <a:prstGeom prst="roundRect">
            <a:avLst>
              <a:gd name="adj" fmla="val 5000"/>
            </a:avLst>
          </a:prstGeom>
          <a:solidFill>
            <a:srgbClr val="2025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0" tIns="228600" rIns="274320" bIns="182880" rtlCol="0" anchor="ctr"/>
          <a:lstStyle/>
          <a:p>
            <a:pPr algn="ctr">
              <a:spcAft>
                <a:spcPts val="1000"/>
              </a:spcAft>
            </a:pPr>
            <a:r>
              <a:rPr sz="2800" b="1" i="0" dirty="0">
                <a:solidFill>
                  <a:srgbClr val="48C78E"/>
                </a:solidFill>
                <a:latin typeface="Segoe UI"/>
              </a:rPr>
              <a:t>Output</a:t>
            </a:r>
          </a:p>
          <a:p>
            <a:pPr algn="ctr">
              <a:spcBef>
                <a:spcPts val="500"/>
              </a:spcBef>
              <a:spcAft>
                <a:spcPts val="300"/>
              </a:spcAft>
            </a:pPr>
            <a:r>
              <a:rPr b="1" i="0" dirty="0">
                <a:solidFill>
                  <a:srgbClr val="B4B9C8"/>
                </a:solidFill>
                <a:latin typeface="Segoe UI"/>
              </a:rPr>
              <a:t>Per-condition candidate pool D</a:t>
            </a:r>
          </a:p>
        </p:txBody>
      </p:sp>
      <p:sp>
        <p:nvSpPr>
          <p:cNvPr id="13" name="Arrow: Right 12">
            <a:extLst>
              <a:ext uri="{FF2B5EF4-FFF2-40B4-BE49-F238E27FC236}">
                <a16:creationId xmlns:a16="http://schemas.microsoft.com/office/drawing/2014/main" id="{78B7D3E5-095F-FFB6-C0DA-D67BDAB4BE2D}"/>
              </a:ext>
            </a:extLst>
          </p:cNvPr>
          <p:cNvSpPr/>
          <p:nvPr/>
        </p:nvSpPr>
        <p:spPr>
          <a:xfrm>
            <a:off x="7172094" y="3225949"/>
            <a:ext cx="1178410" cy="546847"/>
          </a:xfrm>
          <a:prstGeom prst="rightArrow">
            <a:avLst/>
          </a:prstGeom>
          <a:solidFill>
            <a:schemeClr val="tx2"/>
          </a:solidFill>
          <a:ln>
            <a:solidFill>
              <a:schemeClr val="tx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52312BE4-05A6-DA09-C57D-031A3171CF7F}"/>
              </a:ext>
            </a:extLst>
          </p:cNvPr>
          <p:cNvSpPr txBox="1"/>
          <p:nvPr/>
        </p:nvSpPr>
        <p:spPr>
          <a:xfrm>
            <a:off x="822960" y="1797049"/>
            <a:ext cx="6012688" cy="513217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>
              <a:buFont typeface="+mj-lt"/>
              <a:buAutoNum type="arabicPeriod"/>
            </a:pPr>
            <a:r>
              <a:rPr lang="en-US" sz="2000" b="1" dirty="0">
                <a:solidFill>
                  <a:srgbClr val="FFAB40"/>
                </a:solidFill>
                <a:latin typeface="Segoe UI"/>
              </a:rPr>
              <a:t>Select conditions</a:t>
            </a:r>
            <a:br>
              <a:rPr lang="en-US" sz="2000" b="1" dirty="0">
                <a:solidFill>
                  <a:srgbClr val="FFAB40"/>
                </a:solidFill>
                <a:latin typeface="Segoe UI"/>
              </a:rPr>
            </a:br>
            <a:r>
              <a:rPr lang="en-US" sz="2000" dirty="0">
                <a:solidFill>
                  <a:srgbClr val="B4B9C8"/>
                </a:solidFill>
                <a:latin typeface="Segoe UI"/>
              </a:rPr>
              <a:t>Query </a:t>
            </a:r>
            <a:r>
              <a:rPr lang="en-US" dirty="0">
                <a:solidFill>
                  <a:srgbClr val="B4B9C8"/>
                </a:solidFill>
                <a:latin typeface="JetBrains Mono" panose="02000009000000000000" pitchFamily="49" charset="0"/>
                <a:ea typeface="JetBrains Mono" panose="02000009000000000000" pitchFamily="49" charset="0"/>
                <a:cs typeface="JetBrains Mono" panose="02000009000000000000" pitchFamily="49" charset="0"/>
              </a:rPr>
              <a:t>diagnoses_icd</a:t>
            </a:r>
            <a:r>
              <a:rPr lang="en-US" sz="2000" dirty="0">
                <a:solidFill>
                  <a:srgbClr val="B4B9C8"/>
                </a:solidFill>
                <a:latin typeface="JetBrains Mono" panose="02000009000000000000" pitchFamily="49" charset="0"/>
                <a:ea typeface="JetBrains Mono" panose="02000009000000000000" pitchFamily="49" charset="0"/>
                <a:cs typeface="JetBrains Mono" panose="02000009000000000000" pitchFamily="49" charset="0"/>
              </a:rPr>
              <a:t> </a:t>
            </a:r>
            <a:r>
              <a:rPr lang="en-US" sz="2000" dirty="0">
                <a:solidFill>
                  <a:srgbClr val="B4B9C8"/>
                </a:solidFill>
                <a:latin typeface="Segoe UI"/>
              </a:rPr>
              <a:t>for ICD groups with ≥ N admissions</a:t>
            </a:r>
          </a:p>
          <a:p>
            <a:pPr marL="342900" indent="-342900">
              <a:buFont typeface="+mj-lt"/>
              <a:buAutoNum type="arabicPeriod"/>
            </a:pPr>
            <a:endParaRPr lang="en-US" sz="2000" dirty="0"/>
          </a:p>
          <a:p>
            <a:pPr marL="457200" indent="-457200">
              <a:buFont typeface="+mj-lt"/>
              <a:buAutoNum type="arabicPeriod"/>
            </a:pPr>
            <a:r>
              <a:rPr lang="en-US" sz="2000" b="1" dirty="0">
                <a:solidFill>
                  <a:srgbClr val="FFAB40"/>
                </a:solidFill>
                <a:latin typeface="Segoe UI"/>
              </a:rPr>
              <a:t>Parse and chunk documents</a:t>
            </a:r>
            <a:br>
              <a:rPr lang="en-US" sz="2000" b="1" dirty="0">
                <a:solidFill>
                  <a:srgbClr val="FFAB40"/>
                </a:solidFill>
                <a:latin typeface="Segoe UI"/>
              </a:rPr>
            </a:br>
            <a:r>
              <a:rPr lang="en-US" sz="2000" dirty="0">
                <a:solidFill>
                  <a:srgbClr val="B4B9C8"/>
                </a:solidFill>
                <a:latin typeface="Segoe UI"/>
              </a:rPr>
              <a:t>Split Discharge Summaries by section header</a:t>
            </a:r>
          </a:p>
          <a:p>
            <a:pPr marL="342900" indent="-342900">
              <a:spcBef>
                <a:spcPts val="300"/>
              </a:spcBef>
              <a:buFont typeface="+mj-lt"/>
              <a:buAutoNum type="arabicPeriod"/>
            </a:pPr>
            <a:endParaRPr lang="en-US" sz="2000" dirty="0">
              <a:solidFill>
                <a:srgbClr val="B4B9C8"/>
              </a:solidFill>
              <a:latin typeface="Segoe UI"/>
            </a:endParaRPr>
          </a:p>
          <a:p>
            <a:pPr marL="457200" indent="-457200">
              <a:buFont typeface="+mj-lt"/>
              <a:buAutoNum type="arabicPeriod"/>
            </a:pPr>
            <a:r>
              <a:rPr lang="en-US" sz="2000" b="1" dirty="0">
                <a:solidFill>
                  <a:srgbClr val="FFAB40"/>
                </a:solidFill>
                <a:latin typeface="Segoe UI"/>
              </a:rPr>
              <a:t>Attach metadata</a:t>
            </a:r>
            <a:br>
              <a:rPr lang="en-US" sz="2000" b="1" dirty="0">
                <a:solidFill>
                  <a:srgbClr val="FFAB40"/>
                </a:solidFill>
                <a:latin typeface="Segoe UI"/>
              </a:rPr>
            </a:br>
            <a:r>
              <a:rPr lang="en-US" sz="2000" dirty="0">
                <a:solidFill>
                  <a:srgbClr val="B4B9C8"/>
                </a:solidFill>
                <a:latin typeface="Segoe UI"/>
              </a:rPr>
              <a:t>Per chunk: section name, all ICD codes, demographics, admission type and details</a:t>
            </a:r>
          </a:p>
          <a:p>
            <a:pPr marL="457200" indent="-457200">
              <a:buFont typeface="+mj-lt"/>
              <a:buAutoNum type="arabicPeriod"/>
            </a:pPr>
            <a:endParaRPr lang="en-US" sz="2000" b="1" dirty="0">
              <a:solidFill>
                <a:srgbClr val="B4B9C8"/>
              </a:solidFill>
              <a:latin typeface="Segoe UI"/>
            </a:endParaRPr>
          </a:p>
          <a:p>
            <a:pPr marL="457200" indent="-457200">
              <a:buFont typeface="+mj-lt"/>
              <a:buAutoNum type="arabicPeriod"/>
            </a:pPr>
            <a:r>
              <a:rPr lang="it-IT" sz="2000" b="1" dirty="0">
                <a:solidFill>
                  <a:srgbClr val="FFAB40"/>
                </a:solidFill>
                <a:latin typeface="Segoe UI"/>
              </a:rPr>
              <a:t>Deduplicate</a:t>
            </a:r>
          </a:p>
          <a:p>
            <a:pPr>
              <a:spcBef>
                <a:spcPts val="300"/>
              </a:spcBef>
            </a:pPr>
            <a:endParaRPr lang="en-US" sz="2000" dirty="0">
              <a:solidFill>
                <a:srgbClr val="B4B9C8"/>
              </a:solidFill>
              <a:latin typeface="Segoe UI"/>
            </a:endParaRPr>
          </a:p>
          <a:p>
            <a:pPr>
              <a:spcBef>
                <a:spcPts val="300"/>
              </a:spcBef>
            </a:pPr>
            <a:endParaRPr lang="en-US" sz="2000" dirty="0">
              <a:solidFill>
                <a:srgbClr val="B4B9C8"/>
              </a:solidFill>
              <a:latin typeface="Segoe UI"/>
            </a:endParaRPr>
          </a:p>
          <a:p>
            <a:endParaRPr lang="en-US" sz="2000" dirty="0"/>
          </a:p>
          <a:p>
            <a:endParaRPr lang="LID4096" sz="2000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1D18B32-49A2-BAB5-B570-78E1E725A8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81C2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4F8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822960" y="411480"/>
            <a:ext cx="1051560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 i="0" dirty="0">
                <a:solidFill>
                  <a:srgbClr val="F0F0F5"/>
                </a:solidFill>
                <a:latin typeface="Segoe UI"/>
              </a:rPr>
              <a:t>Phase 2: Embeddings</a:t>
            </a:r>
            <a:r>
              <a:rPr lang="en-US" sz="3200" b="1" i="0" dirty="0">
                <a:solidFill>
                  <a:srgbClr val="F0F0F5"/>
                </a:solidFill>
                <a:latin typeface="Segoe UI"/>
              </a:rPr>
              <a:t> Generation</a:t>
            </a:r>
            <a:endParaRPr sz="3200" b="1" i="0" dirty="0">
              <a:solidFill>
                <a:srgbClr val="F0F0F5"/>
              </a:solidFill>
              <a:latin typeface="Segoe UI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822960" y="1234440"/>
            <a:ext cx="2286000" cy="31750"/>
          </a:xfrm>
          <a:prstGeom prst="rect">
            <a:avLst/>
          </a:prstGeom>
          <a:solidFill>
            <a:srgbClr val="4F8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822960" y="1645920"/>
            <a:ext cx="5181600" cy="22980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0"/>
              </a:spcBef>
              <a:spcAft>
                <a:spcPts val="400"/>
              </a:spcAft>
            </a:pPr>
            <a:r>
              <a:rPr sz="2000" b="0" i="0" dirty="0">
                <a:solidFill>
                  <a:srgbClr val="4F8CFF"/>
                </a:solidFill>
                <a:latin typeface="Segoe UI"/>
              </a:rPr>
              <a:t>▸  </a:t>
            </a:r>
            <a:r>
              <a:rPr sz="2000" b="0" i="0" dirty="0">
                <a:solidFill>
                  <a:srgbClr val="F0F0F5"/>
                </a:solidFill>
                <a:latin typeface="Segoe UI"/>
              </a:rPr>
              <a:t>Raw chunks</a:t>
            </a:r>
            <a:r>
              <a:rPr lang="en-US" sz="2000" b="0" i="0" dirty="0">
                <a:solidFill>
                  <a:srgbClr val="F0F0F5"/>
                </a:solidFill>
                <a:latin typeface="Segoe UI"/>
              </a:rPr>
              <a:t> are</a:t>
            </a:r>
            <a:r>
              <a:rPr sz="2000" b="0" i="0" dirty="0">
                <a:solidFill>
                  <a:srgbClr val="F0F0F5"/>
                </a:solidFill>
                <a:latin typeface="Segoe UI"/>
              </a:rPr>
              <a:t> too patient-specific for condition-level queries</a:t>
            </a:r>
            <a:endParaRPr lang="en-US" sz="2000" b="0" i="0" dirty="0">
              <a:solidFill>
                <a:srgbClr val="F0F0F5"/>
              </a:solidFill>
              <a:latin typeface="Segoe UI"/>
            </a:endParaRPr>
          </a:p>
          <a:p>
            <a:pPr>
              <a:spcBef>
                <a:spcPts val="1000"/>
              </a:spcBef>
              <a:spcAft>
                <a:spcPts val="400"/>
              </a:spcAft>
            </a:pPr>
            <a:r>
              <a:rPr lang="en-US" sz="2000" dirty="0">
                <a:solidFill>
                  <a:srgbClr val="4F8CFF"/>
                </a:solidFill>
                <a:latin typeface="Segoe UI"/>
              </a:rPr>
              <a:t>▸ </a:t>
            </a:r>
            <a:r>
              <a:rPr lang="en-US" sz="2000" b="1" dirty="0">
                <a:solidFill>
                  <a:schemeClr val="bg1"/>
                </a:solidFill>
                <a:latin typeface="Segoe UI"/>
              </a:rPr>
              <a:t>Add context before chunks to capture full semantics</a:t>
            </a:r>
          </a:p>
          <a:p>
            <a:pPr>
              <a:spcBef>
                <a:spcPts val="1000"/>
              </a:spcBef>
              <a:spcAft>
                <a:spcPts val="400"/>
              </a:spcAft>
            </a:pPr>
            <a:r>
              <a:rPr sz="2000" b="0" i="0" dirty="0">
                <a:solidFill>
                  <a:srgbClr val="4F8CFF"/>
                </a:solidFill>
                <a:latin typeface="Segoe UI"/>
              </a:rPr>
              <a:t>▸  </a:t>
            </a:r>
            <a:r>
              <a:rPr sz="2000" b="0" i="0" dirty="0">
                <a:solidFill>
                  <a:srgbClr val="F0F0F5"/>
                </a:solidFill>
                <a:latin typeface="Segoe UI"/>
              </a:rPr>
              <a:t>MIMIC metadata is structured → deterministic template</a:t>
            </a:r>
            <a:r>
              <a:rPr lang="en-US" sz="2000" dirty="0">
                <a:solidFill>
                  <a:srgbClr val="F0F0F5"/>
                </a:solidFill>
                <a:latin typeface="Segoe UI"/>
              </a:rPr>
              <a:t> to build context</a:t>
            </a:r>
            <a:endParaRPr sz="2000" b="0" i="0" dirty="0">
              <a:solidFill>
                <a:srgbClr val="F0F0F5"/>
              </a:solidFill>
              <a:latin typeface="Segoe UI"/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6187442" y="1514014"/>
            <a:ext cx="5364480" cy="2389331"/>
          </a:xfrm>
          <a:prstGeom prst="roundRect">
            <a:avLst>
              <a:gd name="adj" fmla="val 5000"/>
            </a:avLst>
          </a:prstGeom>
          <a:solidFill>
            <a:srgbClr val="2025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0" tIns="228600" rIns="274320" bIns="182880" rtlCol="0" anchor="ctr"/>
          <a:lstStyle/>
          <a:p>
            <a:pPr>
              <a:spcAft>
                <a:spcPts val="1000"/>
              </a:spcAft>
              <a:defRPr sz="1600" b="1">
                <a:solidFill>
                  <a:srgbClr val="FFAB40"/>
                </a:solidFill>
                <a:latin typeface="Segoe UI"/>
              </a:defRPr>
            </a:pPr>
            <a:r>
              <a:rPr lang="en-US" dirty="0">
                <a:solidFill>
                  <a:srgbClr val="FFAB40"/>
                </a:solidFill>
                <a:latin typeface="Segoe UI"/>
              </a:rPr>
              <a:t>Chunk example</a:t>
            </a:r>
          </a:p>
          <a:p>
            <a:pPr>
              <a:spcBef>
                <a:spcPts val="500"/>
              </a:spcBef>
              <a:spcAft>
                <a:spcPts val="300"/>
              </a:spcAft>
            </a:pPr>
            <a:r>
              <a:rPr lang="en-US" sz="1400" i="0" dirty="0">
                <a:solidFill>
                  <a:srgbClr val="B4B9C8"/>
                </a:solidFill>
                <a:latin typeface="JetBrains Mono" panose="02000009000000000000" pitchFamily="49" charset="0"/>
                <a:ea typeface="JetBrains Mono" panose="02000009000000000000" pitchFamily="49" charset="0"/>
                <a:cs typeface="JetBrains Mono" panose="02000009000000000000" pitchFamily="49" charset="0"/>
              </a:rPr>
              <a:t>Elderly male, White, admitted for Sepsis (SOFA 14).</a:t>
            </a:r>
          </a:p>
          <a:p>
            <a:pPr>
              <a:spcBef>
                <a:spcPts val="500"/>
              </a:spcBef>
              <a:spcAft>
                <a:spcPts val="300"/>
              </a:spcAft>
            </a:pPr>
            <a:r>
              <a:rPr sz="1400" b="0" i="0" dirty="0">
                <a:solidFill>
                  <a:srgbClr val="B4B9C8"/>
                </a:solidFill>
                <a:latin typeface="JetBrains Mono" panose="02000009000000000000" pitchFamily="49" charset="0"/>
                <a:ea typeface="JetBrains Mono" panose="02000009000000000000" pitchFamily="49" charset="0"/>
                <a:cs typeface="JetBrains Mono" panose="02000009000000000000" pitchFamily="49" charset="0"/>
              </a:rPr>
              <a:t>Chief complaint: fever, hypotension.</a:t>
            </a:r>
          </a:p>
          <a:p>
            <a:pPr>
              <a:spcBef>
                <a:spcPts val="500"/>
              </a:spcBef>
              <a:spcAft>
                <a:spcPts val="300"/>
              </a:spcAft>
            </a:pPr>
            <a:r>
              <a:rPr sz="1400" b="0" i="0" dirty="0">
                <a:solidFill>
                  <a:srgbClr val="B4B9C8"/>
                </a:solidFill>
                <a:latin typeface="JetBrains Mono" panose="02000009000000000000" pitchFamily="49" charset="0"/>
                <a:ea typeface="JetBrains Mono" panose="02000009000000000000" pitchFamily="49" charset="0"/>
                <a:cs typeface="JetBrains Mono" panose="02000009000000000000" pitchFamily="49" charset="0"/>
              </a:rPr>
              <a:t>Comorbidities: CHF, CKD, COPD.</a:t>
            </a:r>
          </a:p>
          <a:p>
            <a:pPr>
              <a:spcBef>
                <a:spcPts val="500"/>
              </a:spcBef>
              <a:spcAft>
                <a:spcPts val="300"/>
              </a:spcAft>
            </a:pPr>
            <a:r>
              <a:rPr sz="1400" b="0" i="0" dirty="0">
                <a:solidFill>
                  <a:srgbClr val="B4B9C8"/>
                </a:solidFill>
                <a:latin typeface="JetBrains Mono" panose="02000009000000000000" pitchFamily="49" charset="0"/>
                <a:ea typeface="JetBrains Mono" panose="02000009000000000000" pitchFamily="49" charset="0"/>
                <a:cs typeface="JetBrains Mono" panose="02000009000000000000" pitchFamily="49" charset="0"/>
              </a:rPr>
              <a:t>Section: Brief Hospital Course</a:t>
            </a:r>
            <a:endParaRPr lang="en-US" sz="1600" b="0" i="0" dirty="0">
              <a:solidFill>
                <a:srgbClr val="B4B9C8"/>
              </a:solidFill>
              <a:latin typeface="Segoe UI"/>
            </a:endParaRPr>
          </a:p>
          <a:p>
            <a:pPr>
              <a:spcBef>
                <a:spcPts val="500"/>
              </a:spcBef>
              <a:spcAft>
                <a:spcPts val="300"/>
              </a:spcAft>
            </a:pPr>
            <a:r>
              <a:rPr lang="it-IT" sz="1400" dirty="0">
                <a:solidFill>
                  <a:srgbClr val="48C78E"/>
                </a:solidFill>
                <a:latin typeface="JetBrains Mono" panose="02000009000000000000" pitchFamily="49" charset="0"/>
                <a:ea typeface="JetBrains Mono" panose="02000009000000000000" pitchFamily="49" charset="0"/>
                <a:cs typeface="JetBrains Mono" panose="02000009000000000000" pitchFamily="49" charset="0"/>
              </a:rPr>
              <a:t>&lt;section_content&gt;</a:t>
            </a:r>
            <a:endParaRPr sz="1400" dirty="0">
              <a:solidFill>
                <a:srgbClr val="48C78E"/>
              </a:solidFill>
              <a:latin typeface="JetBrains Mono" panose="02000009000000000000" pitchFamily="49" charset="0"/>
              <a:ea typeface="JetBrains Mono" panose="02000009000000000000" pitchFamily="49" charset="0"/>
              <a:cs typeface="JetBrains Mono" panose="02000009000000000000" pitchFamily="49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3790909-FA82-7256-3A87-F37C338AD234}"/>
              </a:ext>
            </a:extLst>
          </p:cNvPr>
          <p:cNvSpPr txBox="1"/>
          <p:nvPr/>
        </p:nvSpPr>
        <p:spPr>
          <a:xfrm>
            <a:off x="822960" y="4687064"/>
            <a:ext cx="9966960" cy="19902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0"/>
              </a:spcBef>
              <a:spcAft>
                <a:spcPts val="400"/>
              </a:spcAft>
            </a:pPr>
            <a:r>
              <a:rPr sz="2000" b="0" i="0" dirty="0">
                <a:solidFill>
                  <a:srgbClr val="4F8CFF"/>
                </a:solidFill>
                <a:latin typeface="Segoe UI"/>
              </a:rPr>
              <a:t>▸  </a:t>
            </a:r>
            <a:r>
              <a:rPr lang="en-US" sz="2000" b="0" i="0" dirty="0">
                <a:solidFill>
                  <a:srgbClr val="F0F0F5"/>
                </a:solidFill>
                <a:latin typeface="Segoe UI"/>
              </a:rPr>
              <a:t>Alternative: </a:t>
            </a:r>
            <a:r>
              <a:rPr lang="en-US" sz="2000" b="1" i="0" dirty="0">
                <a:solidFill>
                  <a:srgbClr val="F0F0F5"/>
                </a:solidFill>
                <a:latin typeface="Segoe UI"/>
              </a:rPr>
              <a:t>whole-document embeddings</a:t>
            </a:r>
            <a:r>
              <a:rPr lang="en-US" sz="2000" b="0" i="0" dirty="0">
                <a:solidFill>
                  <a:srgbClr val="F0F0F5"/>
                </a:solidFill>
                <a:latin typeface="Segoe UI"/>
              </a:rPr>
              <a:t> via long-context embedding models</a:t>
            </a:r>
            <a:r>
              <a:rPr lang="en-US" sz="2000" dirty="0">
                <a:solidFill>
                  <a:srgbClr val="F0F0F5"/>
                </a:solidFill>
                <a:latin typeface="Segoe UI"/>
              </a:rPr>
              <a:t>, d</a:t>
            </a:r>
            <a:r>
              <a:rPr lang="it-IT" sz="2000" dirty="0">
                <a:solidFill>
                  <a:schemeClr val="bg1"/>
                </a:solidFill>
                <a:latin typeface="Segoe UI"/>
              </a:rPr>
              <a:t>epending on which kind of queries we want to construct</a:t>
            </a:r>
          </a:p>
          <a:p>
            <a:pPr marL="742950" lvl="1" indent="-285750">
              <a:spcBef>
                <a:spcPts val="1000"/>
              </a:spcBef>
              <a:spcAft>
                <a:spcPts val="400"/>
              </a:spcAft>
              <a:buFont typeface="Wingdings" panose="05000000000000000000" pitchFamily="2" charset="2"/>
              <a:buChar char="§"/>
            </a:pPr>
            <a:r>
              <a:rPr lang="en-US" sz="2000" dirty="0">
                <a:solidFill>
                  <a:schemeClr val="bg1">
                    <a:lumMod val="75000"/>
                  </a:schemeClr>
                </a:solidFill>
                <a:latin typeface="Segoe UI"/>
              </a:rPr>
              <a:t>“</a:t>
            </a:r>
            <a:r>
              <a:rPr lang="en-US" sz="2000" i="1" dirty="0">
                <a:solidFill>
                  <a:schemeClr val="bg1">
                    <a:lumMod val="75000"/>
                  </a:schemeClr>
                </a:solidFill>
                <a:latin typeface="Segoe UI"/>
              </a:rPr>
              <a:t>find patients similar to this case</a:t>
            </a:r>
            <a:r>
              <a:rPr lang="en-US" sz="2000" dirty="0">
                <a:solidFill>
                  <a:schemeClr val="bg1">
                    <a:lumMod val="75000"/>
                  </a:schemeClr>
                </a:solidFill>
                <a:latin typeface="Segoe UI"/>
              </a:rPr>
              <a:t>” rather than “</a:t>
            </a:r>
            <a:r>
              <a:rPr lang="en-US" sz="2000" i="1" dirty="0">
                <a:solidFill>
                  <a:schemeClr val="bg1">
                    <a:lumMod val="75000"/>
                  </a:schemeClr>
                </a:solidFill>
                <a:latin typeface="Segoe UI"/>
              </a:rPr>
              <a:t>what are the symptoms of X and how 	do they differ with Y</a:t>
            </a:r>
            <a:r>
              <a:rPr lang="en-US" sz="2000" dirty="0">
                <a:solidFill>
                  <a:schemeClr val="bg1">
                    <a:lumMod val="75000"/>
                  </a:schemeClr>
                </a:solidFill>
                <a:latin typeface="Segoe UI"/>
              </a:rPr>
              <a:t>”</a:t>
            </a:r>
          </a:p>
          <a:p>
            <a:pPr>
              <a:spcBef>
                <a:spcPts val="1000"/>
              </a:spcBef>
              <a:spcAft>
                <a:spcPts val="400"/>
              </a:spcAft>
            </a:pPr>
            <a:endParaRPr lang="it-IT" sz="2000" dirty="0">
              <a:solidFill>
                <a:schemeClr val="bg1">
                  <a:lumMod val="75000"/>
                </a:schemeClr>
              </a:solidFill>
              <a:latin typeface="Segoe UI"/>
            </a:endParaRP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51808166-BDB1-C16C-86A1-44DEBA1367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81C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4F8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822960" y="411480"/>
            <a:ext cx="1051560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 i="0" dirty="0">
                <a:solidFill>
                  <a:srgbClr val="F0F0F5"/>
                </a:solidFill>
                <a:latin typeface="Segoe UI"/>
              </a:rPr>
              <a:t>Phase 3: Query Generation</a:t>
            </a:r>
            <a:r>
              <a:rPr lang="en-US" sz="3200" b="1" i="0" dirty="0">
                <a:solidFill>
                  <a:srgbClr val="F0F0F5"/>
                </a:solidFill>
                <a:latin typeface="Segoe UI"/>
              </a:rPr>
              <a:t> via LLM</a:t>
            </a:r>
            <a:endParaRPr sz="3200" b="1" i="0" dirty="0">
              <a:solidFill>
                <a:srgbClr val="F0F0F5"/>
              </a:solidFill>
              <a:latin typeface="Segoe UI"/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822960" y="1234440"/>
            <a:ext cx="2286000" cy="31750"/>
          </a:xfrm>
          <a:prstGeom prst="rect">
            <a:avLst/>
          </a:prstGeom>
          <a:solidFill>
            <a:srgbClr val="4F8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/>
              <p:cNvSpPr txBox="1"/>
              <p:nvPr/>
            </p:nvSpPr>
            <p:spPr>
              <a:xfrm>
                <a:off x="822960" y="1504249"/>
                <a:ext cx="10515600" cy="51995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>
                  <a:spcBef>
                    <a:spcPts val="1000"/>
                  </a:spcBef>
                  <a:spcAft>
                    <a:spcPts val="400"/>
                  </a:spcAft>
                </a:pPr>
                <a:r>
                  <a:rPr lang="it-IT" b="0" i="0" dirty="0">
                    <a:solidFill>
                      <a:srgbClr val="4F8CFF"/>
                    </a:solidFill>
                    <a:latin typeface="Segoe UI"/>
                  </a:rPr>
                  <a:t>▸  </a:t>
                </a:r>
                <a:r>
                  <a:rPr lang="it-IT" sz="2000" b="0" i="0" dirty="0">
                    <a:solidFill>
                      <a:srgbClr val="F0F0F5"/>
                    </a:solidFill>
                    <a:latin typeface="Segoe UI"/>
                  </a:rPr>
                  <a:t>Pick primary condition + 1–2 </a:t>
                </a:r>
                <a:r>
                  <a:rPr lang="it-IT" sz="2000" b="1" i="0" dirty="0">
                    <a:solidFill>
                      <a:srgbClr val="F0F0F5"/>
                    </a:solidFill>
                    <a:latin typeface="Segoe UI"/>
                  </a:rPr>
                  <a:t>modifier axes </a:t>
                </a:r>
                <a:r>
                  <a:rPr lang="it-IT" sz="2000" i="0" dirty="0">
                    <a:solidFill>
                      <a:srgbClr val="F0F0F5"/>
                    </a:solidFill>
                    <a:latin typeface="Segoe UI"/>
                  </a:rPr>
                  <a:t>to ensure multi-aspect</a:t>
                </a:r>
                <a:endParaRPr lang="it-IT" sz="2000" b="1" i="0" dirty="0">
                  <a:solidFill>
                    <a:srgbClr val="F0F0F5"/>
                  </a:solidFill>
                  <a:latin typeface="Segoe UI"/>
                </a:endParaRPr>
              </a:p>
              <a:p>
                <a:pPr marL="742950" lvl="1" indent="-285750">
                  <a:spcBef>
                    <a:spcPts val="200"/>
                  </a:spcBef>
                  <a:spcAft>
                    <a:spcPts val="200"/>
                  </a:spcAft>
                  <a:buFont typeface="Wingdings" panose="05000000000000000000" pitchFamily="2" charset="2"/>
                  <a:buChar char="§"/>
                </a:pPr>
                <a:r>
                  <a:rPr lang="it-IT" i="0" dirty="0">
                    <a:solidFill>
                      <a:srgbClr val="B4B9C8"/>
                    </a:solidFill>
                    <a:latin typeface="Segoe UI"/>
                  </a:rPr>
                  <a:t>Comorbidity</a:t>
                </a:r>
                <a:r>
                  <a:rPr lang="it-IT" b="0" i="0" dirty="0">
                    <a:solidFill>
                      <a:srgbClr val="B4B9C8"/>
                    </a:solidFill>
                    <a:latin typeface="Segoe UI"/>
                  </a:rPr>
                  <a:t>: co-occurring ICD codes (e.g. stroke + diabetes)</a:t>
                </a:r>
              </a:p>
              <a:p>
                <a:pPr marL="742950" lvl="1" indent="-285750">
                  <a:spcBef>
                    <a:spcPts val="200"/>
                  </a:spcBef>
                  <a:spcAft>
                    <a:spcPts val="200"/>
                  </a:spcAft>
                  <a:buFont typeface="Wingdings" panose="05000000000000000000" pitchFamily="2" charset="2"/>
                  <a:buChar char="§"/>
                </a:pPr>
                <a:r>
                  <a:rPr lang="it-IT" i="0" dirty="0">
                    <a:solidFill>
                      <a:srgbClr val="B4B9C8"/>
                    </a:solidFill>
                    <a:latin typeface="Segoe UI"/>
                  </a:rPr>
                  <a:t>Demographic</a:t>
                </a:r>
                <a:r>
                  <a:rPr lang="it-IT" b="0" i="0" dirty="0">
                    <a:solidFill>
                      <a:srgbClr val="B4B9C8"/>
                    </a:solidFill>
                    <a:latin typeface="Segoe UI"/>
                  </a:rPr>
                  <a:t>: age group, gender, race, etc.</a:t>
                </a:r>
              </a:p>
              <a:p>
                <a:pPr marL="742950" lvl="1" indent="-285750">
                  <a:spcBef>
                    <a:spcPts val="200"/>
                  </a:spcBef>
                  <a:spcAft>
                    <a:spcPts val="200"/>
                  </a:spcAft>
                  <a:buFont typeface="Wingdings" panose="05000000000000000000" pitchFamily="2" charset="2"/>
                  <a:buChar char="§"/>
                </a:pPr>
                <a:r>
                  <a:rPr lang="it-IT" i="0" dirty="0">
                    <a:solidFill>
                      <a:srgbClr val="B4B9C8"/>
                    </a:solidFill>
                    <a:latin typeface="Segoe UI"/>
                  </a:rPr>
                  <a:t>Complication</a:t>
                </a:r>
                <a:r>
                  <a:rPr lang="it-IT" b="0" i="0" dirty="0">
                    <a:solidFill>
                      <a:srgbClr val="B4B9C8"/>
                    </a:solidFill>
                    <a:latin typeface="Segoe UI"/>
                  </a:rPr>
                  <a:t>: post-surgical, recurrent, or secondary diagnoses</a:t>
                </a:r>
              </a:p>
              <a:p>
                <a:pPr>
                  <a:spcBef>
                    <a:spcPts val="1000"/>
                  </a:spcBef>
                  <a:spcAft>
                    <a:spcPts val="400"/>
                  </a:spcAft>
                </a:pPr>
                <a:r>
                  <a:rPr lang="it-IT" b="0" i="0" dirty="0">
                    <a:solidFill>
                      <a:srgbClr val="4F8CFF"/>
                    </a:solidFill>
                    <a:latin typeface="Segoe UI"/>
                  </a:rPr>
                  <a:t>▸ </a:t>
                </a:r>
                <a:r>
                  <a:rPr lang="it-IT" i="0" dirty="0">
                    <a:solidFill>
                      <a:srgbClr val="4F8CFF"/>
                    </a:solidFill>
                    <a:latin typeface="Segoe UI"/>
                  </a:rPr>
                  <a:t> </a:t>
                </a:r>
                <a:r>
                  <a:rPr lang="it-IT" sz="2000" i="0" dirty="0">
                    <a:solidFill>
                      <a:srgbClr val="F0F0F5"/>
                    </a:solidFill>
                    <a:latin typeface="Segoe UI"/>
                  </a:rPr>
                  <a:t>LLM prompt</a:t>
                </a:r>
                <a:r>
                  <a:rPr lang="it-IT" sz="2000" b="0" i="0" dirty="0">
                    <a:solidFill>
                      <a:srgbClr val="F0F0F5"/>
                    </a:solidFill>
                    <a:latin typeface="Segoe UI"/>
                  </a:rPr>
                  <a:t>: generate clinical management question requiring modifier knowledge</a:t>
                </a:r>
              </a:p>
              <a:p>
                <a:pPr>
                  <a:spcBef>
                    <a:spcPts val="1000"/>
                  </a:spcBef>
                  <a:spcAft>
                    <a:spcPts val="400"/>
                  </a:spcAft>
                </a:pPr>
                <a:endParaRPr lang="it-IT" sz="2000" b="0" i="0" dirty="0">
                  <a:solidFill>
                    <a:srgbClr val="F0F0F5"/>
                  </a:solidFill>
                  <a:latin typeface="Segoe UI"/>
                </a:endParaRPr>
              </a:p>
              <a:p>
                <a:pPr>
                  <a:spcBef>
                    <a:spcPts val="1000"/>
                  </a:spcBef>
                  <a:spcAft>
                    <a:spcPts val="400"/>
                  </a:spcAft>
                </a:pPr>
                <a:r>
                  <a:rPr lang="it-IT" b="0" i="0" dirty="0">
                    <a:solidFill>
                      <a:srgbClr val="4F8CFF"/>
                    </a:solidFill>
                    <a:latin typeface="Segoe UI"/>
                  </a:rPr>
                  <a:t>▸  </a:t>
                </a:r>
                <a:r>
                  <a:rPr lang="it-IT" sz="2000" b="1" i="0" dirty="0">
                    <a:solidFill>
                      <a:srgbClr val="F0F0F5"/>
                    </a:solidFill>
                    <a:latin typeface="Segoe UI"/>
                  </a:rPr>
                  <a:t>Pre-filter</a:t>
                </a:r>
                <a:r>
                  <a:rPr lang="it-IT" sz="2000" b="0" i="0" dirty="0">
                    <a:solidFill>
                      <a:srgbClr val="F0F0F5"/>
                    </a:solidFill>
                    <a:latin typeface="Segoe UI"/>
                  </a:rPr>
                  <a:t>: only keep queries where </a:t>
                </a:r>
                <a:r>
                  <a:rPr lang="it-IT" sz="2000" b="0" i="1" dirty="0">
                    <a:solidFill>
                      <a:srgbClr val="F0F0F5"/>
                    </a:solidFill>
                    <a:latin typeface="Segoe UI"/>
                  </a:rPr>
                  <a:t>coverage ≠ top-k</a:t>
                </a:r>
              </a:p>
              <a:p>
                <a:pPr marL="742950" lvl="1" indent="-285750">
                  <a:spcBef>
                    <a:spcPts val="200"/>
                  </a:spcBef>
                  <a:spcAft>
                    <a:spcPts val="200"/>
                  </a:spcAft>
                  <a:buFont typeface="Wingdings" panose="05000000000000000000" pitchFamily="2" charset="2"/>
                  <a:buChar char="§"/>
                </a:pPr>
                <a:r>
                  <a:rPr lang="it-IT" dirty="0">
                    <a:solidFill>
                      <a:srgbClr val="B4B9C8"/>
                    </a:solidFill>
                    <a:latin typeface="Segoe UI"/>
                  </a:rPr>
                  <a:t>assess overall suitability of coverage approaches for this dataset with this embedding strategy</a:t>
                </a:r>
                <a:endParaRPr lang="it-IT" dirty="0">
                  <a:solidFill>
                    <a:schemeClr val="bg1">
                      <a:lumMod val="75000"/>
                    </a:schemeClr>
                  </a:solidFill>
                  <a:latin typeface="Cambria Math" panose="02040503050406030204" pitchFamily="18" charset="0"/>
                </a:endParaRPr>
              </a:p>
              <a:p>
                <a:pPr marL="742950" lvl="1" indent="-285750">
                  <a:spcBef>
                    <a:spcPts val="200"/>
                  </a:spcBef>
                  <a:spcAft>
                    <a:spcPts val="200"/>
                  </a:spcAft>
                  <a:buFont typeface="Wingdings" panose="05000000000000000000" pitchFamily="2" charset="2"/>
                  <a:buChar char="§"/>
                </a:pPr>
                <a14:m>
                  <m:oMath xmlns:m="http://schemas.openxmlformats.org/officeDocument/2006/math">
                    <m:r>
                      <a:rPr lang="it-IT" sz="2000" dirty="0">
                        <a:solidFill>
                          <a:schemeClr val="bg1">
                            <a:lumMod val="75000"/>
                          </a:schemeClr>
                        </a:solidFill>
                        <a:latin typeface="Cambria Math" panose="02040503050406030204" pitchFamily="18" charset="0"/>
                      </a:rPr>
                      <m:t>𝐽𝑎𝑐𝑐𝑎𝑟𝑑</m:t>
                    </m:r>
                    <m:r>
                      <a:rPr lang="it-IT" sz="2000" dirty="0">
                        <a:solidFill>
                          <a:schemeClr val="bg1">
                            <a:lumMod val="75000"/>
                          </a:schemeClr>
                        </a:solidFill>
                        <a:latin typeface="Cambria Math" panose="02040503050406030204" pitchFamily="18" charset="0"/>
                      </a:rPr>
                      <m:t>(</m:t>
                    </m:r>
                    <m:sSub>
                      <m:sSubPr>
                        <m:ctrlPr>
                          <a:rPr lang="ar-AE" sz="2000" i="1" dirty="0">
                            <a:solidFill>
                              <a:schemeClr val="bg1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sz="2000" dirty="0">
                            <a:solidFill>
                              <a:schemeClr val="bg1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b>
                        <m:r>
                          <a:rPr lang="ar-AE" sz="2000" dirty="0">
                            <a:solidFill>
                              <a:schemeClr val="bg1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𝑐𝑜𝑣</m:t>
                        </m:r>
                      </m:sub>
                    </m:sSub>
                    <m:r>
                      <a:rPr lang="ar-AE" sz="2000" dirty="0">
                        <a:solidFill>
                          <a:schemeClr val="bg1">
                            <a:lumMod val="75000"/>
                          </a:schemeClr>
                        </a:solidFill>
                        <a:latin typeface="Cambria Math" panose="02040503050406030204" pitchFamily="18" charset="0"/>
                      </a:rPr>
                      <m:t> ,</m:t>
                    </m:r>
                    <m:sSub>
                      <m:sSubPr>
                        <m:ctrlPr>
                          <a:rPr lang="ar-AE" sz="2000" i="1" dirty="0">
                            <a:solidFill>
                              <a:schemeClr val="bg1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sz="2000" dirty="0">
                            <a:solidFill>
                              <a:schemeClr val="bg1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ar-AE" sz="2000" dirty="0">
                            <a:solidFill>
                              <a:schemeClr val="bg1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b>
                        <m:r>
                          <a:rPr lang="ar-AE" sz="2000" dirty="0">
                            <a:solidFill>
                              <a:schemeClr val="bg1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𝑡𝑜𝑝</m:t>
                        </m:r>
                        <m:r>
                          <a:rPr lang="ar-AE" sz="2000" dirty="0">
                            <a:solidFill>
                              <a:schemeClr val="bg1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ar-AE" sz="2000" dirty="0">
                            <a:solidFill>
                              <a:schemeClr val="bg1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r>
                      <a:rPr lang="ar-AE" sz="2000" dirty="0">
                        <a:solidFill>
                          <a:schemeClr val="bg1">
                            <a:lumMod val="75000"/>
                          </a:schemeClr>
                        </a:solidFill>
                        <a:latin typeface="Cambria Math" panose="02040503050406030204" pitchFamily="18" charset="0"/>
                      </a:rPr>
                      <m:t>) ≈ </m:t>
                    </m:r>
                    <m:r>
                      <a:rPr lang="ar-AE" sz="2000" dirty="0">
                        <a:solidFill>
                          <a:schemeClr val="bg1">
                            <a:lumMod val="75000"/>
                          </a:schemeClr>
                        </a:solidFill>
                        <a:latin typeface="Cambria Math" panose="02040503050406030204" pitchFamily="18" charset="0"/>
                      </a:rPr>
                      <m:t>1</m:t>
                    </m:r>
                  </m:oMath>
                </a14:m>
                <a:r>
                  <a:rPr lang="ar-AE" sz="2000" dirty="0">
                    <a:solidFill>
                      <a:schemeClr val="bg1">
                        <a:lumMod val="75000"/>
                      </a:schemeClr>
                    </a:solidFill>
                    <a:latin typeface="Segoe UI"/>
                  </a:rPr>
                  <a:t> </a:t>
                </a:r>
                <a:r>
                  <a:rPr lang="ar-AE" b="0" i="0" dirty="0">
                    <a:solidFill>
                      <a:srgbClr val="B4B9C8"/>
                    </a:solidFill>
                    <a:latin typeface="Segoe UI"/>
                  </a:rPr>
                  <a:t>→ </a:t>
                </a:r>
                <a:r>
                  <a:rPr lang="en-US" b="0" i="0" dirty="0">
                    <a:solidFill>
                      <a:srgbClr val="B4B9C8"/>
                    </a:solidFill>
                    <a:latin typeface="Segoe UI"/>
                  </a:rPr>
                  <a:t> </a:t>
                </a:r>
                <a:r>
                  <a:rPr lang="it-IT" b="0" i="0" dirty="0">
                    <a:solidFill>
                      <a:srgbClr val="B4B9C8"/>
                    </a:solidFill>
                    <a:latin typeface="Segoe UI"/>
                  </a:rPr>
                  <a:t>skip</a:t>
                </a:r>
                <a:endParaRPr lang="it-IT" dirty="0">
                  <a:solidFill>
                    <a:srgbClr val="B4B9C8"/>
                  </a:solidFill>
                  <a:latin typeface="Segoe UI"/>
                </a:endParaRPr>
              </a:p>
              <a:p>
                <a:pPr marL="742950" lvl="1" indent="-285750">
                  <a:spcBef>
                    <a:spcPts val="200"/>
                  </a:spcBef>
                  <a:spcAft>
                    <a:spcPts val="200"/>
                  </a:spcAft>
                  <a:buFont typeface="Wingdings" panose="05000000000000000000" pitchFamily="2" charset="2"/>
                  <a:buChar char="§"/>
                </a:pPr>
                <a14:m>
                  <m:oMath xmlns:m="http://schemas.openxmlformats.org/officeDocument/2006/math">
                    <m:r>
                      <a:rPr lang="it-IT" b="0" i="1" dirty="0" smtClean="0">
                        <a:solidFill>
                          <a:srgbClr val="B4B9C8"/>
                        </a:solidFill>
                        <a:latin typeface="Cambria Math" panose="02040503050406030204" pitchFamily="18" charset="0"/>
                      </a:rPr>
                      <m:t>𝑔</m:t>
                    </m:r>
                    <m:d>
                      <m:dPr>
                        <m:ctrlPr>
                          <a:rPr lang="ar-AE" b="0" i="1" dirty="0" smtClean="0">
                            <a:solidFill>
                              <a:srgbClr val="B4B9C8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ar-AE" i="1" dirty="0">
                                <a:solidFill>
                                  <a:schemeClr val="bg1">
                                    <a:lumMod val="7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dirty="0">
                                <a:solidFill>
                                  <a:schemeClr val="bg1">
                                    <a:lumMod val="7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𝑆</m:t>
                            </m:r>
                          </m:e>
                          <m:sub>
                            <m:r>
                              <a:rPr lang="ar-AE" dirty="0">
                                <a:solidFill>
                                  <a:schemeClr val="bg1">
                                    <a:lumMod val="7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𝑐𝑜𝑣</m:t>
                            </m:r>
                          </m:sub>
                        </m:sSub>
                      </m:e>
                    </m:d>
                    <m:r>
                      <a:rPr lang="ar-AE" b="0" i="1" dirty="0">
                        <a:solidFill>
                          <a:srgbClr val="B4B9C8"/>
                        </a:solidFill>
                        <a:latin typeface="Cambria Math" panose="02040503050406030204" pitchFamily="18" charset="0"/>
                      </a:rPr>
                      <m:t>− </m:t>
                    </m:r>
                    <m:r>
                      <a:rPr lang="ar-AE" b="0" i="1" dirty="0">
                        <a:solidFill>
                          <a:srgbClr val="B4B9C8"/>
                        </a:solidFill>
                        <a:latin typeface="Cambria Math" panose="02040503050406030204" pitchFamily="18" charset="0"/>
                      </a:rPr>
                      <m:t>𝑔</m:t>
                    </m:r>
                    <m:d>
                      <m:dPr>
                        <m:ctrlPr>
                          <a:rPr lang="ar-AE" b="0" i="1" dirty="0">
                            <a:solidFill>
                              <a:srgbClr val="B4B9C8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ar-AE" i="1" dirty="0">
                                <a:solidFill>
                                  <a:schemeClr val="bg1">
                                    <a:lumMod val="7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dirty="0" smtClean="0">
                                <a:solidFill>
                                  <a:schemeClr val="bg1">
                                    <a:lumMod val="7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𝑆</m:t>
                            </m:r>
                          </m:e>
                          <m:sub>
                            <m:r>
                              <a:rPr lang="ar-AE" dirty="0">
                                <a:solidFill>
                                  <a:schemeClr val="bg1">
                                    <a:lumMod val="7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𝑡𝑜𝑝</m:t>
                            </m:r>
                            <m:r>
                              <a:rPr lang="ar-AE" dirty="0">
                                <a:solidFill>
                                  <a:schemeClr val="bg1">
                                    <a:lumMod val="7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ar-AE" dirty="0">
                                <a:solidFill>
                                  <a:schemeClr val="bg1">
                                    <a:lumMod val="7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</m:e>
                    </m:d>
                    <m:r>
                      <a:rPr lang="en-US" b="0" i="1" dirty="0" smtClean="0">
                        <a:solidFill>
                          <a:schemeClr val="bg1">
                            <a:lumMod val="75000"/>
                          </a:schemeClr>
                        </a:solidFill>
                        <a:latin typeface="Cambria Math" panose="02040503050406030204" pitchFamily="18" charset="0"/>
                      </a:rPr>
                      <m:t>&lt;</m:t>
                    </m:r>
                    <m:r>
                      <a:rPr lang="en-US" b="0" i="1" dirty="0" smtClean="0">
                        <a:solidFill>
                          <a:schemeClr val="bg1">
                            <a:lumMod val="75000"/>
                          </a:schemeClr>
                        </a:solidFill>
                        <a:latin typeface="Cambria Math" panose="02040503050406030204" pitchFamily="18" charset="0"/>
                      </a:rPr>
                      <m:t>𝑡</m:t>
                    </m:r>
                    <m:r>
                      <a:rPr lang="en-US" b="0" i="1" dirty="0" smtClean="0">
                        <a:solidFill>
                          <a:schemeClr val="bg1">
                            <a:lumMod val="75000"/>
                          </a:schemeClr>
                        </a:solidFill>
                        <a:latin typeface="Cambria Math" panose="02040503050406030204" pitchFamily="18" charset="0"/>
                      </a:rPr>
                      <m:t>h</m:t>
                    </m:r>
                    <m:r>
                      <a:rPr lang="en-US" b="0" i="1" dirty="0" smtClean="0">
                        <a:solidFill>
                          <a:schemeClr val="bg1">
                            <a:lumMod val="75000"/>
                          </a:schemeClr>
                        </a:solidFill>
                        <a:latin typeface="Cambria Math" panose="02040503050406030204" pitchFamily="18" charset="0"/>
                      </a:rPr>
                      <m:t>𝑟𝑒𝑠</m:t>
                    </m:r>
                    <m:r>
                      <a:rPr lang="en-US" b="0" i="1" dirty="0" smtClean="0">
                        <a:solidFill>
                          <a:schemeClr val="bg1">
                            <a:lumMod val="75000"/>
                          </a:schemeClr>
                        </a:solidFill>
                        <a:latin typeface="Cambria Math" panose="02040503050406030204" pitchFamily="18" charset="0"/>
                      </a:rPr>
                      <m:t>h</m:t>
                    </m:r>
                    <m:r>
                      <a:rPr lang="en-US" b="0" i="1" dirty="0" smtClean="0">
                        <a:solidFill>
                          <a:schemeClr val="bg1">
                            <a:lumMod val="75000"/>
                          </a:schemeClr>
                        </a:solidFill>
                        <a:latin typeface="Cambria Math" panose="02040503050406030204" pitchFamily="18" charset="0"/>
                      </a:rPr>
                      <m:t>𝑜𝑙𝑑</m:t>
                    </m:r>
                    <m:r>
                      <a:rPr lang="en-US" b="0" i="1" dirty="0" smtClean="0">
                        <a:solidFill>
                          <a:schemeClr val="bg1">
                            <a:lumMod val="75000"/>
                          </a:schemeClr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b="0" dirty="0">
                    <a:solidFill>
                      <a:srgbClr val="B4B9C8"/>
                    </a:solidFill>
                    <a:latin typeface="Segoe UI"/>
                  </a:rPr>
                  <a:t> </a:t>
                </a:r>
                <a:r>
                  <a:rPr lang="ar-AE" dirty="0">
                    <a:solidFill>
                      <a:srgbClr val="B4B9C8"/>
                    </a:solidFill>
                    <a:latin typeface="Segoe UI"/>
                  </a:rPr>
                  <a:t>→ </a:t>
                </a:r>
                <a:r>
                  <a:rPr lang="it-IT" dirty="0">
                    <a:solidFill>
                      <a:srgbClr val="B4B9C8"/>
                    </a:solidFill>
                    <a:latin typeface="Segoe UI"/>
                  </a:rPr>
                  <a:t>skip</a:t>
                </a:r>
              </a:p>
              <a:p>
                <a:pPr>
                  <a:spcBef>
                    <a:spcPts val="200"/>
                  </a:spcBef>
                  <a:spcAft>
                    <a:spcPts val="200"/>
                  </a:spcAft>
                </a:pPr>
                <a:endParaRPr lang="en-US" sz="1600" b="0" i="0" dirty="0">
                  <a:solidFill>
                    <a:srgbClr val="B4B9C8"/>
                  </a:solidFill>
                  <a:latin typeface="Segoe UI"/>
                </a:endParaRPr>
              </a:p>
              <a:p>
                <a:pPr>
                  <a:spcBef>
                    <a:spcPts val="1000"/>
                  </a:spcBef>
                  <a:spcAft>
                    <a:spcPts val="400"/>
                  </a:spcAft>
                </a:pPr>
                <a:r>
                  <a:rPr lang="it-IT" b="0" i="0" dirty="0">
                    <a:solidFill>
                      <a:srgbClr val="4F8CFF"/>
                    </a:solidFill>
                    <a:latin typeface="Segoe UI"/>
                  </a:rPr>
                  <a:t>▸  </a:t>
                </a:r>
                <a:r>
                  <a:rPr lang="it-IT" sz="2000" b="1" dirty="0">
                    <a:solidFill>
                      <a:srgbClr val="F0F0F5"/>
                    </a:solidFill>
                    <a:latin typeface="Segoe UI"/>
                  </a:rPr>
                  <a:t>Gold answer generation</a:t>
                </a:r>
                <a:r>
                  <a:rPr lang="it-IT" sz="2000" dirty="0">
                    <a:solidFill>
                      <a:srgbClr val="F0F0F5"/>
                    </a:solidFill>
                    <a:latin typeface="Segoe UI"/>
                  </a:rPr>
                  <a:t>: LLM cites source chunks, each tagged with facet label</a:t>
                </a:r>
                <a:endParaRPr lang="it-IT" sz="2000" b="0" i="0" dirty="0">
                  <a:solidFill>
                    <a:srgbClr val="F0F0F5"/>
                  </a:solidFill>
                  <a:latin typeface="Segoe UI"/>
                </a:endParaRPr>
              </a:p>
              <a:p>
                <a:pPr>
                  <a:spcBef>
                    <a:spcPts val="1000"/>
                  </a:spcBef>
                  <a:spcAft>
                    <a:spcPts val="400"/>
                  </a:spcAft>
                </a:pPr>
                <a:endParaRPr sz="2000" b="0" i="0" dirty="0">
                  <a:solidFill>
                    <a:srgbClr val="F0F0F5"/>
                  </a:solidFill>
                  <a:latin typeface="Segoe UI"/>
                </a:endParaRPr>
              </a:p>
            </p:txBody>
          </p:sp>
        </mc:Choice>
        <mc:Fallback xmlns="">
          <p:sp>
            <p:nvSpPr>
              <p:cNvPr id="7" name="TextBox 6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22960" y="1504249"/>
                <a:ext cx="10515600" cy="5199565"/>
              </a:xfrm>
              <a:prstGeom prst="rect">
                <a:avLst/>
              </a:prstGeom>
              <a:blipFill>
                <a:blip r:embed="rId2"/>
                <a:stretch>
                  <a:fillRect l="-464" t="-586"/>
                </a:stretch>
              </a:blipFill>
            </p:spPr>
            <p:txBody>
              <a:bodyPr/>
              <a:lstStyle/>
              <a:p>
                <a:r>
                  <a:rPr lang="LID4096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FD0D9183-5DC2-D50C-A7E3-5E2818DF34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81C2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4F8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822960" y="41148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 i="0" dirty="0">
                <a:solidFill>
                  <a:srgbClr val="F0F0F5"/>
                </a:solidFill>
                <a:latin typeface="Segoe UI"/>
              </a:rPr>
              <a:t>Phase 4: Evaluation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234440"/>
            <a:ext cx="2286000" cy="31750"/>
          </a:xfrm>
          <a:prstGeom prst="rect">
            <a:avLst/>
          </a:prstGeom>
          <a:solidFill>
            <a:srgbClr val="4F8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6" name="Table 5"/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692014704"/>
                  </p:ext>
                </p:extLst>
              </p:nvPr>
            </p:nvGraphicFramePr>
            <p:xfrm>
              <a:off x="1046480" y="1645919"/>
              <a:ext cx="10099040" cy="3777585"/>
            </p:xfrm>
            <a:graphic>
              <a:graphicData uri="http://schemas.openxmlformats.org/drawingml/2006/table">
                <a:tbl>
                  <a:tblPr>
                    <a:tableStyleId>{00000000-0000-0000-0000-000000000000}</a:tableStyleId>
                  </a:tblPr>
                  <a:tblGrid>
                    <a:gridCol w="1828800">
                      <a:extLst>
                        <a:ext uri="{9D8B030D-6E8A-4147-A177-3AD203B41FA5}">
                          <a16:colId xmlns:a16="http://schemas.microsoft.com/office/drawing/2014/main" val="20000"/>
                        </a:ext>
                      </a:extLst>
                    </a:gridCol>
                    <a:gridCol w="4421393">
                      <a:extLst>
                        <a:ext uri="{9D8B030D-6E8A-4147-A177-3AD203B41FA5}">
                          <a16:colId xmlns:a16="http://schemas.microsoft.com/office/drawing/2014/main" val="20001"/>
                        </a:ext>
                      </a:extLst>
                    </a:gridCol>
                    <a:gridCol w="3848847">
                      <a:extLst>
                        <a:ext uri="{9D8B030D-6E8A-4147-A177-3AD203B41FA5}">
                          <a16:colId xmlns:a16="http://schemas.microsoft.com/office/drawing/2014/main" val="20002"/>
                        </a:ext>
                      </a:extLst>
                    </a:gridCol>
                  </a:tblGrid>
                  <a:tr h="483715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sz="1500" b="1" i="0" dirty="0">
                              <a:solidFill>
                                <a:schemeClr val="bg1"/>
                              </a:solidFill>
                              <a:latin typeface="Segoe UI"/>
                            </a:rPr>
                            <a:t>Metric</a:t>
                          </a:r>
                        </a:p>
                      </a:txBody>
                      <a:tcPr anchor="ctr">
                        <a:solidFill>
                          <a:schemeClr val="tx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sz="1500" b="1" i="0" dirty="0">
                              <a:solidFill>
                                <a:schemeClr val="bg1"/>
                              </a:solidFill>
                              <a:latin typeface="Segoe UI"/>
                            </a:rPr>
                            <a:t>Definition</a:t>
                          </a:r>
                        </a:p>
                      </a:txBody>
                      <a:tcPr anchor="ctr">
                        <a:solidFill>
                          <a:schemeClr val="tx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sz="1500" b="1" i="0" dirty="0">
                              <a:solidFill>
                                <a:schemeClr val="bg1"/>
                              </a:solidFill>
                              <a:latin typeface="Segoe UI"/>
                            </a:rPr>
                            <a:t>Measures</a:t>
                          </a:r>
                        </a:p>
                      </a:txBody>
                      <a:tcPr anchor="ctr">
                        <a:solidFill>
                          <a:schemeClr val="tx2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000"/>
                      </a:ext>
                    </a:extLst>
                  </a:tr>
                  <a:tr h="875294">
                    <a:tc>
                      <a:txBody>
                        <a:bodyPr/>
                        <a:lstStyle/>
                        <a:p>
                          <a:pPr algn="l"/>
                          <a:r>
                            <a:rPr sz="1400" b="1" i="0">
                              <a:solidFill>
                                <a:srgbClr val="4F8CFF"/>
                              </a:solidFill>
                              <a:latin typeface="Segoe UI"/>
                            </a:rPr>
                            <a:t>Aspect Recall</a:t>
                          </a:r>
                        </a:p>
                      </a:txBody>
                      <a:tcPr anchor="ctr">
                        <a:solidFill>
                          <a:srgbClr val="1C212F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l"/>
                          <a14:m>
                            <m:oMathPara xmlns:m="http://schemas.openxmlformats.org/officeDocument/2006/math">
                              <m:oMathParaPr>
                                <m:jc m:val="left"/>
                              </m:oMathParaPr>
                              <m:oMath xmlns:m="http://schemas.openxmlformats.org/officeDocument/2006/math">
                                <m:r>
                                  <a:rPr lang="en-001" sz="1600" b="0" i="1" dirty="0" smtClean="0">
                                    <a:solidFill>
                                      <a:srgbClr val="F0F0F5"/>
                                    </a:solidFill>
                                    <a:latin typeface="Cambria Math" panose="02040503050406030204" pitchFamily="18" charset="0"/>
                                  </a:rPr>
                                  <m:t>𝐴𝑅</m:t>
                                </m:r>
                                <m:r>
                                  <a:rPr lang="en-001" sz="1600" b="0" i="1" dirty="0" smtClean="0">
                                    <a:solidFill>
                                      <a:srgbClr val="F0F0F5"/>
                                    </a:solidFill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r>
                                  <a:rPr lang="en-001" sz="1600" b="0" i="1" dirty="0" smtClean="0">
                                    <a:solidFill>
                                      <a:srgbClr val="F0F0F5"/>
                                    </a:solidFill>
                                    <a:latin typeface="Cambria Math" panose="02040503050406030204" pitchFamily="18" charset="0"/>
                                  </a:rPr>
                                  <m:t>𝑆</m:t>
                                </m:r>
                                <m:r>
                                  <a:rPr lang="en-001" sz="1600" b="0" i="1" dirty="0" smtClean="0">
                                    <a:solidFill>
                                      <a:srgbClr val="F0F0F5"/>
                                    </a:solidFill>
                                    <a:latin typeface="Cambria Math" panose="02040503050406030204" pitchFamily="18" charset="0"/>
                                  </a:rPr>
                                  <m:t>) = </m:t>
                                </m:r>
                                <m:f>
                                  <m:fPr>
                                    <m:ctrlPr>
                                      <a:rPr lang="en-001" sz="1600" b="0" i="1" dirty="0" smtClean="0">
                                        <a:solidFill>
                                          <a:srgbClr val="F0F0F5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en-001" sz="1600" b="0" i="1" dirty="0" smtClean="0">
                                        <a:solidFill>
                                          <a:srgbClr val="F0F0F5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|{</m:t>
                                    </m:r>
                                    <m:r>
                                      <a:rPr lang="en-001" sz="1600" b="0" i="1" dirty="0" smtClean="0">
                                        <a:solidFill>
                                          <a:srgbClr val="F0F0F5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𝑓</m:t>
                                    </m:r>
                                    <m:r>
                                      <a:rPr lang="en-001" sz="1600" b="0" i="1" dirty="0" smtClean="0">
                                        <a:solidFill>
                                          <a:srgbClr val="F0F0F5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∈</m:t>
                                    </m:r>
                                    <m:r>
                                      <a:rPr lang="en-001" sz="1600" b="0" i="1" dirty="0" smtClean="0">
                                        <a:solidFill>
                                          <a:srgbClr val="F0F0F5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𝐹</m:t>
                                    </m:r>
                                    <m:r>
                                      <a:rPr lang="en-001" sz="1600" b="0" i="1" dirty="0" smtClean="0">
                                        <a:solidFill>
                                          <a:srgbClr val="F0F0F5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 : ∃ </m:t>
                                    </m:r>
                                    <m:r>
                                      <a:rPr lang="en-US" sz="1600" b="0" i="1" dirty="0" smtClean="0">
                                        <a:solidFill>
                                          <a:srgbClr val="F0F0F5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𝑑𝑜𝑐</m:t>
                                    </m:r>
                                    <m:r>
                                      <a:rPr lang="en-001" sz="1600" b="0" i="1" dirty="0" smtClean="0">
                                        <a:solidFill>
                                          <a:srgbClr val="F0F0F5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∈</m:t>
                                    </m:r>
                                    <m:r>
                                      <a:rPr lang="en-001" sz="1600" b="0" i="1" dirty="0" smtClean="0">
                                        <a:solidFill>
                                          <a:srgbClr val="F0F0F5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𝑆</m:t>
                                    </m:r>
                                    <m:r>
                                      <a:rPr lang="en-001" sz="1600" b="0" i="1" dirty="0" smtClean="0">
                                        <a:solidFill>
                                          <a:srgbClr val="F0F0F5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 </m:t>
                                    </m:r>
                                    <m:r>
                                      <a:rPr lang="en-001" sz="1600" b="0" i="1" dirty="0" smtClean="0">
                                        <a:solidFill>
                                          <a:srgbClr val="F0F0F5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𝑤𝑖𝑡h</m:t>
                                    </m:r>
                                    <m:r>
                                      <a:rPr lang="en-001" sz="1600" b="0" i="1" dirty="0" smtClean="0">
                                        <a:solidFill>
                                          <a:srgbClr val="F0F0F5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 </m:t>
                                    </m:r>
                                    <m:r>
                                      <a:rPr lang="en-001" sz="1600" b="0" i="1" dirty="0" smtClean="0">
                                        <a:solidFill>
                                          <a:srgbClr val="F0F0F5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𝑓𝑎𝑐𝑒𝑡</m:t>
                                    </m:r>
                                    <m:r>
                                      <a:rPr lang="en-001" sz="1600" b="0" i="1" dirty="0" smtClean="0">
                                        <a:solidFill>
                                          <a:srgbClr val="F0F0F5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 </m:t>
                                    </m:r>
                                    <m:r>
                                      <a:rPr lang="en-001" sz="1600" b="0" i="1" dirty="0" smtClean="0">
                                        <a:solidFill>
                                          <a:srgbClr val="F0F0F5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𝑓</m:t>
                                    </m:r>
                                    <m:r>
                                      <a:rPr lang="en-001" sz="1600" b="0" i="1" dirty="0" smtClean="0">
                                        <a:solidFill>
                                          <a:srgbClr val="F0F0F5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}|</m:t>
                                    </m:r>
                                  </m:num>
                                  <m:den>
                                    <m:r>
                                      <a:rPr lang="en-001" sz="1600" b="0" i="1" dirty="0" smtClean="0">
                                        <a:solidFill>
                                          <a:srgbClr val="F0F0F5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|</m:t>
                                    </m:r>
                                    <m:r>
                                      <a:rPr lang="en-001" sz="1600" b="0" i="1" dirty="0" smtClean="0">
                                        <a:solidFill>
                                          <a:srgbClr val="F0F0F5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𝐹</m:t>
                                    </m:r>
                                    <m:r>
                                      <a:rPr lang="en-001" sz="1600" b="0" i="1" dirty="0" smtClean="0">
                                        <a:solidFill>
                                          <a:srgbClr val="F0F0F5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|</m:t>
                                    </m:r>
                                  </m:den>
                                </m:f>
                              </m:oMath>
                            </m:oMathPara>
                          </a14:m>
                          <a:endParaRPr dirty="0"/>
                        </a:p>
                      </a:txBody>
                      <a:tcPr anchor="ctr">
                        <a:solidFill>
                          <a:srgbClr val="1C212F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l"/>
                          <a:r>
                            <a:rPr sz="1600" b="0" i="0" dirty="0">
                              <a:solidFill>
                                <a:srgbClr val="F0F0F5"/>
                              </a:solidFill>
                              <a:latin typeface="Segoe UI"/>
                            </a:rPr>
                            <a:t>Fraction of annotated facets covered by selected k chunks</a:t>
                          </a:r>
                        </a:p>
                      </a:txBody>
                      <a:tcPr anchor="ctr">
                        <a:solidFill>
                          <a:srgbClr val="1C212F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001"/>
                      </a:ext>
                    </a:extLst>
                  </a:tr>
                  <a:tr h="829226">
                    <a:tc>
                      <a:txBody>
                        <a:bodyPr/>
                        <a:lstStyle/>
                        <a:p>
                          <a:pPr algn="l"/>
                          <a:r>
                            <a:rPr sz="1400" b="1" i="0" dirty="0">
                              <a:solidFill>
                                <a:srgbClr val="4F8CFF"/>
                              </a:solidFill>
                              <a:latin typeface="Segoe UI"/>
                            </a:rPr>
                            <a:t>Fac</a:t>
                          </a:r>
                          <a:r>
                            <a:rPr lang="en-US" sz="1400" b="1" i="0" dirty="0">
                              <a:solidFill>
                                <a:srgbClr val="4F8CFF"/>
                              </a:solidFill>
                              <a:latin typeface="Segoe UI"/>
                            </a:rPr>
                            <a:t>-Loc</a:t>
                          </a:r>
                          <a:r>
                            <a:rPr sz="1400" b="1" i="0" dirty="0">
                              <a:solidFill>
                                <a:srgbClr val="4F8CFF"/>
                              </a:solidFill>
                              <a:latin typeface="Segoe UI"/>
                            </a:rPr>
                            <a:t> Score</a:t>
                          </a:r>
                        </a:p>
                      </a:txBody>
                      <a:tcPr anchor="ctr">
                        <a:solidFill>
                          <a:srgbClr val="212636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l"/>
                          <a14:m>
                            <m:oMathPara xmlns:m="http://schemas.openxmlformats.org/officeDocument/2006/math">
                              <m:oMathParaPr>
                                <m:jc m:val="left"/>
                              </m:oMathParaPr>
                              <m:oMath xmlns:m="http://schemas.openxmlformats.org/officeDocument/2006/math">
                                <m:r>
                                  <a:rPr lang="el-GR" sz="1600" b="0" i="1" dirty="0" smtClean="0">
                                    <a:solidFill>
                                      <a:srgbClr val="F0F0F5"/>
                                    </a:solidFill>
                                    <a:latin typeface="Cambria Math" panose="02040503050406030204" pitchFamily="18" charset="0"/>
                                  </a:rPr>
                                  <m:t>𝑔</m:t>
                                </m:r>
                                <m:r>
                                  <a:rPr lang="el-GR" sz="1600" b="0" i="1" dirty="0" smtClean="0">
                                    <a:solidFill>
                                      <a:srgbClr val="F0F0F5"/>
                                    </a:solidFill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r>
                                  <a:rPr lang="el-GR" sz="1600" b="0" i="1" dirty="0" smtClean="0">
                                    <a:solidFill>
                                      <a:srgbClr val="F0F0F5"/>
                                    </a:solidFill>
                                    <a:latin typeface="Cambria Math" panose="02040503050406030204" pitchFamily="18" charset="0"/>
                                  </a:rPr>
                                  <m:t>𝑆</m:t>
                                </m:r>
                                <m:r>
                                  <a:rPr lang="el-GR" sz="1600" b="0" i="1" dirty="0" smtClean="0">
                                    <a:solidFill>
                                      <a:srgbClr val="F0F0F5"/>
                                    </a:solidFill>
                                    <a:latin typeface="Cambria Math" panose="02040503050406030204" pitchFamily="18" charset="0"/>
                                  </a:rPr>
                                  <m:t>) = </m:t>
                                </m:r>
                                <m:nary>
                                  <m:naryPr>
                                    <m:chr m:val="∑"/>
                                    <m:supHide m:val="on"/>
                                    <m:ctrlPr>
                                      <a:rPr lang="el-GR" sz="1600" b="0" i="1" dirty="0" smtClean="0">
                                        <a:solidFill>
                                          <a:srgbClr val="F0F0F5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naryPr>
                                  <m:sub>
                                    <m:r>
                                      <m:rPr>
                                        <m:brk m:alnAt="7"/>
                                      </m:rPr>
                                      <a:rPr lang="en-US" sz="1600" b="0" i="1" dirty="0" smtClean="0">
                                        <a:solidFill>
                                          <a:srgbClr val="F0F0F5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  <m:r>
                                      <a:rPr lang="en-US" sz="1600" b="0" i="1" dirty="0" smtClean="0">
                                        <a:solidFill>
                                          <a:srgbClr val="F0F0F5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 ∈ </m:t>
                                    </m:r>
                                    <m:r>
                                      <a:rPr lang="en-US" sz="1600" b="0" i="1" dirty="0" smtClean="0">
                                        <a:solidFill>
                                          <a:srgbClr val="F0F0F5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𝐷</m:t>
                                    </m:r>
                                  </m:sub>
                                  <m:sup/>
                                  <m:e>
                                    <m:func>
                                      <m:funcPr>
                                        <m:ctrlPr>
                                          <a:rPr lang="it-IT" sz="1600" b="0" i="1" dirty="0" smtClean="0">
                                            <a:solidFill>
                                              <a:srgbClr val="F0F0F5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funcPr>
                                      <m:fName>
                                        <m:limLow>
                                          <m:limLowPr>
                                            <m:ctrlPr>
                                              <a:rPr lang="it-IT" sz="1600" b="0" i="1" dirty="0" smtClean="0">
                                                <a:solidFill>
                                                  <a:srgbClr val="F0F0F5"/>
                                                </a:solidFill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limLowPr>
                                          <m:e>
                                            <m:r>
                                              <m:rPr>
                                                <m:sty m:val="p"/>
                                              </m:rPr>
                                              <a:rPr lang="it-IT" sz="1600" b="0" i="0" dirty="0" smtClean="0">
                                                <a:solidFill>
                                                  <a:srgbClr val="F0F0F5"/>
                                                </a:solidFill>
                                                <a:latin typeface="Cambria Math" panose="02040503050406030204" pitchFamily="18" charset="0"/>
                                              </a:rPr>
                                              <m:t>max</m:t>
                                            </m:r>
                                          </m:e>
                                          <m:lim>
                                            <m:r>
                                              <a:rPr lang="en-US" sz="1600" b="0" i="1" dirty="0" smtClean="0">
                                                <a:solidFill>
                                                  <a:srgbClr val="F0F0F5"/>
                                                </a:solidFill>
                                                <a:latin typeface="Cambria Math" panose="02040503050406030204" pitchFamily="18" charset="0"/>
                                              </a:rPr>
                                              <m:t>𝑗</m:t>
                                            </m:r>
                                            <m:r>
                                              <a:rPr lang="en-US" sz="1600" b="0" i="1" dirty="0" smtClean="0">
                                                <a:solidFill>
                                                  <a:srgbClr val="F0F0F5"/>
                                                </a:solidFill>
                                                <a:latin typeface="Cambria Math" panose="02040503050406030204" pitchFamily="18" charset="0"/>
                                              </a:rPr>
                                              <m:t> ∈ </m:t>
                                            </m:r>
                                            <m:r>
                                              <a:rPr lang="en-US" sz="1600" b="0" i="1" dirty="0" smtClean="0">
                                                <a:solidFill>
                                                  <a:srgbClr val="F0F0F5"/>
                                                </a:solidFill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  <m:t>𝑆</m:t>
                                            </m:r>
                                          </m:lim>
                                        </m:limLow>
                                      </m:fName>
                                      <m:e>
                                        <m:r>
                                          <a:rPr lang="en-US" sz="1600" b="0" i="1" dirty="0" smtClean="0">
                                            <a:solidFill>
                                              <a:srgbClr val="F0F0F5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𝑠𝑖𝑚</m:t>
                                        </m:r>
                                        <m:r>
                                          <a:rPr lang="en-US" sz="1600" b="0" i="1" dirty="0" smtClean="0">
                                            <a:solidFill>
                                              <a:srgbClr val="F0F0F5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(</m:t>
                                        </m:r>
                                        <m:r>
                                          <a:rPr lang="en-US" sz="1600" b="0" i="1" dirty="0" smtClean="0">
                                            <a:solidFill>
                                              <a:srgbClr val="F0F0F5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𝑖</m:t>
                                        </m:r>
                                        <m:r>
                                          <a:rPr lang="en-US" sz="1600" b="0" i="1" dirty="0" smtClean="0">
                                            <a:solidFill>
                                              <a:srgbClr val="F0F0F5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, </m:t>
                                        </m:r>
                                        <m:r>
                                          <a:rPr lang="en-US" sz="1600" b="0" i="1" dirty="0" smtClean="0">
                                            <a:solidFill>
                                              <a:srgbClr val="F0F0F5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𝑗</m:t>
                                        </m:r>
                                        <m:r>
                                          <a:rPr lang="en-US" sz="1600" b="0" i="1" dirty="0" smtClean="0">
                                            <a:solidFill>
                                              <a:srgbClr val="F0F0F5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)</m:t>
                                        </m:r>
                                      </m:e>
                                    </m:func>
                                  </m:e>
                                </m:nary>
                              </m:oMath>
                            </m:oMathPara>
                          </a14:m>
                          <a:endParaRPr sz="2000" dirty="0"/>
                        </a:p>
                      </a:txBody>
                      <a:tcPr anchor="ctr">
                        <a:solidFill>
                          <a:srgbClr val="212636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l"/>
                          <a:r>
                            <a:rPr sz="1600" b="0" i="0">
                              <a:solidFill>
                                <a:srgbClr val="F0F0F5"/>
                              </a:solidFill>
                              <a:latin typeface="Segoe UI"/>
                            </a:rPr>
                            <a:t>Representativeness of S over candidate pool D</a:t>
                          </a:r>
                        </a:p>
                      </a:txBody>
                      <a:tcPr anchor="ctr">
                        <a:solidFill>
                          <a:srgbClr val="212636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002"/>
                      </a:ext>
                    </a:extLst>
                  </a:tr>
                  <a:tr h="863777">
                    <a:tc>
                      <a:txBody>
                        <a:bodyPr/>
                        <a:lstStyle/>
                        <a:p>
                          <a:pPr algn="l"/>
                          <a:r>
                            <a:rPr sz="1400" b="1" i="0">
                              <a:solidFill>
                                <a:srgbClr val="4F8CFF"/>
                              </a:solidFill>
                              <a:latin typeface="Segoe UI"/>
                            </a:rPr>
                            <a:t>Jaccard</a:t>
                          </a:r>
                        </a:p>
                      </a:txBody>
                      <a:tcPr anchor="ctr">
                        <a:solidFill>
                          <a:srgbClr val="1C212F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l"/>
                          <a14:m>
                            <m:oMathPara xmlns:m="http://schemas.openxmlformats.org/officeDocument/2006/math">
                              <m:oMathParaPr>
                                <m:jc m:val="left"/>
                              </m:oMathParaPr>
                              <m:oMath xmlns:m="http://schemas.openxmlformats.org/officeDocument/2006/math">
                                <m:r>
                                  <a:rPr lang="en-001" sz="1800" b="0" i="1" dirty="0" smtClean="0">
                                    <a:solidFill>
                                      <a:srgbClr val="F0F0F5"/>
                                    </a:solidFill>
                                    <a:latin typeface="Cambria Math" panose="02040503050406030204" pitchFamily="18" charset="0"/>
                                  </a:rPr>
                                  <m:t>𝐽</m:t>
                                </m:r>
                                <m:r>
                                  <a:rPr lang="en-001" sz="1800" b="0" i="1" dirty="0" smtClean="0">
                                    <a:solidFill>
                                      <a:srgbClr val="F0F0F5"/>
                                    </a:solidFill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sSub>
                                  <m:sSubPr>
                                    <m:ctrlPr>
                                      <a:rPr lang="en-001" sz="1800" b="0" i="1" dirty="0" smtClean="0">
                                        <a:solidFill>
                                          <a:srgbClr val="F0F0F5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1800" b="0" i="1" dirty="0" smtClean="0">
                                        <a:solidFill>
                                          <a:srgbClr val="F0F0F5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𝑆</m:t>
                                    </m:r>
                                  </m:e>
                                  <m:sub>
                                    <m:r>
                                      <a:rPr lang="en-US" sz="1800" b="0" i="1" dirty="0" smtClean="0">
                                        <a:solidFill>
                                          <a:srgbClr val="F0F0F5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𝑐𝑜𝑣</m:t>
                                    </m:r>
                                  </m:sub>
                                </m:sSub>
                                <m:r>
                                  <a:rPr lang="en-US" sz="1800" b="0" i="1" dirty="0" smtClean="0">
                                    <a:solidFill>
                                      <a:srgbClr val="F0F0F5"/>
                                    </a:solidFill>
                                    <a:latin typeface="Cambria Math" panose="02040503050406030204" pitchFamily="18" charset="0"/>
                                  </a:rPr>
                                  <m:t> </m:t>
                                </m:r>
                                <m:r>
                                  <a:rPr lang="en-001" sz="1800" b="0" i="1" dirty="0" smtClean="0">
                                    <a:solidFill>
                                      <a:srgbClr val="F0F0F5"/>
                                    </a:solidFill>
                                    <a:latin typeface="Cambria Math" panose="02040503050406030204" pitchFamily="18" charset="0"/>
                                  </a:rPr>
                                  <m:t>,</m:t>
                                </m:r>
                                <m:sSub>
                                  <m:sSubPr>
                                    <m:ctrlPr>
                                      <a:rPr lang="en-001" sz="1800" b="0" i="1" dirty="0" smtClean="0">
                                        <a:solidFill>
                                          <a:srgbClr val="F0F0F5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1800" b="0" i="1" dirty="0" smtClean="0">
                                        <a:solidFill>
                                          <a:srgbClr val="F0F0F5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 </m:t>
                                    </m:r>
                                    <m:r>
                                      <a:rPr lang="en-US" sz="1800" b="0" i="1" dirty="0" smtClean="0">
                                        <a:solidFill>
                                          <a:srgbClr val="F0F0F5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𝑆</m:t>
                                    </m:r>
                                  </m:e>
                                  <m:sub>
                                    <m:r>
                                      <a:rPr lang="en-US" sz="1800" b="0" i="1" dirty="0" smtClean="0">
                                        <a:solidFill>
                                          <a:srgbClr val="F0F0F5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𝑡𝑜𝑝</m:t>
                                    </m:r>
                                    <m:r>
                                      <a:rPr lang="en-US" sz="1800" b="0" i="1" dirty="0" smtClean="0">
                                        <a:solidFill>
                                          <a:srgbClr val="F0F0F5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−</m:t>
                                    </m:r>
                                    <m:r>
                                      <a:rPr lang="en-US" sz="1800" b="0" i="1" dirty="0" smtClean="0">
                                        <a:solidFill>
                                          <a:srgbClr val="F0F0F5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𝑘</m:t>
                                    </m:r>
                                  </m:sub>
                                </m:sSub>
                                <m:r>
                                  <a:rPr lang="en-001" sz="1800" b="0" i="1" dirty="0" smtClean="0">
                                    <a:solidFill>
                                      <a:srgbClr val="F0F0F5"/>
                                    </a:solidFill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oMath>
                            </m:oMathPara>
                          </a14:m>
                          <a:endParaRPr sz="2400" dirty="0"/>
                        </a:p>
                      </a:txBody>
                      <a:tcPr anchor="ctr">
                        <a:solidFill>
                          <a:srgbClr val="1C212F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l"/>
                          <a:r>
                            <a:rPr sz="1600" b="0" i="0" dirty="0">
                              <a:solidFill>
                                <a:srgbClr val="F0F0F5"/>
                              </a:solidFill>
                              <a:latin typeface="Segoe UI"/>
                            </a:rPr>
                            <a:t>Overlap with baseline</a:t>
                          </a:r>
                          <a:r>
                            <a:rPr lang="en-US" sz="1600" b="0" i="0" dirty="0">
                              <a:solidFill>
                                <a:srgbClr val="F0F0F5"/>
                              </a:solidFill>
                              <a:latin typeface="Segoe UI"/>
                            </a:rPr>
                            <a:t>. </a:t>
                          </a:r>
                          <a:r>
                            <a:rPr sz="1600" b="0" i="0" dirty="0">
                              <a:solidFill>
                                <a:srgbClr val="F0F0F5"/>
                              </a:solidFill>
                              <a:latin typeface="Segoe UI"/>
                            </a:rPr>
                            <a:t>J≈1: no change</a:t>
                          </a:r>
                        </a:p>
                      </a:txBody>
                      <a:tcPr anchor="ctr">
                        <a:solidFill>
                          <a:srgbClr val="1C212F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003"/>
                      </a:ext>
                    </a:extLst>
                  </a:tr>
                  <a:tr h="725573">
                    <a:tc>
                      <a:txBody>
                        <a:bodyPr/>
                        <a:lstStyle/>
                        <a:p>
                          <a:pPr algn="l"/>
                          <a:r>
                            <a:rPr sz="1400" b="1" i="0">
                              <a:solidFill>
                                <a:srgbClr val="4F8CFF"/>
                              </a:solidFill>
                              <a:latin typeface="Segoe UI"/>
                            </a:rPr>
                            <a:t>DocRec / FactRec</a:t>
                          </a:r>
                        </a:p>
                      </a:txBody>
                      <a:tcPr anchor="ctr">
                        <a:solidFill>
                          <a:srgbClr val="212636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l"/>
                          <a:r>
                            <a:rPr sz="1600" b="0" i="0" dirty="0">
                              <a:solidFill>
                                <a:srgbClr val="F0F0F5"/>
                              </a:solidFill>
                              <a:latin typeface="Segoe UI"/>
                            </a:rPr>
                            <a:t>Gold doc/fact fraction recovered</a:t>
                          </a:r>
                        </a:p>
                      </a:txBody>
                      <a:tcPr anchor="ctr">
                        <a:solidFill>
                          <a:srgbClr val="212636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l"/>
                          <a:r>
                            <a:rPr sz="1600" b="0" i="0" dirty="0">
                              <a:solidFill>
                                <a:srgbClr val="F0F0F5"/>
                              </a:solidFill>
                              <a:latin typeface="Segoe UI"/>
                            </a:rPr>
                            <a:t>How many gold documents/facts are in the selection</a:t>
                          </a:r>
                        </a:p>
                      </a:txBody>
                      <a:tcPr anchor="ctr">
                        <a:solidFill>
                          <a:srgbClr val="212636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004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6" name="Table 5"/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692014704"/>
                  </p:ext>
                </p:extLst>
              </p:nvPr>
            </p:nvGraphicFramePr>
            <p:xfrm>
              <a:off x="1046480" y="1645919"/>
              <a:ext cx="10099040" cy="3777585"/>
            </p:xfrm>
            <a:graphic>
              <a:graphicData uri="http://schemas.openxmlformats.org/drawingml/2006/table">
                <a:tbl>
                  <a:tblPr>
                    <a:tableStyleId>{00000000-0000-0000-0000-000000000000}</a:tableStyleId>
                  </a:tblPr>
                  <a:tblGrid>
                    <a:gridCol w="1828800">
                      <a:extLst>
                        <a:ext uri="{9D8B030D-6E8A-4147-A177-3AD203B41FA5}">
                          <a16:colId xmlns:a16="http://schemas.microsoft.com/office/drawing/2014/main" val="20000"/>
                        </a:ext>
                      </a:extLst>
                    </a:gridCol>
                    <a:gridCol w="4421393">
                      <a:extLst>
                        <a:ext uri="{9D8B030D-6E8A-4147-A177-3AD203B41FA5}">
                          <a16:colId xmlns:a16="http://schemas.microsoft.com/office/drawing/2014/main" val="20001"/>
                        </a:ext>
                      </a:extLst>
                    </a:gridCol>
                    <a:gridCol w="3848847">
                      <a:extLst>
                        <a:ext uri="{9D8B030D-6E8A-4147-A177-3AD203B41FA5}">
                          <a16:colId xmlns:a16="http://schemas.microsoft.com/office/drawing/2014/main" val="20002"/>
                        </a:ext>
                      </a:extLst>
                    </a:gridCol>
                  </a:tblGrid>
                  <a:tr h="483715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sz="1500" b="1" i="0" dirty="0">
                              <a:solidFill>
                                <a:schemeClr val="bg1"/>
                              </a:solidFill>
                              <a:latin typeface="Segoe UI"/>
                            </a:rPr>
                            <a:t>Metric</a:t>
                          </a:r>
                        </a:p>
                      </a:txBody>
                      <a:tcPr anchor="ctr">
                        <a:solidFill>
                          <a:schemeClr val="tx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sz="1500" b="1" i="0" dirty="0">
                              <a:solidFill>
                                <a:schemeClr val="bg1"/>
                              </a:solidFill>
                              <a:latin typeface="Segoe UI"/>
                            </a:rPr>
                            <a:t>Definition</a:t>
                          </a:r>
                        </a:p>
                      </a:txBody>
                      <a:tcPr anchor="ctr">
                        <a:solidFill>
                          <a:schemeClr val="tx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sz="1500" b="1" i="0" dirty="0">
                              <a:solidFill>
                                <a:schemeClr val="bg1"/>
                              </a:solidFill>
                              <a:latin typeface="Segoe UI"/>
                            </a:rPr>
                            <a:t>Measures</a:t>
                          </a:r>
                        </a:p>
                      </a:txBody>
                      <a:tcPr anchor="ctr">
                        <a:solidFill>
                          <a:schemeClr val="tx2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000"/>
                      </a:ext>
                    </a:extLst>
                  </a:tr>
                  <a:tr h="875294">
                    <a:tc>
                      <a:txBody>
                        <a:bodyPr/>
                        <a:lstStyle/>
                        <a:p>
                          <a:pPr algn="l"/>
                          <a:r>
                            <a:rPr sz="1400" b="1" i="0">
                              <a:solidFill>
                                <a:srgbClr val="4F8CFF"/>
                              </a:solidFill>
                              <a:latin typeface="Segoe UI"/>
                            </a:rPr>
                            <a:t>Aspect Recall</a:t>
                          </a:r>
                        </a:p>
                      </a:txBody>
                      <a:tcPr anchor="ctr">
                        <a:solidFill>
                          <a:srgbClr val="1C212F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LID4096"/>
                        </a:p>
                      </a:txBody>
                      <a:tcPr anchor="ctr">
                        <a:blipFill>
                          <a:blip r:embed="rId2"/>
                          <a:stretch>
                            <a:fillRect l="-41460" t="-56643" r="-87328" b="-27972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l"/>
                          <a:r>
                            <a:rPr sz="1600" b="0" i="0" dirty="0">
                              <a:solidFill>
                                <a:srgbClr val="F0F0F5"/>
                              </a:solidFill>
                              <a:latin typeface="Segoe UI"/>
                            </a:rPr>
                            <a:t>Fraction of annotated facets covered by selected k chunks</a:t>
                          </a:r>
                        </a:p>
                      </a:txBody>
                      <a:tcPr anchor="ctr">
                        <a:solidFill>
                          <a:srgbClr val="1C212F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001"/>
                      </a:ext>
                    </a:extLst>
                  </a:tr>
                  <a:tr h="829226">
                    <a:tc>
                      <a:txBody>
                        <a:bodyPr/>
                        <a:lstStyle/>
                        <a:p>
                          <a:pPr algn="l"/>
                          <a:r>
                            <a:rPr sz="1400" b="1" i="0" dirty="0">
                              <a:solidFill>
                                <a:srgbClr val="4F8CFF"/>
                              </a:solidFill>
                              <a:latin typeface="Segoe UI"/>
                            </a:rPr>
                            <a:t>Fac</a:t>
                          </a:r>
                          <a:r>
                            <a:rPr lang="en-US" sz="1400" b="1" i="0" dirty="0">
                              <a:solidFill>
                                <a:srgbClr val="4F8CFF"/>
                              </a:solidFill>
                              <a:latin typeface="Segoe UI"/>
                            </a:rPr>
                            <a:t>-Loc</a:t>
                          </a:r>
                          <a:r>
                            <a:rPr sz="1400" b="1" i="0" dirty="0">
                              <a:solidFill>
                                <a:srgbClr val="4F8CFF"/>
                              </a:solidFill>
                              <a:latin typeface="Segoe UI"/>
                            </a:rPr>
                            <a:t> Score</a:t>
                          </a:r>
                        </a:p>
                      </a:txBody>
                      <a:tcPr anchor="ctr">
                        <a:solidFill>
                          <a:srgbClr val="212636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LID4096"/>
                        </a:p>
                      </a:txBody>
                      <a:tcPr anchor="ctr">
                        <a:blipFill>
                          <a:blip r:embed="rId2"/>
                          <a:stretch>
                            <a:fillRect l="-41460" t="-163504" r="-87328" b="-19197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l"/>
                          <a:r>
                            <a:rPr sz="1600" b="0" i="0">
                              <a:solidFill>
                                <a:srgbClr val="F0F0F5"/>
                              </a:solidFill>
                              <a:latin typeface="Segoe UI"/>
                            </a:rPr>
                            <a:t>Representativeness of S over candidate pool D</a:t>
                          </a:r>
                        </a:p>
                      </a:txBody>
                      <a:tcPr anchor="ctr">
                        <a:solidFill>
                          <a:srgbClr val="212636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002"/>
                      </a:ext>
                    </a:extLst>
                  </a:tr>
                  <a:tr h="863777">
                    <a:tc>
                      <a:txBody>
                        <a:bodyPr/>
                        <a:lstStyle/>
                        <a:p>
                          <a:pPr algn="l"/>
                          <a:r>
                            <a:rPr sz="1400" b="1" i="0">
                              <a:solidFill>
                                <a:srgbClr val="4F8CFF"/>
                              </a:solidFill>
                              <a:latin typeface="Segoe UI"/>
                            </a:rPr>
                            <a:t>Jaccard</a:t>
                          </a:r>
                        </a:p>
                      </a:txBody>
                      <a:tcPr anchor="ctr">
                        <a:solidFill>
                          <a:srgbClr val="1C212F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LID4096"/>
                        </a:p>
                      </a:txBody>
                      <a:tcPr anchor="ctr">
                        <a:blipFill>
                          <a:blip r:embed="rId2"/>
                          <a:stretch>
                            <a:fillRect l="-41460" t="-254225" r="-87328" b="-8521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l"/>
                          <a:r>
                            <a:rPr sz="1600" b="0" i="0" dirty="0">
                              <a:solidFill>
                                <a:srgbClr val="F0F0F5"/>
                              </a:solidFill>
                              <a:latin typeface="Segoe UI"/>
                            </a:rPr>
                            <a:t>Overlap with baseline</a:t>
                          </a:r>
                          <a:r>
                            <a:rPr lang="en-US" sz="1600" b="0" i="0" dirty="0">
                              <a:solidFill>
                                <a:srgbClr val="F0F0F5"/>
                              </a:solidFill>
                              <a:latin typeface="Segoe UI"/>
                            </a:rPr>
                            <a:t>. </a:t>
                          </a:r>
                          <a:r>
                            <a:rPr sz="1600" b="0" i="0" dirty="0">
                              <a:solidFill>
                                <a:srgbClr val="F0F0F5"/>
                              </a:solidFill>
                              <a:latin typeface="Segoe UI"/>
                            </a:rPr>
                            <a:t>J≈1: no change</a:t>
                          </a:r>
                        </a:p>
                      </a:txBody>
                      <a:tcPr anchor="ctr">
                        <a:solidFill>
                          <a:srgbClr val="1C212F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003"/>
                      </a:ext>
                    </a:extLst>
                  </a:tr>
                  <a:tr h="725573">
                    <a:tc>
                      <a:txBody>
                        <a:bodyPr/>
                        <a:lstStyle/>
                        <a:p>
                          <a:pPr algn="l"/>
                          <a:r>
                            <a:rPr sz="1400" b="1" i="0">
                              <a:solidFill>
                                <a:srgbClr val="4F8CFF"/>
                              </a:solidFill>
                              <a:latin typeface="Segoe UI"/>
                            </a:rPr>
                            <a:t>DocRec / FactRec</a:t>
                          </a:r>
                        </a:p>
                      </a:txBody>
                      <a:tcPr anchor="ctr">
                        <a:solidFill>
                          <a:srgbClr val="212636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l"/>
                          <a:r>
                            <a:rPr sz="1600" b="0" i="0" dirty="0">
                              <a:solidFill>
                                <a:srgbClr val="F0F0F5"/>
                              </a:solidFill>
                              <a:latin typeface="Segoe UI"/>
                            </a:rPr>
                            <a:t>Gold doc/fact fraction recovered</a:t>
                          </a:r>
                        </a:p>
                      </a:txBody>
                      <a:tcPr anchor="ctr">
                        <a:solidFill>
                          <a:srgbClr val="212636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l"/>
                          <a:r>
                            <a:rPr sz="1600" b="0" i="0" dirty="0">
                              <a:solidFill>
                                <a:srgbClr val="F0F0F5"/>
                              </a:solidFill>
                              <a:latin typeface="Segoe UI"/>
                            </a:rPr>
                            <a:t>How many gold documents/facts are in the selection</a:t>
                          </a:r>
                        </a:p>
                      </a:txBody>
                      <a:tcPr anchor="ctr">
                        <a:solidFill>
                          <a:srgbClr val="212636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004"/>
                      </a:ext>
                    </a:extLst>
                  </a:tr>
                </a:tbl>
              </a:graphicData>
            </a:graphic>
          </p:graphicFrame>
        </mc:Fallback>
      </mc:AlternateContent>
      <p:sp>
        <p:nvSpPr>
          <p:cNvPr id="7" name="TextBox 6"/>
          <p:cNvSpPr txBox="1"/>
          <p:nvPr/>
        </p:nvSpPr>
        <p:spPr>
          <a:xfrm>
            <a:off x="822960" y="5803233"/>
            <a:ext cx="6796476" cy="40011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000" b="1" i="0" dirty="0">
                <a:solidFill>
                  <a:schemeClr val="bg1"/>
                </a:solidFill>
                <a:latin typeface="Segoe UI"/>
              </a:rPr>
              <a:t>Methods: </a:t>
            </a:r>
            <a:r>
              <a:rPr sz="2000" b="0" i="0" dirty="0">
                <a:solidFill>
                  <a:schemeClr val="bg1"/>
                </a:solidFill>
                <a:latin typeface="Segoe UI"/>
              </a:rPr>
              <a:t>top-k (baseline)</a:t>
            </a:r>
            <a:r>
              <a:rPr lang="en-US" sz="2000" b="0" i="0" dirty="0">
                <a:solidFill>
                  <a:schemeClr val="bg1"/>
                </a:solidFill>
                <a:latin typeface="Segoe UI"/>
              </a:rPr>
              <a:t>, </a:t>
            </a:r>
            <a:r>
              <a:rPr sz="2000" b="0" i="0" dirty="0">
                <a:solidFill>
                  <a:srgbClr val="FFAB40"/>
                </a:solidFill>
                <a:latin typeface="Segoe UI"/>
              </a:rPr>
              <a:t>MMR</a:t>
            </a:r>
            <a:r>
              <a:rPr lang="en-US" sz="2000" dirty="0">
                <a:solidFill>
                  <a:srgbClr val="FFAB40"/>
                </a:solidFill>
                <a:latin typeface="Segoe UI"/>
              </a:rPr>
              <a:t>, </a:t>
            </a:r>
            <a:r>
              <a:rPr sz="2000" b="0" i="0" dirty="0" err="1">
                <a:solidFill>
                  <a:srgbClr val="FFAB40"/>
                </a:solidFill>
                <a:latin typeface="Segoe UI"/>
              </a:rPr>
              <a:t>gMMR</a:t>
            </a:r>
            <a:r>
              <a:rPr lang="en-US" sz="2000" dirty="0">
                <a:solidFill>
                  <a:srgbClr val="FFAB40"/>
                </a:solidFill>
                <a:latin typeface="Segoe UI"/>
              </a:rPr>
              <a:t>, </a:t>
            </a:r>
            <a:r>
              <a:rPr sz="2000" b="0" i="0" dirty="0">
                <a:solidFill>
                  <a:srgbClr val="48C78E"/>
                </a:solidFill>
                <a:latin typeface="Segoe UI"/>
              </a:rPr>
              <a:t>facility-location  </a:t>
            </a:r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1F173B3C-97BE-4147-7F6C-D9BCF4C9B3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81C2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4F8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822960" y="411480"/>
            <a:ext cx="1051560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3200" b="1" i="0" dirty="0">
                <a:solidFill>
                  <a:srgbClr val="F0F0F5"/>
                </a:solidFill>
                <a:latin typeface="Segoe UI"/>
              </a:rPr>
              <a:t>Pros &amp; Cons</a:t>
            </a:r>
            <a:endParaRPr sz="3200" b="1" i="0" dirty="0">
              <a:solidFill>
                <a:srgbClr val="F0F0F5"/>
              </a:solidFill>
              <a:latin typeface="Segoe UI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822960" y="1234440"/>
            <a:ext cx="2286000" cy="31750"/>
          </a:xfrm>
          <a:prstGeom prst="rect">
            <a:avLst/>
          </a:prstGeom>
          <a:solidFill>
            <a:srgbClr val="4F8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822960" y="1427554"/>
            <a:ext cx="5212080" cy="2709284"/>
          </a:xfrm>
          <a:prstGeom prst="roundRect">
            <a:avLst>
              <a:gd name="adj" fmla="val 5000"/>
            </a:avLst>
          </a:prstGeom>
          <a:solidFill>
            <a:srgbClr val="2025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0" tIns="228600" rIns="274320" bIns="182880" rtlCol="0" anchor="ctr"/>
          <a:lstStyle/>
          <a:p>
            <a:pPr algn="ctr">
              <a:spcAft>
                <a:spcPts val="1000"/>
              </a:spcAft>
            </a:pPr>
            <a:r>
              <a:rPr lang="it-IT" sz="2400" i="0" dirty="0">
                <a:solidFill>
                  <a:srgbClr val="48C78E"/>
                </a:solidFill>
                <a:latin typeface="Segoe UI"/>
              </a:rPr>
              <a:t>Pros</a:t>
            </a:r>
            <a:endParaRPr lang="en-001" sz="2800" i="0" dirty="0">
              <a:solidFill>
                <a:srgbClr val="48C78E"/>
              </a:solidFill>
              <a:latin typeface="Segoe UI"/>
            </a:endParaRPr>
          </a:p>
          <a:p>
            <a:pPr marL="285750" indent="-285750">
              <a:spcBef>
                <a:spcPts val="500"/>
              </a:spcBef>
              <a:spcAft>
                <a:spcPts val="300"/>
              </a:spcAft>
              <a:buFont typeface="Wingdings" panose="05000000000000000000" pitchFamily="2" charset="2"/>
              <a:buChar char="q"/>
            </a:pPr>
            <a:r>
              <a:rPr b="0" i="0" dirty="0">
                <a:solidFill>
                  <a:schemeClr val="bg1">
                    <a:lumMod val="95000"/>
                  </a:schemeClr>
                </a:solidFill>
                <a:latin typeface="Segoe UI"/>
              </a:rPr>
              <a:t>Multi-aspect queries tailored to coverage hypothesis</a:t>
            </a:r>
            <a:endParaRPr lang="en-US" b="0" i="0" dirty="0">
              <a:solidFill>
                <a:schemeClr val="bg1">
                  <a:lumMod val="95000"/>
                </a:schemeClr>
              </a:solidFill>
              <a:latin typeface="Segoe UI"/>
            </a:endParaRPr>
          </a:p>
          <a:p>
            <a:pPr marL="285750" indent="-285750">
              <a:spcBef>
                <a:spcPts val="500"/>
              </a:spcBef>
              <a:spcAft>
                <a:spcPts val="300"/>
              </a:spcAft>
              <a:buFont typeface="Wingdings" panose="05000000000000000000" pitchFamily="2" charset="2"/>
              <a:buChar char="q"/>
            </a:pPr>
            <a:r>
              <a:rPr lang="it-IT" dirty="0">
                <a:solidFill>
                  <a:schemeClr val="bg1">
                    <a:lumMod val="95000"/>
                  </a:schemeClr>
                </a:solidFill>
                <a:latin typeface="Segoe UI"/>
              </a:rPr>
              <a:t>Dataset seems suitable for coverage</a:t>
            </a:r>
            <a:endParaRPr b="0" i="0" dirty="0">
              <a:solidFill>
                <a:schemeClr val="bg1">
                  <a:lumMod val="95000"/>
                </a:schemeClr>
              </a:solidFill>
              <a:latin typeface="Segoe UI"/>
            </a:endParaRPr>
          </a:p>
          <a:p>
            <a:pPr marL="285750" indent="-285750">
              <a:spcBef>
                <a:spcPts val="500"/>
              </a:spcBef>
              <a:spcAft>
                <a:spcPts val="300"/>
              </a:spcAft>
              <a:buFont typeface="Wingdings" panose="05000000000000000000" pitchFamily="2" charset="2"/>
              <a:buChar char="q"/>
            </a:pPr>
            <a:r>
              <a:rPr b="0" i="0" dirty="0">
                <a:solidFill>
                  <a:schemeClr val="bg1">
                    <a:lumMod val="95000"/>
                  </a:schemeClr>
                </a:solidFill>
                <a:latin typeface="Segoe UI"/>
              </a:rPr>
              <a:t>Gold sets with facet labels enable </a:t>
            </a:r>
            <a:r>
              <a:rPr lang="en-US" b="0" i="0" dirty="0">
                <a:solidFill>
                  <a:schemeClr val="bg1">
                    <a:lumMod val="95000"/>
                  </a:schemeClr>
                </a:solidFill>
                <a:latin typeface="Segoe UI"/>
              </a:rPr>
              <a:t>granular evaluation metrics</a:t>
            </a:r>
            <a:endParaRPr b="0" i="0" dirty="0">
              <a:solidFill>
                <a:schemeClr val="bg1">
                  <a:lumMod val="95000"/>
                </a:schemeClr>
              </a:solidFill>
              <a:latin typeface="Segoe UI"/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6156962" y="1427554"/>
            <a:ext cx="5212080" cy="5156126"/>
          </a:xfrm>
          <a:prstGeom prst="roundRect">
            <a:avLst>
              <a:gd name="adj" fmla="val 5000"/>
            </a:avLst>
          </a:prstGeom>
          <a:solidFill>
            <a:srgbClr val="2025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0" tIns="228600" rIns="274320" bIns="182880" rtlCol="0" anchor="ctr"/>
          <a:lstStyle/>
          <a:p>
            <a:pPr algn="ctr">
              <a:spcAft>
                <a:spcPts val="1000"/>
              </a:spcAft>
            </a:pPr>
            <a:r>
              <a:rPr lang="en-US" sz="2400" i="0" dirty="0">
                <a:solidFill>
                  <a:srgbClr val="EB5757"/>
                </a:solidFill>
                <a:latin typeface="Segoe UI"/>
              </a:rPr>
              <a:t>Cons</a:t>
            </a:r>
            <a:endParaRPr sz="1700" i="0" dirty="0">
              <a:solidFill>
                <a:srgbClr val="EB5757"/>
              </a:solidFill>
              <a:latin typeface="Segoe UI"/>
            </a:endParaRPr>
          </a:p>
          <a:p>
            <a:pPr marL="285750" indent="-285750">
              <a:spcBef>
                <a:spcPts val="500"/>
              </a:spcBef>
              <a:spcAft>
                <a:spcPts val="300"/>
              </a:spcAft>
              <a:buFont typeface="Wingdings" panose="05000000000000000000" pitchFamily="2" charset="2"/>
              <a:buChar char="q"/>
            </a:pPr>
            <a:r>
              <a:rPr lang="it-IT" sz="1700" b="0" i="0" dirty="0">
                <a:solidFill>
                  <a:schemeClr val="bg1">
                    <a:lumMod val="95000"/>
                  </a:schemeClr>
                </a:solidFill>
                <a:latin typeface="Segoe UI"/>
              </a:rPr>
              <a:t>Discharge notes may be complex to parse and interpret</a:t>
            </a:r>
          </a:p>
          <a:p>
            <a:pPr marL="285750" indent="-285750">
              <a:spcBef>
                <a:spcPts val="500"/>
              </a:spcBef>
              <a:spcAft>
                <a:spcPts val="300"/>
              </a:spcAft>
              <a:buFont typeface="Wingdings" panose="05000000000000000000" pitchFamily="2" charset="2"/>
              <a:buChar char="q"/>
            </a:pPr>
            <a:r>
              <a:rPr lang="it-IT" sz="1700" dirty="0">
                <a:solidFill>
                  <a:schemeClr val="bg1">
                    <a:lumMod val="95000"/>
                  </a:schemeClr>
                </a:solidFill>
                <a:latin typeface="Segoe UI"/>
              </a:rPr>
              <a:t>De-identification detrimental for semantics</a:t>
            </a:r>
            <a:endParaRPr lang="it-IT" sz="1700" b="0" i="0" dirty="0">
              <a:solidFill>
                <a:schemeClr val="bg1">
                  <a:lumMod val="95000"/>
                </a:schemeClr>
              </a:solidFill>
              <a:latin typeface="Segoe UI"/>
            </a:endParaRPr>
          </a:p>
          <a:p>
            <a:pPr marL="285750" indent="-285750">
              <a:spcBef>
                <a:spcPts val="500"/>
              </a:spcBef>
              <a:spcAft>
                <a:spcPts val="300"/>
              </a:spcAft>
              <a:buFont typeface="Wingdings" panose="05000000000000000000" pitchFamily="2" charset="2"/>
              <a:buChar char="q"/>
            </a:pPr>
            <a:r>
              <a:rPr lang="it-IT" sz="1700" b="0" i="0" dirty="0">
                <a:solidFill>
                  <a:schemeClr val="bg1">
                    <a:lumMod val="95000"/>
                  </a:schemeClr>
                </a:solidFill>
                <a:latin typeface="Segoe UI"/>
              </a:rPr>
              <a:t>No guarantee about embedding distribution with the contextual prefix</a:t>
            </a:r>
          </a:p>
          <a:p>
            <a:pPr marL="285750" indent="-285750">
              <a:spcBef>
                <a:spcPts val="500"/>
              </a:spcBef>
              <a:spcAft>
                <a:spcPts val="300"/>
              </a:spcAft>
              <a:buFont typeface="Wingdings" panose="05000000000000000000" pitchFamily="2" charset="2"/>
              <a:buChar char="q"/>
            </a:pPr>
            <a:r>
              <a:rPr lang="it-IT" sz="1700" dirty="0">
                <a:solidFill>
                  <a:schemeClr val="bg1">
                    <a:lumMod val="95000"/>
                  </a:schemeClr>
                </a:solidFill>
                <a:latin typeface="Segoe UI"/>
              </a:rPr>
              <a:t>Query is still LLM-generated</a:t>
            </a:r>
            <a:endParaRPr lang="en-US" sz="1700" b="0" i="0" dirty="0">
              <a:solidFill>
                <a:schemeClr val="bg1">
                  <a:lumMod val="95000"/>
                </a:schemeClr>
              </a:solidFill>
              <a:latin typeface="Segoe UI"/>
            </a:endParaRPr>
          </a:p>
          <a:p>
            <a:pPr marL="285750" indent="-285750">
              <a:spcBef>
                <a:spcPts val="500"/>
              </a:spcBef>
              <a:spcAft>
                <a:spcPts val="300"/>
              </a:spcAft>
              <a:buFont typeface="Wingdings" panose="05000000000000000000" pitchFamily="2" charset="2"/>
              <a:buChar char="q"/>
            </a:pPr>
            <a:r>
              <a:rPr lang="it-IT" sz="1700" b="0" i="0" dirty="0">
                <a:solidFill>
                  <a:schemeClr val="bg1">
                    <a:lumMod val="95000"/>
                  </a:schemeClr>
                </a:solidFill>
                <a:latin typeface="Segoe UI"/>
              </a:rPr>
              <a:t>LLM g</a:t>
            </a:r>
            <a:r>
              <a:rPr sz="1700" b="0" i="0" dirty="0">
                <a:solidFill>
                  <a:schemeClr val="bg1">
                    <a:lumMod val="95000"/>
                  </a:schemeClr>
                </a:solidFill>
                <a:latin typeface="Segoe UI"/>
              </a:rPr>
              <a:t>old annotation is expensive and noisy</a:t>
            </a:r>
            <a:endParaRPr lang="en-US" sz="1700" b="0" i="0" dirty="0">
              <a:solidFill>
                <a:schemeClr val="bg1">
                  <a:lumMod val="95000"/>
                </a:schemeClr>
              </a:solidFill>
              <a:latin typeface="Segoe UI"/>
            </a:endParaRPr>
          </a:p>
          <a:p>
            <a:pPr marL="285750" indent="-285750">
              <a:spcBef>
                <a:spcPts val="500"/>
              </a:spcBef>
              <a:spcAft>
                <a:spcPts val="300"/>
              </a:spcAft>
              <a:buFont typeface="Wingdings" panose="05000000000000000000" pitchFamily="2" charset="2"/>
              <a:buChar char="q"/>
            </a:pPr>
            <a:r>
              <a:rPr lang="it-IT" sz="1700" dirty="0">
                <a:solidFill>
                  <a:schemeClr val="bg1">
                    <a:lumMod val="95000"/>
                  </a:schemeClr>
                </a:solidFill>
                <a:latin typeface="Segoe UI"/>
              </a:rPr>
              <a:t>Facet labels depend on LLM judgment</a:t>
            </a:r>
            <a:endParaRPr lang="en-US" sz="1700" b="0" i="0" dirty="0">
              <a:solidFill>
                <a:schemeClr val="bg1">
                  <a:lumMod val="95000"/>
                </a:schemeClr>
              </a:solidFill>
              <a:latin typeface="Segoe UI"/>
            </a:endParaRPr>
          </a:p>
          <a:p>
            <a:pPr marL="285750" indent="-285750">
              <a:spcBef>
                <a:spcPts val="500"/>
              </a:spcBef>
              <a:spcAft>
                <a:spcPts val="300"/>
              </a:spcAft>
              <a:buFont typeface="Wingdings" panose="05000000000000000000" pitchFamily="2" charset="2"/>
              <a:buChar char="q"/>
            </a:pPr>
            <a:r>
              <a:rPr sz="1700" b="0" i="0" dirty="0">
                <a:solidFill>
                  <a:schemeClr val="bg1">
                    <a:lumMod val="95000"/>
                  </a:schemeClr>
                </a:solidFill>
                <a:latin typeface="Segoe UI"/>
              </a:rPr>
              <a:t>Local inference (DUA)</a:t>
            </a:r>
            <a:r>
              <a:rPr lang="en-US" sz="1700" b="0" i="0" dirty="0">
                <a:solidFill>
                  <a:schemeClr val="bg1">
                    <a:lumMod val="95000"/>
                  </a:schemeClr>
                </a:solidFill>
                <a:latin typeface="Segoe UI"/>
              </a:rPr>
              <a:t>. S</a:t>
            </a:r>
            <a:r>
              <a:rPr sz="1700" b="0" i="0" dirty="0">
                <a:solidFill>
                  <a:schemeClr val="bg1">
                    <a:lumMod val="95000"/>
                  </a:schemeClr>
                </a:solidFill>
                <a:latin typeface="Segoe UI"/>
              </a:rPr>
              <a:t>lower, smaller models</a:t>
            </a:r>
          </a:p>
          <a:p>
            <a:pPr marL="285750" indent="-285750">
              <a:spcBef>
                <a:spcPts val="500"/>
              </a:spcBef>
              <a:spcAft>
                <a:spcPts val="300"/>
              </a:spcAft>
              <a:buFont typeface="Wingdings" panose="05000000000000000000" pitchFamily="2" charset="2"/>
              <a:buChar char="q"/>
            </a:pPr>
            <a:r>
              <a:rPr sz="1700" b="0" i="0" dirty="0">
                <a:solidFill>
                  <a:schemeClr val="bg1">
                    <a:lumMod val="95000"/>
                  </a:schemeClr>
                </a:solidFill>
                <a:latin typeface="Segoe UI"/>
              </a:rPr>
              <a:t>Many moving parts before first result</a:t>
            </a:r>
          </a:p>
          <a:p>
            <a:pPr marL="285750" indent="-285750">
              <a:spcBef>
                <a:spcPts val="500"/>
              </a:spcBef>
              <a:spcAft>
                <a:spcPts val="300"/>
              </a:spcAft>
              <a:buFont typeface="Wingdings" panose="05000000000000000000" pitchFamily="2" charset="2"/>
              <a:buChar char="q"/>
            </a:pPr>
            <a:r>
              <a:rPr sz="1700" b="0" i="0" dirty="0">
                <a:solidFill>
                  <a:schemeClr val="bg1">
                    <a:lumMod val="95000"/>
                  </a:schemeClr>
                </a:solidFill>
                <a:latin typeface="Segoe UI"/>
              </a:rPr>
              <a:t>No existing benchmark to compare against</a:t>
            </a:r>
            <a:endParaRPr lang="en-US" sz="1700" b="0" i="0" dirty="0">
              <a:solidFill>
                <a:schemeClr val="bg1">
                  <a:lumMod val="95000"/>
                </a:schemeClr>
              </a:solidFill>
              <a:latin typeface="Segoe UI"/>
            </a:endParaRPr>
          </a:p>
          <a:p>
            <a:pPr marL="285750" indent="-285750">
              <a:spcBef>
                <a:spcPts val="500"/>
              </a:spcBef>
              <a:spcAft>
                <a:spcPts val="300"/>
              </a:spcAft>
              <a:buFont typeface="Wingdings" panose="05000000000000000000" pitchFamily="2" charset="2"/>
              <a:buChar char="q"/>
            </a:pPr>
            <a:r>
              <a:rPr lang="it-IT" sz="1700" dirty="0">
                <a:solidFill>
                  <a:schemeClr val="bg1">
                    <a:lumMod val="95000"/>
                  </a:schemeClr>
                </a:solidFill>
                <a:latin typeface="Segoe UI"/>
              </a:rPr>
              <a:t>human validation?</a:t>
            </a:r>
            <a:endParaRPr sz="1700" dirty="0">
              <a:solidFill>
                <a:schemeClr val="bg1">
                  <a:lumMod val="95000"/>
                </a:schemeClr>
              </a:solidFill>
              <a:latin typeface="Segoe UI"/>
            </a:endParaRPr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387F070C-A8AA-4873-B4E4-9823FCA0F5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16</a:t>
            </a:fld>
            <a:endParaRPr lang="en-US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8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4F8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14400" y="2286000"/>
            <a:ext cx="10332720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sz="4000" b="1" i="0" dirty="0">
                <a:solidFill>
                  <a:srgbClr val="F0F0F5"/>
                </a:solidFill>
                <a:latin typeface="Segoe UI"/>
              </a:rPr>
              <a:t>End</a:t>
            </a:r>
            <a:endParaRPr sz="4000" b="1" i="0" dirty="0">
              <a:solidFill>
                <a:srgbClr val="F0F0F5"/>
              </a:solidFill>
              <a:latin typeface="Segoe UI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914400" y="3474720"/>
            <a:ext cx="1828800" cy="38100"/>
          </a:xfrm>
          <a:prstGeom prst="rect">
            <a:avLst/>
          </a:prstGeom>
          <a:solidFill>
            <a:srgbClr val="4F8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7BB3AB3-DCF1-540C-C288-5BCA0E5572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C69C5F4-8223-E9FB-EB8A-8F57B74625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40701B64-9C40-D0A3-AB0C-37DB0A227954}"/>
              </a:ext>
            </a:extLst>
          </p:cNvPr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81C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529D8355-DAF8-1591-12A0-7DAF2B7BCF15}"/>
              </a:ext>
            </a:extLst>
          </p:cNvPr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FFAB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40A02DE-5CD0-86E1-2DA1-119D8D1795C6}"/>
              </a:ext>
            </a:extLst>
          </p:cNvPr>
          <p:cNvSpPr txBox="1"/>
          <p:nvPr/>
        </p:nvSpPr>
        <p:spPr>
          <a:xfrm>
            <a:off x="874623" y="2689860"/>
            <a:ext cx="1051560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3200" b="1" i="0" dirty="0">
                <a:solidFill>
                  <a:srgbClr val="F0F0F5"/>
                </a:solidFill>
                <a:latin typeface="Segoe UI"/>
              </a:rPr>
              <a:t>Extras</a:t>
            </a:r>
            <a:endParaRPr sz="3200" b="1" i="0" dirty="0">
              <a:solidFill>
                <a:srgbClr val="F0F0F5"/>
              </a:solidFill>
              <a:latin typeface="Segoe UI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7D765DF7-D919-2F92-345E-A32C313FECE2}"/>
              </a:ext>
            </a:extLst>
          </p:cNvPr>
          <p:cNvSpPr/>
          <p:nvPr/>
        </p:nvSpPr>
        <p:spPr>
          <a:xfrm>
            <a:off x="995680" y="3481070"/>
            <a:ext cx="2286000" cy="31750"/>
          </a:xfrm>
          <a:prstGeom prst="rect">
            <a:avLst/>
          </a:prstGeom>
          <a:solidFill>
            <a:srgbClr val="FFAB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A0A71D0-EE7F-6BF3-1188-83C5839594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76529749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81C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FFAB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822960" y="41148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 i="0">
                <a:solidFill>
                  <a:srgbClr val="F0F0F5"/>
                </a:solidFill>
                <a:latin typeface="Segoe UI"/>
              </a:rPr>
              <a:t>Pipeline Overview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1234440"/>
            <a:ext cx="2286000" cy="31750"/>
          </a:xfrm>
          <a:prstGeom prst="rect">
            <a:avLst/>
          </a:prstGeom>
          <a:solidFill>
            <a:srgbClr val="FFAB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822960" y="1645920"/>
          <a:ext cx="10515600" cy="4338320"/>
        </p:xfrm>
        <a:graphic>
          <a:graphicData uri="http://schemas.openxmlformats.org/drawingml/2006/table">
            <a:tbl>
              <a:tblPr>
                <a:tableStyleId>{00000000-0000-0000-0000-000000000000}</a:tableStyleId>
              </a:tblPr>
              <a:tblGrid>
                <a:gridCol w="7315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116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7548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0175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867664">
                <a:tc>
                  <a:txBody>
                    <a:bodyPr/>
                    <a:lstStyle/>
                    <a:p>
                      <a:pPr algn="l"/>
                      <a:r>
                        <a:rPr sz="1600" b="1" i="0">
                          <a:solidFill>
                            <a:srgbClr val="FFAB40"/>
                          </a:solidFill>
                          <a:latin typeface="Segoe UI"/>
                        </a:rPr>
                        <a:t>Phase</a:t>
                      </a:r>
                    </a:p>
                  </a:txBody>
                  <a:tcPr anchor="ctr">
                    <a:solidFill>
                      <a:srgbClr val="262D4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600" b="1" i="0">
                          <a:solidFill>
                            <a:srgbClr val="FFAB40"/>
                          </a:solidFill>
                          <a:latin typeface="Segoe UI"/>
                        </a:rPr>
                        <a:t>Name</a:t>
                      </a:r>
                    </a:p>
                  </a:txBody>
                  <a:tcPr anchor="ctr">
                    <a:solidFill>
                      <a:srgbClr val="262D4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600" b="1" i="0">
                          <a:solidFill>
                            <a:srgbClr val="FFAB40"/>
                          </a:solidFill>
                          <a:latin typeface="Segoe UI"/>
                        </a:rPr>
                        <a:t>Key Actions</a:t>
                      </a:r>
                    </a:p>
                  </a:txBody>
                  <a:tcPr anchor="ctr">
                    <a:solidFill>
                      <a:srgbClr val="262D4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600" b="1" i="0">
                          <a:solidFill>
                            <a:srgbClr val="FFAB40"/>
                          </a:solidFill>
                          <a:latin typeface="Segoe UI"/>
                        </a:rPr>
                        <a:t>Output</a:t>
                      </a:r>
                    </a:p>
                  </a:txBody>
                  <a:tcPr anchor="ctr">
                    <a:solidFill>
                      <a:srgbClr val="262D4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867664">
                <a:tc>
                  <a:txBody>
                    <a:bodyPr/>
                    <a:lstStyle/>
                    <a:p>
                      <a:pPr algn="l"/>
                      <a:r>
                        <a:rPr sz="1600" b="1" i="0">
                          <a:solidFill>
                            <a:srgbClr val="FFAB40"/>
                          </a:solidFill>
                          <a:latin typeface="Segoe UI"/>
                        </a:rPr>
                        <a:t>1</a:t>
                      </a:r>
                    </a:p>
                  </a:txBody>
                  <a:tcPr anchor="ctr">
                    <a:solidFill>
                      <a:srgbClr val="1C212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600" b="0" i="0">
                          <a:solidFill>
                            <a:srgbClr val="F0F0F5"/>
                          </a:solidFill>
                          <a:latin typeface="Segoe UI"/>
                        </a:rPr>
                        <a:t>Corpus Construction</a:t>
                      </a:r>
                    </a:p>
                  </a:txBody>
                  <a:tcPr anchor="ctr">
                    <a:solidFill>
                      <a:srgbClr val="1C212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600" b="0" i="0" dirty="0">
                          <a:solidFill>
                            <a:srgbClr val="F0F0F5"/>
                          </a:solidFill>
                          <a:latin typeface="Segoe UI"/>
                        </a:rPr>
                        <a:t>Select ICD conditions, chunk notes by section, attach metadata, deduplicate</a:t>
                      </a:r>
                    </a:p>
                  </a:txBody>
                  <a:tcPr anchor="ctr">
                    <a:solidFill>
                      <a:srgbClr val="1C212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600" b="0" i="0" dirty="0">
                          <a:solidFill>
                            <a:srgbClr val="F0F0F5"/>
                          </a:solidFill>
                          <a:latin typeface="Segoe UI"/>
                        </a:rPr>
                        <a:t>Per-condition candidate pools with metadata</a:t>
                      </a:r>
                    </a:p>
                  </a:txBody>
                  <a:tcPr anchor="ctr">
                    <a:solidFill>
                      <a:srgbClr val="1C212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867664">
                <a:tc>
                  <a:txBody>
                    <a:bodyPr/>
                    <a:lstStyle/>
                    <a:p>
                      <a:pPr algn="l"/>
                      <a:r>
                        <a:rPr sz="1600" b="1" i="0">
                          <a:solidFill>
                            <a:srgbClr val="FFAB40"/>
                          </a:solidFill>
                          <a:latin typeface="Segoe UI"/>
                        </a:rPr>
                        <a:t>2</a:t>
                      </a:r>
                    </a:p>
                  </a:txBody>
                  <a:tcPr anchor="ctr">
                    <a:solidFill>
                      <a:srgbClr val="21263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600" b="0" i="0" dirty="0">
                          <a:solidFill>
                            <a:srgbClr val="F0F0F5"/>
                          </a:solidFill>
                          <a:latin typeface="Segoe UI"/>
                        </a:rPr>
                        <a:t>Embeddings</a:t>
                      </a:r>
                      <a:r>
                        <a:rPr lang="en-US" sz="1600" b="0" i="0" dirty="0">
                          <a:solidFill>
                            <a:srgbClr val="F0F0F5"/>
                          </a:solidFill>
                          <a:latin typeface="Segoe UI"/>
                        </a:rPr>
                        <a:t> Generation</a:t>
                      </a:r>
                      <a:endParaRPr sz="1600" b="0" i="0" dirty="0">
                        <a:solidFill>
                          <a:srgbClr val="F0F0F5"/>
                        </a:solidFill>
                        <a:latin typeface="Segoe UI"/>
                      </a:endParaRPr>
                    </a:p>
                  </a:txBody>
                  <a:tcPr anchor="ctr">
                    <a:solidFill>
                      <a:srgbClr val="21263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600" b="0" i="0" dirty="0">
                          <a:solidFill>
                            <a:srgbClr val="F0F0F5"/>
                          </a:solidFill>
                          <a:latin typeface="Segoe UI"/>
                        </a:rPr>
                        <a:t>Prepend metadata prefix before embedding</a:t>
                      </a:r>
                    </a:p>
                  </a:txBody>
                  <a:tcPr anchor="ctr">
                    <a:solidFill>
                      <a:srgbClr val="21263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600" b="0" i="0" dirty="0">
                          <a:solidFill>
                            <a:srgbClr val="F0F0F5"/>
                          </a:solidFill>
                          <a:latin typeface="Segoe UI"/>
                        </a:rPr>
                        <a:t>Contextualized chunk vectors</a:t>
                      </a:r>
                    </a:p>
                  </a:txBody>
                  <a:tcPr anchor="ctr">
                    <a:solidFill>
                      <a:srgbClr val="21263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867664">
                <a:tc>
                  <a:txBody>
                    <a:bodyPr/>
                    <a:lstStyle/>
                    <a:p>
                      <a:pPr algn="l"/>
                      <a:r>
                        <a:rPr sz="1600" b="1" i="0" dirty="0">
                          <a:solidFill>
                            <a:srgbClr val="FFAB40"/>
                          </a:solidFill>
                          <a:latin typeface="Segoe UI"/>
                        </a:rPr>
                        <a:t>3</a:t>
                      </a:r>
                    </a:p>
                  </a:txBody>
                  <a:tcPr anchor="ctr">
                    <a:solidFill>
                      <a:srgbClr val="21263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600" b="0" i="0" dirty="0">
                          <a:solidFill>
                            <a:srgbClr val="F0F0F5"/>
                          </a:solidFill>
                          <a:latin typeface="Segoe UI"/>
                        </a:rPr>
                        <a:t>Query Generation</a:t>
                      </a:r>
                      <a:r>
                        <a:rPr lang="en-US" sz="1600" b="0" i="0" dirty="0">
                          <a:solidFill>
                            <a:srgbClr val="F0F0F5"/>
                          </a:solidFill>
                          <a:latin typeface="Segoe UI"/>
                        </a:rPr>
                        <a:t> via LLM</a:t>
                      </a:r>
                      <a:endParaRPr sz="1600" b="0" i="0" dirty="0">
                        <a:solidFill>
                          <a:srgbClr val="F0F0F5"/>
                        </a:solidFill>
                        <a:latin typeface="Segoe UI"/>
                      </a:endParaRPr>
                    </a:p>
                  </a:txBody>
                  <a:tcPr anchor="ctr">
                    <a:solidFill>
                      <a:srgbClr val="21263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600" b="0" i="0" dirty="0">
                          <a:solidFill>
                            <a:srgbClr val="F0F0F5"/>
                          </a:solidFill>
                          <a:latin typeface="Segoe UI"/>
                        </a:rPr>
                        <a:t>LLM generates multi-aspect clinical questions; gold </a:t>
                      </a:r>
                      <a:r>
                        <a:rPr lang="it-IT" sz="1600" b="0" i="0" dirty="0">
                          <a:solidFill>
                            <a:srgbClr val="F0F0F5"/>
                          </a:solidFill>
                          <a:latin typeface="Segoe UI"/>
                        </a:rPr>
                        <a:t>answers </a:t>
                      </a:r>
                      <a:r>
                        <a:rPr sz="1600" b="0" i="0" dirty="0">
                          <a:solidFill>
                            <a:srgbClr val="F0F0F5"/>
                          </a:solidFill>
                          <a:latin typeface="Segoe UI"/>
                        </a:rPr>
                        <a:t>with facet labels</a:t>
                      </a:r>
                    </a:p>
                  </a:txBody>
                  <a:tcPr anchor="ctr">
                    <a:solidFill>
                      <a:srgbClr val="21263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600" b="0" i="0" dirty="0">
                          <a:solidFill>
                            <a:srgbClr val="F0F0F5"/>
                          </a:solidFill>
                          <a:latin typeface="Segoe UI"/>
                        </a:rPr>
                        <a:t>QA pairs with gold chunk sets</a:t>
                      </a:r>
                    </a:p>
                  </a:txBody>
                  <a:tcPr anchor="ctr">
                    <a:solidFill>
                      <a:srgbClr val="21263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867664">
                <a:tc>
                  <a:txBody>
                    <a:bodyPr/>
                    <a:lstStyle/>
                    <a:p>
                      <a:pPr algn="l"/>
                      <a:r>
                        <a:rPr sz="1600" b="1" i="0">
                          <a:solidFill>
                            <a:srgbClr val="FFAB40"/>
                          </a:solidFill>
                          <a:latin typeface="Segoe UI"/>
                        </a:rPr>
                        <a:t>4</a:t>
                      </a:r>
                    </a:p>
                  </a:txBody>
                  <a:tcPr anchor="ctr">
                    <a:solidFill>
                      <a:srgbClr val="1C212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600" b="0" i="0">
                          <a:solidFill>
                            <a:srgbClr val="F0F0F5"/>
                          </a:solidFill>
                          <a:latin typeface="Segoe UI"/>
                        </a:rPr>
                        <a:t>Evaluation</a:t>
                      </a:r>
                    </a:p>
                  </a:txBody>
                  <a:tcPr anchor="ctr">
                    <a:solidFill>
                      <a:srgbClr val="1C212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600" b="0" i="0" dirty="0">
                          <a:solidFill>
                            <a:srgbClr val="F0F0F5"/>
                          </a:solidFill>
                          <a:latin typeface="Segoe UI"/>
                        </a:rPr>
                        <a:t>Aspect recall, Fac score, Jaccard, </a:t>
                      </a:r>
                      <a:r>
                        <a:rPr sz="1600" b="0" i="0" dirty="0" err="1">
                          <a:solidFill>
                            <a:srgbClr val="F0F0F5"/>
                          </a:solidFill>
                          <a:latin typeface="Segoe UI"/>
                        </a:rPr>
                        <a:t>DocRec</a:t>
                      </a:r>
                      <a:r>
                        <a:rPr sz="1600" b="0" i="0" dirty="0">
                          <a:solidFill>
                            <a:srgbClr val="F0F0F5"/>
                          </a:solidFill>
                          <a:latin typeface="Segoe UI"/>
                        </a:rPr>
                        <a:t>/</a:t>
                      </a:r>
                      <a:r>
                        <a:rPr sz="1600" b="0" i="0" dirty="0" err="1">
                          <a:solidFill>
                            <a:srgbClr val="F0F0F5"/>
                          </a:solidFill>
                          <a:latin typeface="Segoe UI"/>
                        </a:rPr>
                        <a:t>FactRec</a:t>
                      </a:r>
                      <a:endParaRPr sz="1600" b="0" i="0" dirty="0">
                        <a:solidFill>
                          <a:srgbClr val="F0F0F5"/>
                        </a:solidFill>
                        <a:latin typeface="Segoe UI"/>
                      </a:endParaRPr>
                    </a:p>
                  </a:txBody>
                  <a:tcPr anchor="ctr">
                    <a:solidFill>
                      <a:srgbClr val="1C212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600" b="0" i="0" dirty="0">
                          <a:solidFill>
                            <a:srgbClr val="F0F0F5"/>
                          </a:solidFill>
                          <a:latin typeface="Segoe UI"/>
                        </a:rPr>
                        <a:t>Coverage vs. dispersion comparison</a:t>
                      </a:r>
                    </a:p>
                  </a:txBody>
                  <a:tcPr anchor="ctr">
                    <a:solidFill>
                      <a:srgbClr val="1C212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364A7F40-B30D-FC68-7F91-097AF699C98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597C3E05-247D-38D9-2728-44A2EA44AE83}"/>
              </a:ext>
            </a:extLst>
          </p:cNvPr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81C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822960" y="41148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 i="0">
                <a:solidFill>
                  <a:srgbClr val="F0F0F5"/>
                </a:solidFill>
                <a:latin typeface="Segoe UI"/>
              </a:rPr>
              <a:t>Key Parameters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822960" y="1645920"/>
          <a:ext cx="10515600" cy="4429758"/>
        </p:xfrm>
        <a:graphic>
          <a:graphicData uri="http://schemas.openxmlformats.org/drawingml/2006/table">
            <a:tbl>
              <a:tblPr>
                <a:tableStyleId>{00000000-0000-0000-0000-000000000000}</a:tableStyleId>
              </a:tblPr>
              <a:tblGrid>
                <a:gridCol w="20116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657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8463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738293">
                <a:tc>
                  <a:txBody>
                    <a:bodyPr/>
                    <a:lstStyle/>
                    <a:p>
                      <a:pPr algn="ctr"/>
                      <a:r>
                        <a:rPr sz="1800" b="1" i="0">
                          <a:solidFill>
                            <a:schemeClr val="bg1"/>
                          </a:solidFill>
                          <a:latin typeface="Segoe UI"/>
                        </a:rPr>
                        <a:t>Parameter</a:t>
                      </a:r>
                    </a:p>
                  </a:txBody>
                  <a:tcPr anchor="ctr"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 i="0">
                          <a:solidFill>
                            <a:schemeClr val="bg1"/>
                          </a:solidFill>
                          <a:latin typeface="Segoe UI"/>
                        </a:rPr>
                        <a:t>Meaning</a:t>
                      </a:r>
                    </a:p>
                  </a:txBody>
                  <a:tcPr anchor="ctr"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 i="0" dirty="0">
                          <a:solidFill>
                            <a:schemeClr val="bg1"/>
                          </a:solidFill>
                          <a:latin typeface="Segoe UI"/>
                        </a:rPr>
                        <a:t>Notes</a:t>
                      </a:r>
                    </a:p>
                  </a:txBody>
                  <a:tcPr anchor="ctr">
                    <a:solidFill>
                      <a:schemeClr val="tx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38293">
                <a:tc>
                  <a:txBody>
                    <a:bodyPr/>
                    <a:lstStyle/>
                    <a:p>
                      <a:pPr algn="l"/>
                      <a:r>
                        <a:rPr sz="1800" b="1" i="0" dirty="0">
                          <a:solidFill>
                            <a:srgbClr val="4F8CFF"/>
                          </a:solidFill>
                          <a:latin typeface="Segoe UI"/>
                        </a:rPr>
                        <a:t>λ</a:t>
                      </a:r>
                    </a:p>
                  </a:txBody>
                  <a:tcPr anchor="ctr">
                    <a:solidFill>
                      <a:srgbClr val="1C212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 i="0">
                          <a:solidFill>
                            <a:srgbClr val="F0F0F5"/>
                          </a:solidFill>
                          <a:latin typeface="Segoe UI"/>
                        </a:rPr>
                        <a:t>Relevance–diversity tradeoff</a:t>
                      </a:r>
                    </a:p>
                  </a:txBody>
                  <a:tcPr anchor="ctr">
                    <a:solidFill>
                      <a:srgbClr val="1C212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 i="0">
                          <a:solidFill>
                            <a:srgbClr val="F0F0F5"/>
                          </a:solidFill>
                          <a:latin typeface="Segoe UI"/>
                        </a:rPr>
                        <a:t>λ=1: pure top-k, λ=0: pure coverage</a:t>
                      </a:r>
                    </a:p>
                  </a:txBody>
                  <a:tcPr anchor="ctr">
                    <a:solidFill>
                      <a:srgbClr val="1C212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38293">
                <a:tc>
                  <a:txBody>
                    <a:bodyPr/>
                    <a:lstStyle/>
                    <a:p>
                      <a:pPr algn="l"/>
                      <a:r>
                        <a:rPr sz="1800" b="1" i="0">
                          <a:solidFill>
                            <a:srgbClr val="4F8CFF"/>
                          </a:solidFill>
                          <a:latin typeface="Segoe UI"/>
                        </a:rPr>
                        <a:t>N</a:t>
                      </a:r>
                    </a:p>
                  </a:txBody>
                  <a:tcPr anchor="ctr">
                    <a:solidFill>
                      <a:srgbClr val="21263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 i="0">
                          <a:solidFill>
                            <a:srgbClr val="F0F0F5"/>
                          </a:solidFill>
                          <a:latin typeface="Segoe UI"/>
                        </a:rPr>
                        <a:t>Candidate pool size for re-ranking</a:t>
                      </a:r>
                    </a:p>
                  </a:txBody>
                  <a:tcPr anchor="ctr">
                    <a:solidFill>
                      <a:srgbClr val="21263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 i="0">
                          <a:solidFill>
                            <a:srgbClr val="F0F0F5"/>
                          </a:solidFill>
                          <a:latin typeface="Segoe UI"/>
                        </a:rPr>
                        <a:t>Too small: no room to diversify; too large: noise enters</a:t>
                      </a:r>
                    </a:p>
                  </a:txBody>
                  <a:tcPr anchor="ctr">
                    <a:solidFill>
                      <a:srgbClr val="21263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738293">
                <a:tc>
                  <a:txBody>
                    <a:bodyPr/>
                    <a:lstStyle/>
                    <a:p>
                      <a:pPr algn="l"/>
                      <a:r>
                        <a:rPr sz="1800" b="1" i="0">
                          <a:solidFill>
                            <a:srgbClr val="4F8CFF"/>
                          </a:solidFill>
                          <a:latin typeface="Segoe UI"/>
                        </a:rPr>
                        <a:t>k</a:t>
                      </a:r>
                    </a:p>
                  </a:txBody>
                  <a:tcPr anchor="ctr">
                    <a:solidFill>
                      <a:srgbClr val="1C212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 i="0">
                          <a:solidFill>
                            <a:srgbClr val="F0F0F5"/>
                          </a:solidFill>
                          <a:latin typeface="Segoe UI"/>
                        </a:rPr>
                        <a:t>Number of chunks to select</a:t>
                      </a:r>
                    </a:p>
                  </a:txBody>
                  <a:tcPr anchor="ctr">
                    <a:solidFill>
                      <a:srgbClr val="1C212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 i="0" dirty="0">
                          <a:solidFill>
                            <a:srgbClr val="F0F0F5"/>
                          </a:solidFill>
                          <a:latin typeface="Segoe UI"/>
                        </a:rPr>
                        <a:t>Final selection size</a:t>
                      </a:r>
                    </a:p>
                  </a:txBody>
                  <a:tcPr anchor="ctr">
                    <a:solidFill>
                      <a:srgbClr val="1C212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738293">
                <a:tc>
                  <a:txBody>
                    <a:bodyPr/>
                    <a:lstStyle/>
                    <a:p>
                      <a:pPr algn="l"/>
                      <a:r>
                        <a:rPr sz="1800" b="1" i="0" dirty="0">
                          <a:solidFill>
                            <a:srgbClr val="4F8CFF"/>
                          </a:solidFill>
                          <a:latin typeface="Segoe UI"/>
                        </a:rPr>
                        <a:t>T_max</a:t>
                      </a:r>
                    </a:p>
                  </a:txBody>
                  <a:tcPr anchor="ctr">
                    <a:solidFill>
                      <a:srgbClr val="21263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 i="0">
                          <a:solidFill>
                            <a:srgbClr val="F0F0F5"/>
                          </a:solidFill>
                          <a:latin typeface="Segoe UI"/>
                        </a:rPr>
                        <a:t>Token budget</a:t>
                      </a:r>
                    </a:p>
                  </a:txBody>
                  <a:tcPr anchor="ctr">
                    <a:solidFill>
                      <a:srgbClr val="21263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 i="0" dirty="0">
                          <a:solidFill>
                            <a:srgbClr val="F0F0F5"/>
                          </a:solidFill>
                          <a:latin typeface="Segoe UI"/>
                        </a:rPr>
                        <a:t>Constrains total context length for LLM</a:t>
                      </a:r>
                    </a:p>
                  </a:txBody>
                  <a:tcPr anchor="ctr">
                    <a:solidFill>
                      <a:srgbClr val="21263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738293">
                <a:tc>
                  <a:txBody>
                    <a:bodyPr/>
                    <a:lstStyle/>
                    <a:p>
                      <a:pPr algn="l"/>
                      <a:r>
                        <a:rPr sz="1800" b="1" i="0">
                          <a:solidFill>
                            <a:srgbClr val="4F8CFF"/>
                          </a:solidFill>
                          <a:latin typeface="Segoe UI"/>
                        </a:rPr>
                        <a:t>chunk_tokens / stride</a:t>
                      </a:r>
                    </a:p>
                  </a:txBody>
                  <a:tcPr anchor="ctr">
                    <a:solidFill>
                      <a:srgbClr val="1C212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 i="0">
                          <a:solidFill>
                            <a:srgbClr val="F0F0F5"/>
                          </a:solidFill>
                          <a:latin typeface="Segoe UI"/>
                        </a:rPr>
                        <a:t>Chunk size and overlap</a:t>
                      </a:r>
                    </a:p>
                  </a:txBody>
                  <a:tcPr anchor="ctr">
                    <a:solidFill>
                      <a:srgbClr val="1C212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 i="0" dirty="0">
                          <a:solidFill>
                            <a:srgbClr val="F0F0F5"/>
                          </a:solidFill>
                          <a:latin typeface="Segoe UI"/>
                        </a:rPr>
                        <a:t>Controls granularity of information units</a:t>
                      </a:r>
                    </a:p>
                  </a:txBody>
                  <a:tcPr anchor="ctr">
                    <a:solidFill>
                      <a:srgbClr val="1C212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15238BF-1E6B-DE96-C7DD-522D8D40A2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20</a:t>
            </a:fld>
            <a:endParaRPr lang="en-US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6A992665-2B3B-F013-B84B-13D4A9B7A455}"/>
              </a:ext>
            </a:extLst>
          </p:cNvPr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FFAB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4B004645-83A6-0AFD-2887-EBB24F78BA44}"/>
              </a:ext>
            </a:extLst>
          </p:cNvPr>
          <p:cNvSpPr/>
          <p:nvPr/>
        </p:nvSpPr>
        <p:spPr>
          <a:xfrm>
            <a:off x="822960" y="1234440"/>
            <a:ext cx="2286000" cy="31750"/>
          </a:xfrm>
          <a:prstGeom prst="rect">
            <a:avLst/>
          </a:prstGeom>
          <a:solidFill>
            <a:srgbClr val="FFAB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81C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822960" y="41148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 i="0">
                <a:solidFill>
                  <a:srgbClr val="F0F0F5"/>
                </a:solidFill>
                <a:latin typeface="Segoe UI"/>
              </a:rPr>
              <a:t>Gold Response Generation via LLMs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1645920"/>
            <a:ext cx="5029200" cy="2743200"/>
          </a:xfrm>
          <a:prstGeom prst="roundRect">
            <a:avLst>
              <a:gd name="adj" fmla="val 5000"/>
            </a:avLst>
          </a:prstGeom>
          <a:solidFill>
            <a:srgbClr val="2025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0" tIns="228600" rIns="274320" bIns="182880" rtlCol="0" anchor="ctr"/>
          <a:lstStyle/>
          <a:p>
            <a:pPr algn="ctr">
              <a:spcAft>
                <a:spcPts val="1000"/>
              </a:spcAft>
            </a:pPr>
            <a:r>
              <a:rPr sz="2400" b="1" i="0" dirty="0">
                <a:solidFill>
                  <a:srgbClr val="FFAB40"/>
                </a:solidFill>
                <a:latin typeface="Segoe UI"/>
              </a:rPr>
              <a:t>Map</a:t>
            </a:r>
          </a:p>
          <a:p>
            <a:pPr>
              <a:spcBef>
                <a:spcPts val="500"/>
              </a:spcBef>
              <a:spcAft>
                <a:spcPts val="300"/>
              </a:spcAft>
            </a:pPr>
            <a:r>
              <a:rPr sz="1600" b="0" i="0" dirty="0">
                <a:solidFill>
                  <a:srgbClr val="FFAB40"/>
                </a:solidFill>
                <a:latin typeface="Segoe UI"/>
              </a:rPr>
              <a:t>▸  </a:t>
            </a:r>
            <a:r>
              <a:rPr sz="1600" b="0" i="0" dirty="0">
                <a:solidFill>
                  <a:srgbClr val="B4B9C8"/>
                </a:solidFill>
                <a:latin typeface="Segoe UI"/>
              </a:rPr>
              <a:t>Split candidate pool into batches of ~50 chunks (~10K tokens)</a:t>
            </a:r>
          </a:p>
          <a:p>
            <a:pPr>
              <a:spcBef>
                <a:spcPts val="500"/>
              </a:spcBef>
              <a:spcAft>
                <a:spcPts val="300"/>
              </a:spcAft>
            </a:pPr>
            <a:r>
              <a:rPr sz="1600" b="0" i="0" dirty="0">
                <a:solidFill>
                  <a:srgbClr val="FFAB40"/>
                </a:solidFill>
                <a:latin typeface="Segoe UI"/>
              </a:rPr>
              <a:t>▸  </a:t>
            </a:r>
            <a:r>
              <a:rPr sz="1600" b="0" i="0" dirty="0">
                <a:solidFill>
                  <a:srgbClr val="B4B9C8"/>
                </a:solidFill>
                <a:latin typeface="Segoe UI"/>
              </a:rPr>
              <a:t>LLM extracts facts relevant to the query from each batch</a:t>
            </a:r>
          </a:p>
          <a:p>
            <a:pPr>
              <a:spcBef>
                <a:spcPts val="500"/>
              </a:spcBef>
              <a:spcAft>
                <a:spcPts val="300"/>
              </a:spcAft>
            </a:pPr>
            <a:r>
              <a:rPr sz="1600" b="0" i="0" dirty="0">
                <a:solidFill>
                  <a:srgbClr val="FFAB40"/>
                </a:solidFill>
                <a:latin typeface="Segoe UI"/>
              </a:rPr>
              <a:t>▸  </a:t>
            </a:r>
            <a:r>
              <a:rPr sz="1600" b="0" i="0" dirty="0">
                <a:solidFill>
                  <a:srgbClr val="B4B9C8"/>
                </a:solidFill>
                <a:latin typeface="Segoe UI"/>
              </a:rPr>
              <a:t>Each fact is cited back to its source chunk(s)</a:t>
            </a:r>
          </a:p>
        </p:txBody>
      </p:sp>
      <p:sp>
        <p:nvSpPr>
          <p:cNvPr id="8" name="Rectangle 7"/>
          <p:cNvSpPr/>
          <p:nvPr/>
        </p:nvSpPr>
        <p:spPr>
          <a:xfrm>
            <a:off x="6217920" y="1645920"/>
            <a:ext cx="5212080" cy="2743200"/>
          </a:xfrm>
          <a:prstGeom prst="roundRect">
            <a:avLst>
              <a:gd name="adj" fmla="val 5000"/>
            </a:avLst>
          </a:prstGeom>
          <a:solidFill>
            <a:srgbClr val="2025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0" tIns="228600" rIns="274320" bIns="182880" rtlCol="0" anchor="ctr"/>
          <a:lstStyle/>
          <a:p>
            <a:pPr algn="ctr">
              <a:spcAft>
                <a:spcPts val="1000"/>
              </a:spcAft>
            </a:pPr>
            <a:r>
              <a:rPr sz="2400" b="1" i="0" dirty="0">
                <a:solidFill>
                  <a:srgbClr val="48C78E"/>
                </a:solidFill>
                <a:latin typeface="Segoe UI"/>
              </a:rPr>
              <a:t>Reduce</a:t>
            </a:r>
          </a:p>
          <a:p>
            <a:pPr>
              <a:spcBef>
                <a:spcPts val="500"/>
              </a:spcBef>
              <a:spcAft>
                <a:spcPts val="300"/>
              </a:spcAft>
            </a:pPr>
            <a:r>
              <a:rPr sz="1600" b="0" i="0" dirty="0">
                <a:solidFill>
                  <a:srgbClr val="48C78E"/>
                </a:solidFill>
                <a:latin typeface="Segoe UI"/>
              </a:rPr>
              <a:t>▸  </a:t>
            </a:r>
            <a:r>
              <a:rPr sz="1600" b="0" i="0" dirty="0">
                <a:solidFill>
                  <a:srgbClr val="B4B9C8"/>
                </a:solidFill>
                <a:latin typeface="Segoe UI"/>
              </a:rPr>
              <a:t>Merge pass synthesizes across all batches</a:t>
            </a:r>
          </a:p>
          <a:p>
            <a:pPr>
              <a:spcBef>
                <a:spcPts val="500"/>
              </a:spcBef>
              <a:spcAft>
                <a:spcPts val="300"/>
              </a:spcAft>
            </a:pPr>
            <a:r>
              <a:rPr sz="1600" b="0" i="0" dirty="0">
                <a:solidFill>
                  <a:srgbClr val="48C78E"/>
                </a:solidFill>
                <a:latin typeface="Segoe UI"/>
              </a:rPr>
              <a:t>▸  </a:t>
            </a:r>
            <a:r>
              <a:rPr sz="1600" b="0" i="0" dirty="0">
                <a:solidFill>
                  <a:srgbClr val="B4B9C8"/>
                </a:solidFill>
                <a:latin typeface="Segoe UI"/>
              </a:rPr>
              <a:t>Deduplicate facets, resolve conflicting citations</a:t>
            </a:r>
          </a:p>
          <a:p>
            <a:pPr>
              <a:spcBef>
                <a:spcPts val="500"/>
              </a:spcBef>
              <a:spcAft>
                <a:spcPts val="300"/>
              </a:spcAft>
            </a:pPr>
            <a:r>
              <a:rPr sz="1600" b="0" i="0" dirty="0">
                <a:solidFill>
                  <a:srgbClr val="48C78E"/>
                </a:solidFill>
                <a:latin typeface="Segoe UI"/>
              </a:rPr>
              <a:t>▸  </a:t>
            </a:r>
            <a:r>
              <a:rPr sz="1600" b="0" i="0" dirty="0">
                <a:solidFill>
                  <a:srgbClr val="B4B9C8"/>
                </a:solidFill>
                <a:latin typeface="Segoe UI"/>
              </a:rPr>
              <a:t>Final gold answer with citations + facet labels per chunk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4663440"/>
            <a:ext cx="10515600" cy="134139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spcAft>
                <a:spcPts val="300"/>
              </a:spcAft>
            </a:pPr>
            <a:r>
              <a:rPr b="1" i="0" dirty="0">
                <a:solidFill>
                  <a:srgbClr val="4F8CFF"/>
                </a:solidFill>
                <a:latin typeface="Segoe UI"/>
              </a:rPr>
              <a:t>Facet labels:  </a:t>
            </a:r>
            <a:r>
              <a:rPr b="0" i="0" dirty="0">
                <a:solidFill>
                  <a:srgbClr val="B4B9C8"/>
                </a:solidFill>
                <a:latin typeface="Segoe UI"/>
              </a:rPr>
              <a:t>Each gold chunk tagged with aspect (e.g., </a:t>
            </a:r>
            <a:r>
              <a:rPr b="0" i="0" dirty="0" err="1">
                <a:solidFill>
                  <a:srgbClr val="B4B9C8"/>
                </a:solidFill>
                <a:latin typeface="JetBrains Mono" panose="02000009000000000000" pitchFamily="49" charset="0"/>
                <a:ea typeface="JetBrains Mono" panose="02000009000000000000" pitchFamily="49" charset="0"/>
                <a:cs typeface="JetBrains Mono" panose="02000009000000000000" pitchFamily="49" charset="0"/>
              </a:rPr>
              <a:t>general_symptoms</a:t>
            </a:r>
            <a:r>
              <a:rPr b="0" i="0" dirty="0">
                <a:solidFill>
                  <a:srgbClr val="B4B9C8"/>
                </a:solidFill>
                <a:latin typeface="JetBrains Mono" panose="02000009000000000000" pitchFamily="49" charset="0"/>
                <a:ea typeface="JetBrains Mono" panose="02000009000000000000" pitchFamily="49" charset="0"/>
                <a:cs typeface="JetBrains Mono" panose="02000009000000000000" pitchFamily="49" charset="0"/>
              </a:rPr>
              <a:t>, </a:t>
            </a:r>
            <a:r>
              <a:rPr b="0" i="0" dirty="0" err="1">
                <a:solidFill>
                  <a:srgbClr val="B4B9C8"/>
                </a:solidFill>
                <a:latin typeface="JetBrains Mono" panose="02000009000000000000" pitchFamily="49" charset="0"/>
                <a:ea typeface="JetBrains Mono" panose="02000009000000000000" pitchFamily="49" charset="0"/>
                <a:cs typeface="JetBrains Mono" panose="02000009000000000000" pitchFamily="49" charset="0"/>
              </a:rPr>
              <a:t>cardiac_confounding</a:t>
            </a:r>
            <a:r>
              <a:rPr b="0" i="0" dirty="0">
                <a:solidFill>
                  <a:srgbClr val="B4B9C8"/>
                </a:solidFill>
                <a:latin typeface="JetBrains Mono" panose="02000009000000000000" pitchFamily="49" charset="0"/>
                <a:ea typeface="JetBrains Mono" panose="02000009000000000000" pitchFamily="49" charset="0"/>
                <a:cs typeface="JetBrains Mono" panose="02000009000000000000" pitchFamily="49" charset="0"/>
              </a:rPr>
              <a:t>, </a:t>
            </a:r>
            <a:r>
              <a:rPr b="0" i="0" dirty="0" err="1">
                <a:solidFill>
                  <a:srgbClr val="B4B9C8"/>
                </a:solidFill>
                <a:latin typeface="JetBrains Mono" panose="02000009000000000000" pitchFamily="49" charset="0"/>
                <a:ea typeface="JetBrains Mono" panose="02000009000000000000" pitchFamily="49" charset="0"/>
                <a:cs typeface="JetBrains Mono" panose="02000009000000000000" pitchFamily="49" charset="0"/>
              </a:rPr>
              <a:t>treatment_difference</a:t>
            </a:r>
            <a:r>
              <a:rPr b="0" i="0" dirty="0">
                <a:solidFill>
                  <a:srgbClr val="B4B9C8"/>
                </a:solidFill>
                <a:latin typeface="Segoe UI"/>
              </a:rPr>
              <a:t>) → enables aspect recall metric</a:t>
            </a:r>
          </a:p>
          <a:p>
            <a:pPr>
              <a:spcBef>
                <a:spcPts val="800"/>
              </a:spcBef>
              <a:spcAft>
                <a:spcPts val="300"/>
              </a:spcAft>
            </a:pPr>
            <a:r>
              <a:rPr b="1" i="0" dirty="0">
                <a:solidFill>
                  <a:srgbClr val="FFAB40"/>
                </a:solidFill>
                <a:latin typeface="Segoe UI"/>
              </a:rPr>
              <a:t>Quality verifier:  </a:t>
            </a:r>
            <a:r>
              <a:rPr b="0" i="0" dirty="0">
                <a:solidFill>
                  <a:srgbClr val="B4B9C8"/>
                </a:solidFill>
                <a:latin typeface="Segoe UI"/>
              </a:rPr>
              <a:t>Separate reader-LLM attempts top-k answer; if it succeeds → query too easy → discard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85296CA1-B90F-FD81-CB90-977A58808812}"/>
              </a:ext>
            </a:extLst>
          </p:cNvPr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FFAB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5C2404C8-04A6-1454-BD5D-1E92F1B45F80}"/>
              </a:ext>
            </a:extLst>
          </p:cNvPr>
          <p:cNvSpPr/>
          <p:nvPr/>
        </p:nvSpPr>
        <p:spPr>
          <a:xfrm>
            <a:off x="822960" y="1234440"/>
            <a:ext cx="2286000" cy="31750"/>
          </a:xfrm>
          <a:prstGeom prst="rect">
            <a:avLst/>
          </a:prstGeom>
          <a:solidFill>
            <a:srgbClr val="FFAB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960210C-B3EF-86F3-9E9E-21A8ADF414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C2631260-1D83-DFF6-0B2D-701BE47BB257}"/>
              </a:ext>
            </a:extLst>
          </p:cNvPr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81C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822960" y="41148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 i="0">
                <a:solidFill>
                  <a:srgbClr val="F0F0F5"/>
                </a:solidFill>
                <a:latin typeface="Segoe UI"/>
              </a:rPr>
              <a:t>Computational Feasibility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38200" y="1787562"/>
            <a:ext cx="10515600" cy="314445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0"/>
              </a:spcBef>
              <a:spcAft>
                <a:spcPts val="400"/>
              </a:spcAft>
            </a:pPr>
            <a:r>
              <a:rPr b="0" i="0" dirty="0">
                <a:solidFill>
                  <a:srgbClr val="4F8CFF"/>
                </a:solidFill>
                <a:latin typeface="Segoe UI"/>
              </a:rPr>
              <a:t>▸  </a:t>
            </a:r>
            <a:r>
              <a:rPr sz="2000" b="0" i="0" dirty="0">
                <a:solidFill>
                  <a:srgbClr val="F0F0F5"/>
                </a:solidFill>
                <a:latin typeface="Segoe UI"/>
              </a:rPr>
              <a:t>Full corpus: ~3M chunks → O(|D|·k²) facility-location is impractical</a:t>
            </a:r>
          </a:p>
          <a:p>
            <a:pPr>
              <a:spcBef>
                <a:spcPts val="1000"/>
              </a:spcBef>
              <a:spcAft>
                <a:spcPts val="400"/>
              </a:spcAft>
            </a:pPr>
            <a:r>
              <a:rPr b="0" i="0" dirty="0">
                <a:solidFill>
                  <a:srgbClr val="4F8CFF"/>
                </a:solidFill>
                <a:latin typeface="Segoe UI"/>
              </a:rPr>
              <a:t>▸  </a:t>
            </a:r>
            <a:r>
              <a:rPr sz="2000" b="0" i="0" dirty="0">
                <a:solidFill>
                  <a:srgbClr val="F0F0F5"/>
                </a:solidFill>
                <a:latin typeface="Segoe UI"/>
              </a:rPr>
              <a:t>Two-stage pipeline: HNSW retrieves N</a:t>
            </a:r>
            <a:r>
              <a:rPr lang="en-US" sz="2000" b="0" i="0" dirty="0">
                <a:solidFill>
                  <a:srgbClr val="F0F0F5"/>
                </a:solidFill>
                <a:latin typeface="Segoe UI"/>
              </a:rPr>
              <a:t> </a:t>
            </a:r>
            <a:r>
              <a:rPr sz="2000" b="0" i="0" dirty="0">
                <a:solidFill>
                  <a:srgbClr val="F0F0F5"/>
                </a:solidFill>
                <a:latin typeface="Segoe UI"/>
              </a:rPr>
              <a:t>≫</a:t>
            </a:r>
            <a:r>
              <a:rPr lang="en-US" sz="2000" b="0" i="0" dirty="0">
                <a:solidFill>
                  <a:srgbClr val="F0F0F5"/>
                </a:solidFill>
                <a:latin typeface="Segoe UI"/>
              </a:rPr>
              <a:t> </a:t>
            </a:r>
            <a:r>
              <a:rPr sz="2000" b="0" i="0" dirty="0">
                <a:solidFill>
                  <a:srgbClr val="F0F0F5"/>
                </a:solidFill>
                <a:latin typeface="Segoe UI"/>
              </a:rPr>
              <a:t>k candidates, then re-rank</a:t>
            </a:r>
          </a:p>
          <a:p>
            <a:pPr>
              <a:spcBef>
                <a:spcPts val="1000"/>
              </a:spcBef>
              <a:spcAft>
                <a:spcPts val="400"/>
              </a:spcAft>
            </a:pPr>
            <a:r>
              <a:rPr b="0" i="0" dirty="0">
                <a:solidFill>
                  <a:srgbClr val="4F8CFF"/>
                </a:solidFill>
                <a:latin typeface="Segoe UI"/>
              </a:rPr>
              <a:t>▸  </a:t>
            </a:r>
            <a:r>
              <a:rPr sz="2000" b="0" i="0" dirty="0">
                <a:solidFill>
                  <a:srgbClr val="F0F0F5"/>
                </a:solidFill>
                <a:latin typeface="Segoe UI"/>
              </a:rPr>
              <a:t>Re-ranking on N=100–1000 candidates is fast</a:t>
            </a:r>
          </a:p>
          <a:p>
            <a:pPr>
              <a:spcBef>
                <a:spcPts val="1000"/>
              </a:spcBef>
              <a:spcAft>
                <a:spcPts val="400"/>
              </a:spcAft>
            </a:pPr>
            <a:r>
              <a:rPr b="0" i="0" dirty="0">
                <a:solidFill>
                  <a:srgbClr val="4F8CFF"/>
                </a:solidFill>
                <a:latin typeface="Segoe UI"/>
              </a:rPr>
              <a:t>▸  </a:t>
            </a:r>
            <a:r>
              <a:rPr sz="2000" b="0" i="0" dirty="0">
                <a:solidFill>
                  <a:srgbClr val="F0F0F5"/>
                </a:solidFill>
                <a:latin typeface="Segoe UI"/>
              </a:rPr>
              <a:t>N is a tunable parameter alongside λ and k</a:t>
            </a:r>
            <a:endParaRPr lang="en-US" sz="2000" b="0" i="0" dirty="0">
              <a:solidFill>
                <a:srgbClr val="F0F0F5"/>
              </a:solidFill>
              <a:latin typeface="Segoe UI"/>
            </a:endParaRPr>
          </a:p>
          <a:p>
            <a:pPr>
              <a:spcBef>
                <a:spcPts val="1000"/>
              </a:spcBef>
              <a:spcAft>
                <a:spcPts val="400"/>
              </a:spcAft>
            </a:pPr>
            <a:endParaRPr lang="en-US" sz="2000" b="0" i="0" dirty="0">
              <a:solidFill>
                <a:srgbClr val="F0F0F5"/>
              </a:solidFill>
              <a:latin typeface="Segoe UI"/>
            </a:endParaRPr>
          </a:p>
          <a:p>
            <a:pPr>
              <a:spcBef>
                <a:spcPts val="1000"/>
              </a:spcBef>
              <a:spcAft>
                <a:spcPts val="400"/>
              </a:spcAft>
            </a:pPr>
            <a:r>
              <a:rPr lang="en-001" sz="2000" dirty="0">
                <a:solidFill>
                  <a:srgbClr val="4F8CFF"/>
                </a:solidFill>
                <a:latin typeface="Segoe UI"/>
              </a:rPr>
              <a:t>▸</a:t>
            </a:r>
            <a:r>
              <a:rPr lang="en-US" sz="2000" dirty="0">
                <a:solidFill>
                  <a:srgbClr val="4F8CFF"/>
                </a:solidFill>
                <a:latin typeface="Segoe UI"/>
              </a:rPr>
              <a:t> Alternative: </a:t>
            </a:r>
            <a:r>
              <a:rPr lang="en-US" sz="2000" dirty="0">
                <a:solidFill>
                  <a:schemeClr val="bg1">
                    <a:lumMod val="95000"/>
                  </a:schemeClr>
                </a:solidFill>
                <a:latin typeface="Segoe UI"/>
              </a:rPr>
              <a:t>build sub-corpuses with limited scope, adding also distractors (like </a:t>
            </a:r>
            <a:r>
              <a:rPr lang="en-US" sz="2000" dirty="0" err="1">
                <a:solidFill>
                  <a:schemeClr val="bg1">
                    <a:lumMod val="95000"/>
                  </a:schemeClr>
                </a:solidFill>
                <a:latin typeface="Segoe UI"/>
              </a:rPr>
              <a:t>HotpotQA</a:t>
            </a:r>
            <a:r>
              <a:rPr lang="en-US" sz="2000" dirty="0">
                <a:solidFill>
                  <a:schemeClr val="bg1">
                    <a:lumMod val="95000"/>
                  </a:schemeClr>
                </a:solidFill>
                <a:latin typeface="Segoe UI"/>
              </a:rPr>
              <a:t> and 2WikiMultihopQA)</a:t>
            </a:r>
            <a:endParaRPr sz="2000" b="0" i="0" dirty="0">
              <a:solidFill>
                <a:schemeClr val="bg1">
                  <a:lumMod val="95000"/>
                </a:schemeClr>
              </a:solidFill>
              <a:latin typeface="Segoe UI"/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7ECF0AEB-C1FC-99DF-D54F-B201F00B89EF}"/>
              </a:ext>
            </a:extLst>
          </p:cNvPr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FFAB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F443BD3D-67E7-B088-797E-5083F59678D3}"/>
              </a:ext>
            </a:extLst>
          </p:cNvPr>
          <p:cNvSpPr/>
          <p:nvPr/>
        </p:nvSpPr>
        <p:spPr>
          <a:xfrm>
            <a:off x="975360" y="1386840"/>
            <a:ext cx="2286000" cy="31750"/>
          </a:xfrm>
          <a:prstGeom prst="rect">
            <a:avLst/>
          </a:prstGeom>
          <a:solidFill>
            <a:srgbClr val="FFAB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F5E3F485-D211-D1DC-298A-A2190C60BE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2B6743D5-2977-D63D-804D-C1EF8BE41F9B}"/>
              </a:ext>
            </a:extLst>
          </p:cNvPr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81C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822960" y="41148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 i="0">
                <a:solidFill>
                  <a:srgbClr val="F0F0F5"/>
                </a:solidFill>
                <a:latin typeface="Segoe UI"/>
              </a:rPr>
              <a:t>Cluster Validation Approaches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554480"/>
            <a:ext cx="10515600" cy="283667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0"/>
              </a:spcBef>
              <a:spcAft>
                <a:spcPts val="400"/>
              </a:spcAft>
            </a:pPr>
            <a:r>
              <a:rPr b="0" i="0" dirty="0">
                <a:solidFill>
                  <a:srgbClr val="A078FF"/>
                </a:solidFill>
                <a:latin typeface="Segoe UI"/>
              </a:rPr>
              <a:t>▸  </a:t>
            </a:r>
            <a:r>
              <a:rPr sz="2000" b="0" i="0" dirty="0">
                <a:solidFill>
                  <a:srgbClr val="F0F0F5"/>
                </a:solidFill>
                <a:latin typeface="Segoe UI"/>
              </a:rPr>
              <a:t>UMAP + HDBSCAN pipeline on embeddings</a:t>
            </a:r>
          </a:p>
          <a:p>
            <a:pPr>
              <a:spcBef>
                <a:spcPts val="1000"/>
              </a:spcBef>
              <a:spcAft>
                <a:spcPts val="400"/>
              </a:spcAft>
            </a:pPr>
            <a:r>
              <a:rPr b="0" i="0" dirty="0">
                <a:solidFill>
                  <a:srgbClr val="A078FF"/>
                </a:solidFill>
                <a:latin typeface="Segoe UI"/>
              </a:rPr>
              <a:t>▸  </a:t>
            </a:r>
            <a:r>
              <a:rPr sz="2000" b="0" i="0" dirty="0">
                <a:solidFill>
                  <a:srgbClr val="F0F0F5"/>
                </a:solidFill>
                <a:latin typeface="Segoe UI"/>
              </a:rPr>
              <a:t>Validate with DBCV, cluster size/density ratios, noise fraction</a:t>
            </a:r>
          </a:p>
          <a:p>
            <a:pPr>
              <a:spcBef>
                <a:spcPts val="1000"/>
              </a:spcBef>
              <a:spcAft>
                <a:spcPts val="400"/>
              </a:spcAft>
            </a:pPr>
            <a:r>
              <a:rPr b="0" i="0" dirty="0">
                <a:solidFill>
                  <a:srgbClr val="A078FF"/>
                </a:solidFill>
                <a:latin typeface="Segoe UI"/>
              </a:rPr>
              <a:t>▸  </a:t>
            </a:r>
            <a:r>
              <a:rPr sz="2000" b="0" i="0" dirty="0">
                <a:solidFill>
                  <a:srgbClr val="F0F0F5"/>
                </a:solidFill>
                <a:latin typeface="Segoe UI"/>
              </a:rPr>
              <a:t>Cross-reference clusters with ICD sub-codes for semantic meaning</a:t>
            </a:r>
            <a:endParaRPr lang="en-US" sz="2000" b="0" i="0" dirty="0">
              <a:solidFill>
                <a:srgbClr val="F0F0F5"/>
              </a:solidFill>
              <a:latin typeface="Segoe UI"/>
            </a:endParaRPr>
          </a:p>
          <a:p>
            <a:pPr>
              <a:spcBef>
                <a:spcPts val="1000"/>
              </a:spcBef>
              <a:spcAft>
                <a:spcPts val="400"/>
              </a:spcAft>
            </a:pPr>
            <a:endParaRPr sz="2000" b="0" i="0" dirty="0">
              <a:solidFill>
                <a:srgbClr val="F0F0F5"/>
              </a:solidFill>
              <a:latin typeface="Segoe UI"/>
            </a:endParaRPr>
          </a:p>
          <a:p>
            <a:pPr>
              <a:spcBef>
                <a:spcPts val="1000"/>
              </a:spcBef>
              <a:spcAft>
                <a:spcPts val="400"/>
              </a:spcAft>
            </a:pPr>
            <a:r>
              <a:rPr b="0" i="0" dirty="0">
                <a:solidFill>
                  <a:srgbClr val="A078FF"/>
                </a:solidFill>
                <a:latin typeface="Segoe UI"/>
              </a:rPr>
              <a:t>▸  </a:t>
            </a:r>
            <a:r>
              <a:rPr sz="2000" b="0" i="0" dirty="0">
                <a:solidFill>
                  <a:srgbClr val="F0F0F5"/>
                </a:solidFill>
                <a:latin typeface="Segoe UI"/>
              </a:rPr>
              <a:t>Simpler alternative: Jaccard divergence + facility-location gap + aspect recall</a:t>
            </a:r>
          </a:p>
          <a:p>
            <a:pPr>
              <a:spcBef>
                <a:spcPts val="1000"/>
              </a:spcBef>
              <a:spcAft>
                <a:spcPts val="400"/>
              </a:spcAft>
            </a:pPr>
            <a:r>
              <a:rPr b="0" i="0" dirty="0">
                <a:solidFill>
                  <a:srgbClr val="A078FF"/>
                </a:solidFill>
                <a:latin typeface="Segoe UI"/>
              </a:rPr>
              <a:t>▸  </a:t>
            </a:r>
            <a:r>
              <a:rPr sz="2000" b="0" i="0" dirty="0">
                <a:solidFill>
                  <a:srgbClr val="F0F0F5"/>
                </a:solidFill>
                <a:latin typeface="Segoe UI"/>
              </a:rPr>
              <a:t>Full clustering may not be necessary </a:t>
            </a:r>
            <a:r>
              <a:rPr lang="en-US" sz="2000" b="0" i="0" dirty="0">
                <a:solidFill>
                  <a:srgbClr val="F0F0F5"/>
                </a:solidFill>
                <a:latin typeface="Segoe UI"/>
              </a:rPr>
              <a:t>- </a:t>
            </a:r>
            <a:r>
              <a:rPr sz="2000" b="0" i="0" dirty="0">
                <a:solidFill>
                  <a:srgbClr val="F0F0F5"/>
                </a:solidFill>
                <a:latin typeface="Segoe UI"/>
              </a:rPr>
              <a:t>downstream metrics are the real validation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EB067EF4-35A4-D440-A1BB-D537B0763863}"/>
              </a:ext>
            </a:extLst>
          </p:cNvPr>
          <p:cNvSpPr/>
          <p:nvPr/>
        </p:nvSpPr>
        <p:spPr>
          <a:xfrm>
            <a:off x="822960" y="1234440"/>
            <a:ext cx="2286000" cy="31750"/>
          </a:xfrm>
          <a:prstGeom prst="rect">
            <a:avLst/>
          </a:prstGeom>
          <a:solidFill>
            <a:srgbClr val="FFAB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87968E31-4E35-E1C5-347F-977042DCEFD0}"/>
              </a:ext>
            </a:extLst>
          </p:cNvPr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FFAB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35CFCBEE-3FE8-F42E-45A3-5B666CEBB05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81C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822960" y="411480"/>
            <a:ext cx="1051560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 i="0" dirty="0">
                <a:solidFill>
                  <a:srgbClr val="F0F0F5"/>
                </a:solidFill>
                <a:latin typeface="Segoe UI"/>
              </a:rPr>
              <a:t>Phase 2: </a:t>
            </a:r>
            <a:r>
              <a:rPr lang="en-US" sz="3200" b="1" i="0" dirty="0">
                <a:solidFill>
                  <a:srgbClr val="F0F0F5"/>
                </a:solidFill>
                <a:latin typeface="Segoe UI"/>
              </a:rPr>
              <a:t>E</a:t>
            </a:r>
            <a:r>
              <a:rPr sz="3200" b="1" i="0" dirty="0">
                <a:solidFill>
                  <a:srgbClr val="F0F0F5"/>
                </a:solidFill>
                <a:latin typeface="Segoe UI"/>
              </a:rPr>
              <a:t>mbedding</a:t>
            </a:r>
            <a:r>
              <a:rPr lang="en-US" sz="3200" b="1" i="0" dirty="0">
                <a:solidFill>
                  <a:srgbClr val="F0F0F5"/>
                </a:solidFill>
                <a:latin typeface="Segoe UI"/>
              </a:rPr>
              <a:t> models for medical domain</a:t>
            </a:r>
            <a:endParaRPr sz="3200" b="1" i="0" dirty="0">
              <a:solidFill>
                <a:srgbClr val="F0F0F5"/>
              </a:solidFill>
              <a:latin typeface="Segoe UI"/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822960" y="1234440"/>
            <a:ext cx="2286000" cy="31750"/>
          </a:xfrm>
          <a:prstGeom prst="rect">
            <a:avLst/>
          </a:prstGeom>
          <a:solidFill>
            <a:srgbClr val="4F8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822960" y="1852108"/>
          <a:ext cx="6421120" cy="1968052"/>
        </p:xfrm>
        <a:graphic>
          <a:graphicData uri="http://schemas.openxmlformats.org/drawingml/2006/table">
            <a:tbl>
              <a:tblPr>
                <a:tableStyleId>{00000000-0000-0000-0000-000000000000}</a:tableStyleId>
              </a:tblPr>
              <a:tblGrid>
                <a:gridCol w="333898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8422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79791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510235">
                <a:tc>
                  <a:txBody>
                    <a:bodyPr/>
                    <a:lstStyle/>
                    <a:p>
                      <a:pPr algn="l"/>
                      <a:r>
                        <a:rPr sz="1800" b="1" i="0">
                          <a:solidFill>
                            <a:srgbClr val="4F8CFF"/>
                          </a:solidFill>
                          <a:latin typeface="Segoe UI"/>
                        </a:rPr>
                        <a:t>Model</a:t>
                      </a:r>
                    </a:p>
                  </a:txBody>
                  <a:tcPr anchor="ctr">
                    <a:solidFill>
                      <a:srgbClr val="262D4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1" i="0">
                          <a:solidFill>
                            <a:srgbClr val="4F8CFF"/>
                          </a:solidFill>
                          <a:latin typeface="Segoe UI"/>
                        </a:rPr>
                        <a:t>Dim</a:t>
                      </a:r>
                    </a:p>
                  </a:txBody>
                  <a:tcPr anchor="ctr">
                    <a:solidFill>
                      <a:srgbClr val="262D4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1" i="0">
                          <a:solidFill>
                            <a:srgbClr val="4F8CFF"/>
                          </a:solidFill>
                          <a:latin typeface="Segoe UI"/>
                        </a:rPr>
                        <a:t>Context</a:t>
                      </a:r>
                    </a:p>
                  </a:txBody>
                  <a:tcPr anchor="ctr">
                    <a:solidFill>
                      <a:srgbClr val="262D4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85939">
                <a:tc>
                  <a:txBody>
                    <a:bodyPr/>
                    <a:lstStyle/>
                    <a:p>
                      <a:pPr algn="l"/>
                      <a:r>
                        <a:rPr sz="1800" b="0" i="0">
                          <a:solidFill>
                            <a:srgbClr val="F0F0F5"/>
                          </a:solidFill>
                          <a:latin typeface="Segoe UI"/>
                        </a:rPr>
                        <a:t>BioLORD-2023</a:t>
                      </a:r>
                    </a:p>
                  </a:txBody>
                  <a:tcPr anchor="ctr">
                    <a:solidFill>
                      <a:srgbClr val="1C212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 i="0">
                          <a:solidFill>
                            <a:srgbClr val="F0F0F5"/>
                          </a:solidFill>
                          <a:latin typeface="Segoe UI"/>
                        </a:rPr>
                        <a:t>768</a:t>
                      </a:r>
                    </a:p>
                  </a:txBody>
                  <a:tcPr anchor="ctr">
                    <a:solidFill>
                      <a:srgbClr val="1C212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 i="0">
                          <a:solidFill>
                            <a:srgbClr val="F0F0F5"/>
                          </a:solidFill>
                          <a:latin typeface="Segoe UI"/>
                        </a:rPr>
                        <a:t>512</a:t>
                      </a:r>
                    </a:p>
                  </a:txBody>
                  <a:tcPr anchor="ctr">
                    <a:solidFill>
                      <a:srgbClr val="1C212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85939">
                <a:tc>
                  <a:txBody>
                    <a:bodyPr/>
                    <a:lstStyle/>
                    <a:p>
                      <a:pPr algn="l"/>
                      <a:r>
                        <a:rPr sz="1800" b="0" i="0">
                          <a:solidFill>
                            <a:srgbClr val="F0F0F5"/>
                          </a:solidFill>
                          <a:latin typeface="Segoe UI"/>
                        </a:rPr>
                        <a:t>MedEmbed (large)</a:t>
                      </a:r>
                    </a:p>
                  </a:txBody>
                  <a:tcPr anchor="ctr">
                    <a:solidFill>
                      <a:srgbClr val="21263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 i="0">
                          <a:solidFill>
                            <a:srgbClr val="F0F0F5"/>
                          </a:solidFill>
                          <a:latin typeface="Segoe UI"/>
                        </a:rPr>
                        <a:t>1024</a:t>
                      </a:r>
                    </a:p>
                  </a:txBody>
                  <a:tcPr anchor="ctr">
                    <a:solidFill>
                      <a:srgbClr val="21263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 i="0">
                          <a:solidFill>
                            <a:srgbClr val="F0F0F5"/>
                          </a:solidFill>
                          <a:latin typeface="Segoe UI"/>
                        </a:rPr>
                        <a:t>512</a:t>
                      </a:r>
                    </a:p>
                  </a:txBody>
                  <a:tcPr anchor="ctr">
                    <a:solidFill>
                      <a:srgbClr val="21263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85939">
                <a:tc>
                  <a:txBody>
                    <a:bodyPr/>
                    <a:lstStyle/>
                    <a:p>
                      <a:pPr algn="l"/>
                      <a:r>
                        <a:rPr sz="1800" b="0" i="0" dirty="0" err="1">
                          <a:solidFill>
                            <a:srgbClr val="F0F0F5"/>
                          </a:solidFill>
                          <a:latin typeface="Segoe UI"/>
                        </a:rPr>
                        <a:t>BioClinical</a:t>
                      </a:r>
                      <a:r>
                        <a:rPr sz="1800" b="0" i="0" dirty="0">
                          <a:solidFill>
                            <a:srgbClr val="F0F0F5"/>
                          </a:solidFill>
                          <a:latin typeface="Segoe UI"/>
                        </a:rPr>
                        <a:t> </a:t>
                      </a:r>
                      <a:r>
                        <a:rPr sz="1800" b="0" i="0" dirty="0" err="1">
                          <a:solidFill>
                            <a:srgbClr val="F0F0F5"/>
                          </a:solidFill>
                          <a:latin typeface="Segoe UI"/>
                        </a:rPr>
                        <a:t>ModernBERT</a:t>
                      </a:r>
                      <a:endParaRPr sz="1800" b="0" i="0" dirty="0">
                        <a:solidFill>
                          <a:srgbClr val="F0F0F5"/>
                        </a:solidFill>
                        <a:latin typeface="Segoe UI"/>
                      </a:endParaRPr>
                    </a:p>
                  </a:txBody>
                  <a:tcPr anchor="ctr">
                    <a:solidFill>
                      <a:srgbClr val="1C212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 i="0">
                          <a:solidFill>
                            <a:srgbClr val="F0F0F5"/>
                          </a:solidFill>
                          <a:latin typeface="Segoe UI"/>
                        </a:rPr>
                        <a:t>768</a:t>
                      </a:r>
                    </a:p>
                  </a:txBody>
                  <a:tcPr anchor="ctr">
                    <a:solidFill>
                      <a:srgbClr val="1C212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 i="0" dirty="0">
                          <a:solidFill>
                            <a:srgbClr val="F0F0F5"/>
                          </a:solidFill>
                          <a:latin typeface="Segoe UI"/>
                        </a:rPr>
                        <a:t>8,192</a:t>
                      </a:r>
                    </a:p>
                  </a:txBody>
                  <a:tcPr anchor="ctr">
                    <a:solidFill>
                      <a:srgbClr val="1C212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11" name="Rectangle 10">
            <a:extLst>
              <a:ext uri="{FF2B5EF4-FFF2-40B4-BE49-F238E27FC236}">
                <a16:creationId xmlns:a16="http://schemas.microsoft.com/office/drawing/2014/main" id="{1849FAA0-D457-2009-7C3F-29602EBD84D3}"/>
              </a:ext>
            </a:extLst>
          </p:cNvPr>
          <p:cNvSpPr/>
          <p:nvPr/>
        </p:nvSpPr>
        <p:spPr>
          <a:xfrm>
            <a:off x="0" y="35560"/>
            <a:ext cx="73152" cy="6858000"/>
          </a:xfrm>
          <a:prstGeom prst="rect">
            <a:avLst/>
          </a:prstGeom>
          <a:solidFill>
            <a:srgbClr val="FFAB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7EACA0F4-9A0C-36AA-C1A4-F01BC8E1DE6E}"/>
              </a:ext>
            </a:extLst>
          </p:cNvPr>
          <p:cNvSpPr/>
          <p:nvPr/>
        </p:nvSpPr>
        <p:spPr>
          <a:xfrm>
            <a:off x="822960" y="1234440"/>
            <a:ext cx="2286000" cy="31750"/>
          </a:xfrm>
          <a:prstGeom prst="rect">
            <a:avLst/>
          </a:prstGeom>
          <a:solidFill>
            <a:srgbClr val="FFAB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Slide Number Placeholder 12">
            <a:extLst>
              <a:ext uri="{FF2B5EF4-FFF2-40B4-BE49-F238E27FC236}">
                <a16:creationId xmlns:a16="http://schemas.microsoft.com/office/drawing/2014/main" id="{881D1F25-B32C-1A73-F30C-C35C1E0E16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24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639</TotalTime>
  <Words>1605</Words>
  <Application>Microsoft Office PowerPoint</Application>
  <PresentationFormat>Widescreen</PresentationFormat>
  <Paragraphs>283</Paragraphs>
  <Slides>24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24</vt:i4>
      </vt:variant>
    </vt:vector>
  </HeadingPairs>
  <TitlesOfParts>
    <vt:vector size="32" baseType="lpstr">
      <vt:lpstr>Aptos</vt:lpstr>
      <vt:lpstr>Arial</vt:lpstr>
      <vt:lpstr>Calibri</vt:lpstr>
      <vt:lpstr>Cambria Math</vt:lpstr>
      <vt:lpstr>JetBrains Mono</vt:lpstr>
      <vt:lpstr>Segoe UI</vt:lpstr>
      <vt:lpstr>Wingdings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Fabrizio Pagnozzi</cp:lastModifiedBy>
  <cp:revision>107</cp:revision>
  <dcterms:created xsi:type="dcterms:W3CDTF">2013-01-27T09:14:16Z</dcterms:created>
  <dcterms:modified xsi:type="dcterms:W3CDTF">2026-03-30T14:43:06Z</dcterms:modified>
  <cp:category/>
</cp:coreProperties>
</file>